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5"/>
  </p:notesMasterIdLst>
  <p:sldIdLst>
    <p:sldId id="256" r:id="rId2"/>
    <p:sldId id="257" r:id="rId3"/>
    <p:sldId id="258" r:id="rId4"/>
    <p:sldId id="259" r:id="rId5"/>
    <p:sldId id="266" r:id="rId6"/>
    <p:sldId id="267" r:id="rId7"/>
    <p:sldId id="260" r:id="rId8"/>
    <p:sldId id="261" r:id="rId9"/>
    <p:sldId id="263" r:id="rId10"/>
    <p:sldId id="262" r:id="rId11"/>
    <p:sldId id="264" r:id="rId12"/>
    <p:sldId id="268" r:id="rId13"/>
    <p:sldId id="270" r:id="rId14"/>
    <p:sldId id="269" r:id="rId15"/>
    <p:sldId id="271" r:id="rId16"/>
    <p:sldId id="272" r:id="rId17"/>
    <p:sldId id="286"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304" r:id="rId39"/>
    <p:sldId id="306" r:id="rId40"/>
    <p:sldId id="294" r:id="rId41"/>
    <p:sldId id="305" r:id="rId42"/>
    <p:sldId id="295" r:id="rId43"/>
    <p:sldId id="307" r:id="rId44"/>
    <p:sldId id="296" r:id="rId45"/>
    <p:sldId id="298" r:id="rId46"/>
    <p:sldId id="299" r:id="rId47"/>
    <p:sldId id="312" r:id="rId48"/>
    <p:sldId id="308" r:id="rId49"/>
    <p:sldId id="300" r:id="rId50"/>
    <p:sldId id="309" r:id="rId51"/>
    <p:sldId id="301" r:id="rId52"/>
    <p:sldId id="310" r:id="rId53"/>
    <p:sldId id="302" r:id="rId54"/>
    <p:sldId id="311" r:id="rId55"/>
    <p:sldId id="303" r:id="rId56"/>
    <p:sldId id="313" r:id="rId57"/>
    <p:sldId id="314" r:id="rId58"/>
    <p:sldId id="316" r:id="rId59"/>
    <p:sldId id="317" r:id="rId60"/>
    <p:sldId id="318" r:id="rId61"/>
    <p:sldId id="319" r:id="rId62"/>
    <p:sldId id="320" r:id="rId63"/>
    <p:sldId id="326" r:id="rId64"/>
    <p:sldId id="330" r:id="rId65"/>
    <p:sldId id="329" r:id="rId66"/>
    <p:sldId id="327" r:id="rId67"/>
    <p:sldId id="331" r:id="rId68"/>
    <p:sldId id="328" r:id="rId69"/>
    <p:sldId id="332" r:id="rId70"/>
    <p:sldId id="321" r:id="rId71"/>
    <p:sldId id="322" r:id="rId72"/>
    <p:sldId id="323" r:id="rId73"/>
    <p:sldId id="324" r:id="rId74"/>
    <p:sldId id="325" r:id="rId75"/>
    <p:sldId id="333" r:id="rId76"/>
    <p:sldId id="334" r:id="rId77"/>
    <p:sldId id="335" r:id="rId78"/>
    <p:sldId id="336" r:id="rId79"/>
    <p:sldId id="338" r:id="rId80"/>
    <p:sldId id="337"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62" d="100"/>
          <a:sy n="62" d="100"/>
        </p:scale>
        <p:origin x="78" y="6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6E998-9B32-4CBE-9F99-4766F5B637C4}"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7C910-0E9A-40C1-9F91-716EF9CF7F6E}" type="slidenum">
              <a:rPr lang="en-US" smtClean="0"/>
              <a:t>‹#›</a:t>
            </a:fld>
            <a:endParaRPr lang="en-US"/>
          </a:p>
        </p:txBody>
      </p:sp>
    </p:spTree>
    <p:extLst>
      <p:ext uri="{BB962C8B-B14F-4D97-AF65-F5344CB8AC3E}">
        <p14:creationId xmlns:p14="http://schemas.microsoft.com/office/powerpoint/2010/main" val="672911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78EF-47D1-0325-66E4-74ECC776245B}"/>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2290B45-4515-9BC5-B2AC-FB0E439F308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EDD00C8-67D3-343F-9C90-DAA23009FA66}"/>
              </a:ext>
            </a:extLst>
          </p:cNvPr>
          <p:cNvSpPr>
            <a:spLocks noGrp="1"/>
          </p:cNvSpPr>
          <p:nvPr>
            <p:ph type="dt" sz="half" idx="10"/>
          </p:nvPr>
        </p:nvSpPr>
        <p:spPr/>
        <p:txBody>
          <a:bodyPr/>
          <a:lstStyle/>
          <a:p>
            <a:fld id="{32570E48-1278-4461-ABEA-5D69FBA017C5}" type="datetime1">
              <a:rPr lang="en-US" smtClean="0"/>
              <a:t>1/10/2026</a:t>
            </a:fld>
            <a:endParaRPr lang="en-US"/>
          </a:p>
        </p:txBody>
      </p:sp>
      <p:sp>
        <p:nvSpPr>
          <p:cNvPr id="5" name="Footer Placeholder 4">
            <a:extLst>
              <a:ext uri="{FF2B5EF4-FFF2-40B4-BE49-F238E27FC236}">
                <a16:creationId xmlns:a16="http://schemas.microsoft.com/office/drawing/2014/main" id="{D670140E-A27C-10C5-CAF6-A68F700305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6AB7DE-2492-C939-D42D-48E24E15FDA0}"/>
              </a:ext>
            </a:extLst>
          </p:cNvPr>
          <p:cNvSpPr>
            <a:spLocks noGrp="1"/>
          </p:cNvSpPr>
          <p:nvPr>
            <p:ph type="sldNum" sz="quarter" idx="12"/>
          </p:nvPr>
        </p:nvSpPr>
        <p:spPr/>
        <p:txBody>
          <a:bodyPr/>
          <a:lstStyle/>
          <a:p>
            <a:fld id="{F6C56E59-C124-411E-B3E7-95D014FC7158}" type="slidenum">
              <a:rPr lang="en-US" smtClean="0"/>
              <a:t>‹#›</a:t>
            </a:fld>
            <a:endParaRPr lang="en-US"/>
          </a:p>
        </p:txBody>
      </p:sp>
      <p:pic>
        <p:nvPicPr>
          <p:cNvPr id="8" name="Picture 7" descr="A white and purple text&#10;&#10;AI-generated content may be incorrect.">
            <a:extLst>
              <a:ext uri="{FF2B5EF4-FFF2-40B4-BE49-F238E27FC236}">
                <a16:creationId xmlns:a16="http://schemas.microsoft.com/office/drawing/2014/main" id="{4A17CF9F-B98C-1BED-A46D-16E8654581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11873" y="4125973"/>
            <a:ext cx="2768254" cy="965079"/>
          </a:xfrm>
          <a:prstGeom prst="rect">
            <a:avLst/>
          </a:prstGeom>
        </p:spPr>
      </p:pic>
    </p:spTree>
    <p:extLst>
      <p:ext uri="{BB962C8B-B14F-4D97-AF65-F5344CB8AC3E}">
        <p14:creationId xmlns:p14="http://schemas.microsoft.com/office/powerpoint/2010/main" val="2179478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B7889-CEA0-B660-D422-9E8DA0DA127D}"/>
              </a:ext>
            </a:extLst>
          </p:cNvPr>
          <p:cNvSpPr>
            <a:spLocks noGrp="1"/>
          </p:cNvSpPr>
          <p:nvPr>
            <p:ph type="title"/>
          </p:nvPr>
        </p:nvSpPr>
        <p:spPr>
          <a:xfrm>
            <a:off x="226503" y="356107"/>
            <a:ext cx="10515600" cy="649859"/>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0FFAFCE-CB4A-221C-DFC8-10ADA9982FCA}"/>
              </a:ext>
            </a:extLst>
          </p:cNvPr>
          <p:cNvSpPr>
            <a:spLocks noGrp="1"/>
          </p:cNvSpPr>
          <p:nvPr>
            <p:ph idx="1"/>
          </p:nvPr>
        </p:nvSpPr>
        <p:spPr>
          <a:xfrm>
            <a:off x="226503" y="1143000"/>
            <a:ext cx="11752976" cy="5033963"/>
          </a:xfrm>
          <a:solidFill>
            <a:schemeClr val="bg1"/>
          </a:solid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21B4618-D199-8F2C-C3B1-41843B04DF13}"/>
              </a:ext>
            </a:extLst>
          </p:cNvPr>
          <p:cNvSpPr>
            <a:spLocks noGrp="1"/>
          </p:cNvSpPr>
          <p:nvPr>
            <p:ph type="dt" sz="half" idx="10"/>
          </p:nvPr>
        </p:nvSpPr>
        <p:spPr>
          <a:xfrm>
            <a:off x="226503" y="6364223"/>
            <a:ext cx="2743200" cy="365125"/>
          </a:xfrm>
        </p:spPr>
        <p:txBody>
          <a:bodyPr/>
          <a:lstStyle>
            <a:lvl1pPr>
              <a:defRPr>
                <a:solidFill>
                  <a:schemeClr val="bg1">
                    <a:lumMod val="75000"/>
                  </a:schemeClr>
                </a:solidFill>
              </a:defRPr>
            </a:lvl1pPr>
          </a:lstStyle>
          <a:p>
            <a:fld id="{77CA23B6-146D-4CC0-B8BF-2383AD3B5353}" type="datetime1">
              <a:rPr lang="en-US" smtClean="0"/>
              <a:t>1/10/2026</a:t>
            </a:fld>
            <a:endParaRPr lang="en-US"/>
          </a:p>
        </p:txBody>
      </p:sp>
      <p:sp>
        <p:nvSpPr>
          <p:cNvPr id="5" name="Footer Placeholder 4">
            <a:extLst>
              <a:ext uri="{FF2B5EF4-FFF2-40B4-BE49-F238E27FC236}">
                <a16:creationId xmlns:a16="http://schemas.microsoft.com/office/drawing/2014/main" id="{F0E96D67-9FEC-71F1-63BF-7E12F3D0827A}"/>
              </a:ext>
            </a:extLst>
          </p:cNvPr>
          <p:cNvSpPr>
            <a:spLocks noGrp="1"/>
          </p:cNvSpPr>
          <p:nvPr>
            <p:ph type="ftr" sz="quarter" idx="11"/>
          </p:nvPr>
        </p:nvSpPr>
        <p:spPr/>
        <p:txBody>
          <a:bodyPr/>
          <a:lstStyle>
            <a:lvl1pPr>
              <a:defRPr>
                <a:solidFill>
                  <a:schemeClr val="bg1">
                    <a:lumMod val="75000"/>
                  </a:schemeClr>
                </a:solidFill>
              </a:defRPr>
            </a:lvl1pPr>
          </a:lstStyle>
          <a:p>
            <a:endParaRPr lang="en-US">
              <a:solidFill>
                <a:schemeClr val="bg1">
                  <a:lumMod val="75000"/>
                </a:schemeClr>
              </a:solidFill>
            </a:endParaRPr>
          </a:p>
        </p:txBody>
      </p:sp>
      <p:sp>
        <p:nvSpPr>
          <p:cNvPr id="6" name="Slide Number Placeholder 5">
            <a:extLst>
              <a:ext uri="{FF2B5EF4-FFF2-40B4-BE49-F238E27FC236}">
                <a16:creationId xmlns:a16="http://schemas.microsoft.com/office/drawing/2014/main" id="{05B99F68-B61C-84E5-ABDF-2BB71855F53D}"/>
              </a:ext>
            </a:extLst>
          </p:cNvPr>
          <p:cNvSpPr>
            <a:spLocks noGrp="1"/>
          </p:cNvSpPr>
          <p:nvPr>
            <p:ph type="sldNum" sz="quarter" idx="12"/>
          </p:nvPr>
        </p:nvSpPr>
        <p:spPr>
          <a:xfrm>
            <a:off x="9236279" y="6364223"/>
            <a:ext cx="2743200" cy="365125"/>
          </a:xfrm>
        </p:spPr>
        <p:txBody>
          <a:bodyPr/>
          <a:lstStyle>
            <a:lvl1pPr>
              <a:defRPr>
                <a:solidFill>
                  <a:schemeClr val="bg1">
                    <a:lumMod val="75000"/>
                  </a:schemeClr>
                </a:solidFill>
              </a:defRPr>
            </a:lvl1pPr>
          </a:lstStyle>
          <a:p>
            <a:fld id="{F6C56E59-C124-411E-B3E7-95D014FC7158}" type="slidenum">
              <a:rPr lang="en-US" smtClean="0"/>
              <a:pPr/>
              <a:t>‹#›</a:t>
            </a:fld>
            <a:endParaRPr lang="en-US"/>
          </a:p>
        </p:txBody>
      </p:sp>
      <p:pic>
        <p:nvPicPr>
          <p:cNvPr id="8" name="Picture 7" descr="A white and purple text&#10;&#10;AI-generated content may be incorrect.">
            <a:extLst>
              <a:ext uri="{FF2B5EF4-FFF2-40B4-BE49-F238E27FC236}">
                <a16:creationId xmlns:a16="http://schemas.microsoft.com/office/drawing/2014/main" id="{869881F9-A382-E2EF-8A44-D1DDDA31C9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45621" y="128652"/>
            <a:ext cx="1416358" cy="493776"/>
          </a:xfrm>
          <a:prstGeom prst="rect">
            <a:avLst/>
          </a:prstGeom>
        </p:spPr>
      </p:pic>
    </p:spTree>
    <p:extLst>
      <p:ext uri="{BB962C8B-B14F-4D97-AF65-F5344CB8AC3E}">
        <p14:creationId xmlns:p14="http://schemas.microsoft.com/office/powerpoint/2010/main" val="2183432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D548C-8F6A-0789-6208-E224AB86880B}"/>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C0C3D332-2351-6A12-8132-48B218C3C23B}"/>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006A05B3-89EA-D6DB-7DB4-913F4A251409}"/>
              </a:ext>
            </a:extLst>
          </p:cNvPr>
          <p:cNvSpPr>
            <a:spLocks noGrp="1"/>
          </p:cNvSpPr>
          <p:nvPr>
            <p:ph type="dt" sz="half" idx="10"/>
          </p:nvPr>
        </p:nvSpPr>
        <p:spPr/>
        <p:txBody>
          <a:bodyPr/>
          <a:lstStyle>
            <a:lvl1pPr>
              <a:defRPr>
                <a:solidFill>
                  <a:schemeClr val="bg1">
                    <a:lumMod val="75000"/>
                  </a:schemeClr>
                </a:solidFill>
              </a:defRPr>
            </a:lvl1pPr>
          </a:lstStyle>
          <a:p>
            <a:fld id="{2913C182-2752-4C8A-971A-A0E34A11F99A}" type="datetime1">
              <a:rPr lang="en-US" smtClean="0"/>
              <a:t>1/10/2026</a:t>
            </a:fld>
            <a:endParaRPr lang="en-US"/>
          </a:p>
        </p:txBody>
      </p:sp>
      <p:sp>
        <p:nvSpPr>
          <p:cNvPr id="5" name="Footer Placeholder 4">
            <a:extLst>
              <a:ext uri="{FF2B5EF4-FFF2-40B4-BE49-F238E27FC236}">
                <a16:creationId xmlns:a16="http://schemas.microsoft.com/office/drawing/2014/main" id="{E7B19F7B-0234-DC1A-3C67-12928A6D8797}"/>
              </a:ext>
            </a:extLst>
          </p:cNvPr>
          <p:cNvSpPr>
            <a:spLocks noGrp="1"/>
          </p:cNvSpPr>
          <p:nvPr>
            <p:ph type="ftr" sz="quarter" idx="11"/>
          </p:nvPr>
        </p:nvSpPr>
        <p:spPr/>
        <p:txBody>
          <a:bodyPr/>
          <a:lstStyle>
            <a:lvl1pPr>
              <a:defRPr>
                <a:solidFill>
                  <a:schemeClr val="bg1">
                    <a:lumMod val="75000"/>
                  </a:schemeClr>
                </a:solidFill>
              </a:defRPr>
            </a:lvl1pPr>
          </a:lstStyle>
          <a:p>
            <a:endParaRPr lang="en-US">
              <a:solidFill>
                <a:schemeClr val="bg1">
                  <a:lumMod val="75000"/>
                </a:schemeClr>
              </a:solidFill>
            </a:endParaRPr>
          </a:p>
        </p:txBody>
      </p:sp>
      <p:sp>
        <p:nvSpPr>
          <p:cNvPr id="6" name="Slide Number Placeholder 5">
            <a:extLst>
              <a:ext uri="{FF2B5EF4-FFF2-40B4-BE49-F238E27FC236}">
                <a16:creationId xmlns:a16="http://schemas.microsoft.com/office/drawing/2014/main" id="{09EF733A-04C0-510A-4F2F-B438D4C5369F}"/>
              </a:ext>
            </a:extLst>
          </p:cNvPr>
          <p:cNvSpPr>
            <a:spLocks noGrp="1"/>
          </p:cNvSpPr>
          <p:nvPr>
            <p:ph type="sldNum" sz="quarter" idx="12"/>
          </p:nvPr>
        </p:nvSpPr>
        <p:spPr/>
        <p:txBody>
          <a:bodyPr/>
          <a:lstStyle>
            <a:lvl1pPr>
              <a:defRPr>
                <a:solidFill>
                  <a:schemeClr val="bg1">
                    <a:lumMod val="75000"/>
                  </a:schemeClr>
                </a:solidFill>
              </a:defRPr>
            </a:lvl1pPr>
          </a:lstStyle>
          <a:p>
            <a:fld id="{F6C56E59-C124-411E-B3E7-95D014FC7158}" type="slidenum">
              <a:rPr lang="en-US" smtClean="0"/>
              <a:pPr/>
              <a:t>‹#›</a:t>
            </a:fld>
            <a:endParaRPr lang="en-US"/>
          </a:p>
        </p:txBody>
      </p:sp>
    </p:spTree>
    <p:extLst>
      <p:ext uri="{BB962C8B-B14F-4D97-AF65-F5344CB8AC3E}">
        <p14:creationId xmlns:p14="http://schemas.microsoft.com/office/powerpoint/2010/main" val="585129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40218-E3DC-A6AD-C4DC-F7CB5440D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CFE455-879F-5291-DE71-8F9E91D493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F33780-20A5-9903-531A-83578F58CD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0E663E-F90C-1964-71DC-A0321F1766F2}"/>
              </a:ext>
            </a:extLst>
          </p:cNvPr>
          <p:cNvSpPr>
            <a:spLocks noGrp="1"/>
          </p:cNvSpPr>
          <p:nvPr>
            <p:ph type="dt" sz="half" idx="10"/>
          </p:nvPr>
        </p:nvSpPr>
        <p:spPr/>
        <p:txBody>
          <a:bodyPr/>
          <a:lstStyle/>
          <a:p>
            <a:fld id="{B54DD27D-E750-4548-A291-98529BE153D9}" type="datetime1">
              <a:rPr lang="en-US" smtClean="0"/>
              <a:t>1/10/2026</a:t>
            </a:fld>
            <a:endParaRPr lang="en-US"/>
          </a:p>
        </p:txBody>
      </p:sp>
      <p:sp>
        <p:nvSpPr>
          <p:cNvPr id="6" name="Footer Placeholder 5">
            <a:extLst>
              <a:ext uri="{FF2B5EF4-FFF2-40B4-BE49-F238E27FC236}">
                <a16:creationId xmlns:a16="http://schemas.microsoft.com/office/drawing/2014/main" id="{5265FB96-499E-9DA9-92F4-D87122BD4F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061450-1B24-0EE4-F984-16339C7C80A5}"/>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3703755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47977-0C7B-E701-E984-784165CB5A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28E1AB-FAAA-CBBD-E4FF-239CCB4073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196787-B776-BC6A-B177-91913CE198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0D9DD1-7974-8219-ED63-5DE363DA8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9A9345-57D2-7630-FAE5-A099D2F84E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95436-2090-A4A1-7DBE-CFE25AFE9402}"/>
              </a:ext>
            </a:extLst>
          </p:cNvPr>
          <p:cNvSpPr>
            <a:spLocks noGrp="1"/>
          </p:cNvSpPr>
          <p:nvPr>
            <p:ph type="dt" sz="half" idx="10"/>
          </p:nvPr>
        </p:nvSpPr>
        <p:spPr/>
        <p:txBody>
          <a:bodyPr/>
          <a:lstStyle/>
          <a:p>
            <a:fld id="{9D952EE4-30BA-4F0E-888E-3E0C8A1F1CE0}" type="datetime1">
              <a:rPr lang="en-US" smtClean="0"/>
              <a:t>1/10/2026</a:t>
            </a:fld>
            <a:endParaRPr lang="en-US"/>
          </a:p>
        </p:txBody>
      </p:sp>
      <p:sp>
        <p:nvSpPr>
          <p:cNvPr id="8" name="Footer Placeholder 7">
            <a:extLst>
              <a:ext uri="{FF2B5EF4-FFF2-40B4-BE49-F238E27FC236}">
                <a16:creationId xmlns:a16="http://schemas.microsoft.com/office/drawing/2014/main" id="{7E451ED9-40B5-D804-F92E-B65A8CCB88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A26D61-43B1-8EDC-9B99-6281476E7143}"/>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4198024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FD8B-9999-38D0-15EB-D7B5D0EF7D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ABBE4-CBBA-8B13-E82B-1E5E084A8E7B}"/>
              </a:ext>
            </a:extLst>
          </p:cNvPr>
          <p:cNvSpPr>
            <a:spLocks noGrp="1"/>
          </p:cNvSpPr>
          <p:nvPr>
            <p:ph type="dt" sz="half" idx="10"/>
          </p:nvPr>
        </p:nvSpPr>
        <p:spPr/>
        <p:txBody>
          <a:bodyPr/>
          <a:lstStyle/>
          <a:p>
            <a:fld id="{0E8C953F-C664-42A7-B99D-2567CE24C88A}" type="datetime1">
              <a:rPr lang="en-US" smtClean="0"/>
              <a:t>1/10/2026</a:t>
            </a:fld>
            <a:endParaRPr lang="en-US"/>
          </a:p>
        </p:txBody>
      </p:sp>
      <p:sp>
        <p:nvSpPr>
          <p:cNvPr id="4" name="Footer Placeholder 3">
            <a:extLst>
              <a:ext uri="{FF2B5EF4-FFF2-40B4-BE49-F238E27FC236}">
                <a16:creationId xmlns:a16="http://schemas.microsoft.com/office/drawing/2014/main" id="{8111CF82-BB2D-CCF8-EF02-955A265093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CEC155-D249-2C2C-6D6F-2EFF6CC6838B}"/>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4268728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C6803A-3C57-7426-48E6-E3DE3E10A584}"/>
              </a:ext>
            </a:extLst>
          </p:cNvPr>
          <p:cNvSpPr>
            <a:spLocks noGrp="1"/>
          </p:cNvSpPr>
          <p:nvPr>
            <p:ph type="dt" sz="half" idx="10"/>
          </p:nvPr>
        </p:nvSpPr>
        <p:spPr/>
        <p:txBody>
          <a:bodyPr/>
          <a:lstStyle/>
          <a:p>
            <a:fld id="{C2E06765-F719-4E80-8E11-16AA8D396C44}" type="datetime1">
              <a:rPr lang="en-US" smtClean="0"/>
              <a:t>1/10/2026</a:t>
            </a:fld>
            <a:endParaRPr lang="en-US"/>
          </a:p>
        </p:txBody>
      </p:sp>
      <p:sp>
        <p:nvSpPr>
          <p:cNvPr id="3" name="Footer Placeholder 2">
            <a:extLst>
              <a:ext uri="{FF2B5EF4-FFF2-40B4-BE49-F238E27FC236}">
                <a16:creationId xmlns:a16="http://schemas.microsoft.com/office/drawing/2014/main" id="{485F5505-5551-D3C0-64F9-77537E3275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147275-0915-9AEB-0DAB-A3E994DE09FB}"/>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47856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E67D-DEA0-40C4-D861-9D191B8960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05816F-CE69-ABC2-0CF2-93A8DBD8AF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5C4559-EE7B-9884-9388-7EEC81570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057595-9981-892B-AF56-0F0147203444}"/>
              </a:ext>
            </a:extLst>
          </p:cNvPr>
          <p:cNvSpPr>
            <a:spLocks noGrp="1"/>
          </p:cNvSpPr>
          <p:nvPr>
            <p:ph type="dt" sz="half" idx="10"/>
          </p:nvPr>
        </p:nvSpPr>
        <p:spPr/>
        <p:txBody>
          <a:bodyPr/>
          <a:lstStyle/>
          <a:p>
            <a:fld id="{96A9979A-F6D1-44C3-9BCE-A82020BC9276}" type="datetime1">
              <a:rPr lang="en-US" smtClean="0"/>
              <a:t>1/10/2026</a:t>
            </a:fld>
            <a:endParaRPr lang="en-US"/>
          </a:p>
        </p:txBody>
      </p:sp>
      <p:sp>
        <p:nvSpPr>
          <p:cNvPr id="6" name="Footer Placeholder 5">
            <a:extLst>
              <a:ext uri="{FF2B5EF4-FFF2-40B4-BE49-F238E27FC236}">
                <a16:creationId xmlns:a16="http://schemas.microsoft.com/office/drawing/2014/main" id="{698CF774-44E6-2C49-7168-E6F6D96A8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F8E7A1-8C73-3800-7126-BC4406EA4850}"/>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2445180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BF48-54AD-315B-67D3-842B1E532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AE3621-5970-F739-C064-9CEB20BF6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1B1E6E-426F-ACB9-761C-8FEDA06C6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1F99F4-D21E-C427-9E9B-C49BBF228605}"/>
              </a:ext>
            </a:extLst>
          </p:cNvPr>
          <p:cNvSpPr>
            <a:spLocks noGrp="1"/>
          </p:cNvSpPr>
          <p:nvPr>
            <p:ph type="dt" sz="half" idx="10"/>
          </p:nvPr>
        </p:nvSpPr>
        <p:spPr/>
        <p:txBody>
          <a:bodyPr/>
          <a:lstStyle/>
          <a:p>
            <a:fld id="{14ABC025-B00C-4021-93EB-398E149FD27D}" type="datetime1">
              <a:rPr lang="en-US" smtClean="0"/>
              <a:t>1/10/2026</a:t>
            </a:fld>
            <a:endParaRPr lang="en-US"/>
          </a:p>
        </p:txBody>
      </p:sp>
      <p:sp>
        <p:nvSpPr>
          <p:cNvPr id="6" name="Footer Placeholder 5">
            <a:extLst>
              <a:ext uri="{FF2B5EF4-FFF2-40B4-BE49-F238E27FC236}">
                <a16:creationId xmlns:a16="http://schemas.microsoft.com/office/drawing/2014/main" id="{2486972F-67E8-93DF-798E-2D2314C88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8F74AD-B940-88ED-44CC-66437466F8D7}"/>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2852603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98FD4-B449-3506-31D7-10B887AA29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124502-10DD-1F0B-7C89-19C959C509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B23F4-0544-5204-B34D-431A508FEFBC}"/>
              </a:ext>
            </a:extLst>
          </p:cNvPr>
          <p:cNvSpPr>
            <a:spLocks noGrp="1"/>
          </p:cNvSpPr>
          <p:nvPr>
            <p:ph type="dt" sz="half" idx="10"/>
          </p:nvPr>
        </p:nvSpPr>
        <p:spPr/>
        <p:txBody>
          <a:bodyPr/>
          <a:lstStyle/>
          <a:p>
            <a:fld id="{73200C91-47D8-4460-A817-86C327B331EC}" type="datetime1">
              <a:rPr lang="en-US" smtClean="0"/>
              <a:t>1/10/2026</a:t>
            </a:fld>
            <a:endParaRPr lang="en-US"/>
          </a:p>
        </p:txBody>
      </p:sp>
      <p:sp>
        <p:nvSpPr>
          <p:cNvPr id="5" name="Footer Placeholder 4">
            <a:extLst>
              <a:ext uri="{FF2B5EF4-FFF2-40B4-BE49-F238E27FC236}">
                <a16:creationId xmlns:a16="http://schemas.microsoft.com/office/drawing/2014/main" id="{E1B56ED3-46EE-7384-0D49-5494B0CC49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FBD20-9610-C6A8-6982-8D3F0B7D2560}"/>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524857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0F4373-1E8C-EA92-9A3C-9D249A1703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066895-7E18-B393-89FC-C817E93815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B2690-606D-C307-CD30-933D0FD61B98}"/>
              </a:ext>
            </a:extLst>
          </p:cNvPr>
          <p:cNvSpPr>
            <a:spLocks noGrp="1"/>
          </p:cNvSpPr>
          <p:nvPr>
            <p:ph type="dt" sz="half" idx="10"/>
          </p:nvPr>
        </p:nvSpPr>
        <p:spPr/>
        <p:txBody>
          <a:bodyPr/>
          <a:lstStyle/>
          <a:p>
            <a:fld id="{89341CA1-AC12-48EC-92B8-1B76A2FCDD47}" type="datetime1">
              <a:rPr lang="en-US" smtClean="0"/>
              <a:t>1/10/2026</a:t>
            </a:fld>
            <a:endParaRPr lang="en-US"/>
          </a:p>
        </p:txBody>
      </p:sp>
      <p:sp>
        <p:nvSpPr>
          <p:cNvPr id="5" name="Footer Placeholder 4">
            <a:extLst>
              <a:ext uri="{FF2B5EF4-FFF2-40B4-BE49-F238E27FC236}">
                <a16:creationId xmlns:a16="http://schemas.microsoft.com/office/drawing/2014/main" id="{5B3BA2BA-FFCD-68EB-4E6F-606C09915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FCA21-6285-1D18-3B8B-BC49517A5427}"/>
              </a:ext>
            </a:extLst>
          </p:cNvPr>
          <p:cNvSpPr>
            <a:spLocks noGrp="1"/>
          </p:cNvSpPr>
          <p:nvPr>
            <p:ph type="sldNum" sz="quarter" idx="12"/>
          </p:nvPr>
        </p:nvSpPr>
        <p:spPr/>
        <p:txBody>
          <a:bodyPr/>
          <a:lstStyle/>
          <a:p>
            <a:fld id="{F6C56E59-C124-411E-B3E7-95D014FC7158}" type="slidenum">
              <a:rPr lang="en-US" smtClean="0"/>
              <a:t>‹#›</a:t>
            </a:fld>
            <a:endParaRPr lang="en-US"/>
          </a:p>
        </p:txBody>
      </p:sp>
    </p:spTree>
    <p:extLst>
      <p:ext uri="{BB962C8B-B14F-4D97-AF65-F5344CB8AC3E}">
        <p14:creationId xmlns:p14="http://schemas.microsoft.com/office/powerpoint/2010/main" val="3043463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A8A2F5-5835-A0D2-9460-CB914935B4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C0DDDF-4496-1CEE-5E1C-D1F69423E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6B97C2-78EE-E56A-8BCD-B4E203F000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04981-EFAE-41C6-9912-4F1E122C4394}" type="datetime1">
              <a:rPr lang="en-US" smtClean="0"/>
              <a:t>1/10/2026</a:t>
            </a:fld>
            <a:endParaRPr lang="en-US"/>
          </a:p>
        </p:txBody>
      </p:sp>
      <p:sp>
        <p:nvSpPr>
          <p:cNvPr id="5" name="Footer Placeholder 4">
            <a:extLst>
              <a:ext uri="{FF2B5EF4-FFF2-40B4-BE49-F238E27FC236}">
                <a16:creationId xmlns:a16="http://schemas.microsoft.com/office/drawing/2014/main" id="{49083A15-B131-AB10-D070-4939B0D574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E25E26-024B-46E6-083C-8CC9C5FF6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C56E59-C124-411E-B3E7-95D014FC7158}" type="slidenum">
              <a:rPr lang="en-US" smtClean="0"/>
              <a:t>‹#›</a:t>
            </a:fld>
            <a:endParaRPr lang="en-US"/>
          </a:p>
        </p:txBody>
      </p:sp>
    </p:spTree>
    <p:extLst>
      <p:ext uri="{BB962C8B-B14F-4D97-AF65-F5344CB8AC3E}">
        <p14:creationId xmlns:p14="http://schemas.microsoft.com/office/powerpoint/2010/main" val="2398260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51B3-98A6-6A30-EDC2-BC5F427AFDA1}"/>
              </a:ext>
            </a:extLst>
          </p:cNvPr>
          <p:cNvSpPr>
            <a:spLocks noGrp="1"/>
          </p:cNvSpPr>
          <p:nvPr>
            <p:ph type="ctrTitle"/>
          </p:nvPr>
        </p:nvSpPr>
        <p:spPr/>
        <p:txBody>
          <a:bodyPr>
            <a:normAutofit fontScale="90000"/>
          </a:bodyPr>
          <a:lstStyle/>
          <a:p>
            <a:r>
              <a:rPr lang="en-US" dirty="0"/>
              <a:t>Intro to Relational Database Development with SQL Server</a:t>
            </a:r>
          </a:p>
        </p:txBody>
      </p:sp>
      <p:sp>
        <p:nvSpPr>
          <p:cNvPr id="3" name="Subtitle 2">
            <a:extLst>
              <a:ext uri="{FF2B5EF4-FFF2-40B4-BE49-F238E27FC236}">
                <a16:creationId xmlns:a16="http://schemas.microsoft.com/office/drawing/2014/main" id="{B07212A6-9D14-82B5-41B3-1B637AD52DDE}"/>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33032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77CC-7B6F-4905-AE41-6674AEEC2F0D}"/>
              </a:ext>
            </a:extLst>
          </p:cNvPr>
          <p:cNvSpPr>
            <a:spLocks noGrp="1"/>
          </p:cNvSpPr>
          <p:nvPr>
            <p:ph type="title"/>
          </p:nvPr>
        </p:nvSpPr>
        <p:spPr/>
        <p:txBody>
          <a:bodyPr/>
          <a:lstStyle/>
          <a:p>
            <a:r>
              <a:rPr lang="en-US" dirty="0"/>
              <a:t>Overview</a:t>
            </a:r>
          </a:p>
        </p:txBody>
      </p:sp>
      <p:sp>
        <p:nvSpPr>
          <p:cNvPr id="3" name="Text Placeholder 2">
            <a:extLst>
              <a:ext uri="{FF2B5EF4-FFF2-40B4-BE49-F238E27FC236}">
                <a16:creationId xmlns:a16="http://schemas.microsoft.com/office/drawing/2014/main" id="{04FB045D-F8D6-9238-4171-7A4D15DB83F0}"/>
              </a:ext>
            </a:extLst>
          </p:cNvPr>
          <p:cNvSpPr>
            <a:spLocks noGrp="1"/>
          </p:cNvSpPr>
          <p:nvPr>
            <p:ph type="body" idx="1"/>
          </p:nvPr>
        </p:nvSpPr>
        <p:spPr/>
        <p:txBody>
          <a:bodyPr/>
          <a:lstStyle/>
          <a:p>
            <a:r>
              <a:rPr lang="en-US" dirty="0"/>
              <a:t>What is a relational database and why should I care?</a:t>
            </a:r>
          </a:p>
        </p:txBody>
      </p:sp>
      <p:sp>
        <p:nvSpPr>
          <p:cNvPr id="7" name="Date Placeholder 6">
            <a:extLst>
              <a:ext uri="{FF2B5EF4-FFF2-40B4-BE49-F238E27FC236}">
                <a16:creationId xmlns:a16="http://schemas.microsoft.com/office/drawing/2014/main" id="{9E9CF6A7-5D0E-1B27-C3F7-F9EE186434D0}"/>
              </a:ext>
            </a:extLst>
          </p:cNvPr>
          <p:cNvSpPr>
            <a:spLocks noGrp="1"/>
          </p:cNvSpPr>
          <p:nvPr>
            <p:ph type="dt" sz="half" idx="10"/>
          </p:nvPr>
        </p:nvSpPr>
        <p:spPr/>
        <p:txBody>
          <a:bodyPr/>
          <a:lstStyle/>
          <a:p>
            <a:fld id="{6F192285-D4DD-42D0-BB64-9D06A13945AF}" type="datetime1">
              <a:rPr lang="en-US" smtClean="0"/>
              <a:t>1/10/2026</a:t>
            </a:fld>
            <a:endParaRPr lang="en-US"/>
          </a:p>
        </p:txBody>
      </p:sp>
      <p:sp>
        <p:nvSpPr>
          <p:cNvPr id="8" name="Slide Number Placeholder 7">
            <a:extLst>
              <a:ext uri="{FF2B5EF4-FFF2-40B4-BE49-F238E27FC236}">
                <a16:creationId xmlns:a16="http://schemas.microsoft.com/office/drawing/2014/main" id="{1A076910-3CA3-090C-D4F7-5657059BBBA3}"/>
              </a:ext>
            </a:extLst>
          </p:cNvPr>
          <p:cNvSpPr>
            <a:spLocks noGrp="1"/>
          </p:cNvSpPr>
          <p:nvPr>
            <p:ph type="sldNum" sz="quarter" idx="12"/>
          </p:nvPr>
        </p:nvSpPr>
        <p:spPr/>
        <p:txBody>
          <a:bodyPr/>
          <a:lstStyle/>
          <a:p>
            <a:fld id="{F6C56E59-C124-411E-B3E7-95D014FC7158}" type="slidenum">
              <a:rPr lang="en-US" smtClean="0"/>
              <a:pPr/>
              <a:t>2</a:t>
            </a:fld>
            <a:endParaRPr lang="en-US"/>
          </a:p>
        </p:txBody>
      </p:sp>
    </p:spTree>
    <p:extLst>
      <p:ext uri="{BB962C8B-B14F-4D97-AF65-F5344CB8AC3E}">
        <p14:creationId xmlns:p14="http://schemas.microsoft.com/office/powerpoint/2010/main" val="42731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B8F28-E4F2-E905-034F-B20233663363}"/>
              </a:ext>
            </a:extLst>
          </p:cNvPr>
          <p:cNvSpPr>
            <a:spLocks noGrp="1"/>
          </p:cNvSpPr>
          <p:nvPr>
            <p:ph type="title"/>
          </p:nvPr>
        </p:nvSpPr>
        <p:spPr/>
        <p:txBody>
          <a:bodyPr>
            <a:normAutofit fontScale="90000"/>
          </a:bodyPr>
          <a:lstStyle/>
          <a:p>
            <a:r>
              <a:rPr lang="en-US" dirty="0"/>
              <a:t>Client/Server Systems</a:t>
            </a:r>
          </a:p>
        </p:txBody>
      </p:sp>
      <p:sp>
        <p:nvSpPr>
          <p:cNvPr id="3" name="Content Placeholder 2">
            <a:extLst>
              <a:ext uri="{FF2B5EF4-FFF2-40B4-BE49-F238E27FC236}">
                <a16:creationId xmlns:a16="http://schemas.microsoft.com/office/drawing/2014/main" id="{D5865590-2BE1-A4EC-5A4D-76F4D08CE64E}"/>
              </a:ext>
            </a:extLst>
          </p:cNvPr>
          <p:cNvSpPr>
            <a:spLocks noGrp="1"/>
          </p:cNvSpPr>
          <p:nvPr>
            <p:ph idx="1"/>
          </p:nvPr>
        </p:nvSpPr>
        <p:spPr/>
        <p:txBody>
          <a:bodyPr/>
          <a:lstStyle/>
          <a:p>
            <a:endParaRPr lang="en-US" dirty="0"/>
          </a:p>
        </p:txBody>
      </p:sp>
      <p:sp>
        <p:nvSpPr>
          <p:cNvPr id="7" name="TextBox 6">
            <a:extLst>
              <a:ext uri="{FF2B5EF4-FFF2-40B4-BE49-F238E27FC236}">
                <a16:creationId xmlns:a16="http://schemas.microsoft.com/office/drawing/2014/main" id="{6773FA91-8BAE-22A6-951A-25C8528DC898}"/>
              </a:ext>
            </a:extLst>
          </p:cNvPr>
          <p:cNvSpPr txBox="1"/>
          <p:nvPr/>
        </p:nvSpPr>
        <p:spPr>
          <a:xfrm>
            <a:off x="522338" y="1649506"/>
            <a:ext cx="9923930" cy="2862322"/>
          </a:xfrm>
          <a:prstGeom prst="rect">
            <a:avLst/>
          </a:prstGeom>
          <a:noFill/>
        </p:spPr>
        <p:txBody>
          <a:bodyPr wrap="square" rtlCol="0">
            <a:spAutoFit/>
          </a:bodyPr>
          <a:lstStyle/>
          <a:p>
            <a:r>
              <a:rPr lang="en-US" dirty="0"/>
              <a:t>Almost all  applications depend on a database system.</a:t>
            </a:r>
          </a:p>
          <a:p>
            <a:endParaRPr lang="en-US" dirty="0"/>
          </a:p>
          <a:p>
            <a:r>
              <a:rPr lang="en-US" dirty="0"/>
              <a:t>Building a well-designed database allows you to be flexible to future changes and a you code to be performant</a:t>
            </a:r>
          </a:p>
          <a:p>
            <a:endParaRPr lang="en-US" dirty="0"/>
          </a:p>
          <a:p>
            <a:r>
              <a:rPr lang="en-US" b="1" dirty="0"/>
              <a:t>Clients</a:t>
            </a:r>
            <a:r>
              <a:rPr lang="en-US" dirty="0"/>
              <a:t> – personal computers, mobile devices or tablets that consume data directly or indirectly though application server</a:t>
            </a:r>
          </a:p>
          <a:p>
            <a:endParaRPr lang="en-US" dirty="0"/>
          </a:p>
          <a:p>
            <a:r>
              <a:rPr lang="en-US" b="1" dirty="0"/>
              <a:t>Servers</a:t>
            </a:r>
            <a:r>
              <a:rPr lang="en-US" dirty="0"/>
              <a:t> – machines that provide functionality and data to clients</a:t>
            </a:r>
          </a:p>
          <a:p>
            <a:r>
              <a:rPr lang="en-US" dirty="0"/>
              <a:t>	types of servers: database servers, application servers, web servers, </a:t>
            </a:r>
            <a:r>
              <a:rPr lang="en-US" dirty="0" err="1"/>
              <a:t>etc</a:t>
            </a:r>
            <a:endParaRPr lang="en-US" dirty="0"/>
          </a:p>
        </p:txBody>
      </p:sp>
      <p:sp>
        <p:nvSpPr>
          <p:cNvPr id="8" name="Date Placeholder 7">
            <a:extLst>
              <a:ext uri="{FF2B5EF4-FFF2-40B4-BE49-F238E27FC236}">
                <a16:creationId xmlns:a16="http://schemas.microsoft.com/office/drawing/2014/main" id="{28C99B6F-CB56-868D-5A9F-E4749ABB663E}"/>
              </a:ext>
            </a:extLst>
          </p:cNvPr>
          <p:cNvSpPr>
            <a:spLocks noGrp="1"/>
          </p:cNvSpPr>
          <p:nvPr>
            <p:ph type="dt" sz="half" idx="10"/>
          </p:nvPr>
        </p:nvSpPr>
        <p:spPr/>
        <p:txBody>
          <a:bodyPr/>
          <a:lstStyle/>
          <a:p>
            <a:fld id="{3269AC21-EB01-4414-91E6-FBDD88F48159}" type="datetime1">
              <a:rPr lang="en-US" smtClean="0"/>
              <a:t>1/10/2026</a:t>
            </a:fld>
            <a:endParaRPr lang="en-US"/>
          </a:p>
        </p:txBody>
      </p:sp>
      <p:sp>
        <p:nvSpPr>
          <p:cNvPr id="9" name="Slide Number Placeholder 8">
            <a:extLst>
              <a:ext uri="{FF2B5EF4-FFF2-40B4-BE49-F238E27FC236}">
                <a16:creationId xmlns:a16="http://schemas.microsoft.com/office/drawing/2014/main" id="{6E89E8A9-6B63-4ACE-D77A-8A44C8217BBE}"/>
              </a:ext>
            </a:extLst>
          </p:cNvPr>
          <p:cNvSpPr>
            <a:spLocks noGrp="1"/>
          </p:cNvSpPr>
          <p:nvPr>
            <p:ph type="sldNum" sz="quarter" idx="12"/>
          </p:nvPr>
        </p:nvSpPr>
        <p:spPr/>
        <p:txBody>
          <a:bodyPr/>
          <a:lstStyle/>
          <a:p>
            <a:fld id="{F6C56E59-C124-411E-B3E7-95D014FC7158}" type="slidenum">
              <a:rPr lang="en-US" smtClean="0"/>
              <a:pPr/>
              <a:t>3</a:t>
            </a:fld>
            <a:endParaRPr lang="en-US"/>
          </a:p>
        </p:txBody>
      </p:sp>
    </p:spTree>
    <p:extLst>
      <p:ext uri="{BB962C8B-B14F-4D97-AF65-F5344CB8AC3E}">
        <p14:creationId xmlns:p14="http://schemas.microsoft.com/office/powerpoint/2010/main" val="149199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C01B4-0DE1-6A8A-AB8A-F32D3BAE80E6}"/>
              </a:ext>
            </a:extLst>
          </p:cNvPr>
          <p:cNvSpPr>
            <a:spLocks noGrp="1"/>
          </p:cNvSpPr>
          <p:nvPr>
            <p:ph type="title"/>
          </p:nvPr>
        </p:nvSpPr>
        <p:spPr/>
        <p:txBody>
          <a:bodyPr>
            <a:normAutofit fontScale="90000"/>
          </a:bodyPr>
          <a:lstStyle/>
          <a:p>
            <a:r>
              <a:rPr lang="en-US" dirty="0"/>
              <a:t>Simple Client/Server System</a:t>
            </a:r>
          </a:p>
        </p:txBody>
      </p:sp>
      <p:sp>
        <p:nvSpPr>
          <p:cNvPr id="3" name="Content Placeholder 2">
            <a:extLst>
              <a:ext uri="{FF2B5EF4-FFF2-40B4-BE49-F238E27FC236}">
                <a16:creationId xmlns:a16="http://schemas.microsoft.com/office/drawing/2014/main" id="{0D620514-3526-8578-A1D9-40330D4EFCA1}"/>
              </a:ext>
            </a:extLst>
          </p:cNvPr>
          <p:cNvSpPr>
            <a:spLocks noGrp="1"/>
          </p:cNvSpPr>
          <p:nvPr>
            <p:ph idx="1"/>
          </p:nvPr>
        </p:nvSpPr>
        <p:spPr/>
        <p:txBody>
          <a:bodyPr/>
          <a:lstStyle/>
          <a:p>
            <a:endParaRPr lang="en-US" dirty="0"/>
          </a:p>
        </p:txBody>
      </p:sp>
      <p:cxnSp>
        <p:nvCxnSpPr>
          <p:cNvPr id="15" name="Straight Connector 14">
            <a:extLst>
              <a:ext uri="{FF2B5EF4-FFF2-40B4-BE49-F238E27FC236}">
                <a16:creationId xmlns:a16="http://schemas.microsoft.com/office/drawing/2014/main" id="{0BFFB1AB-E7E8-6FE6-8A38-861774CC8AF4}"/>
              </a:ext>
            </a:extLst>
          </p:cNvPr>
          <p:cNvCxnSpPr/>
          <p:nvPr/>
        </p:nvCxnSpPr>
        <p:spPr>
          <a:xfrm>
            <a:off x="6102991" y="1461247"/>
            <a:ext cx="0" cy="4425523"/>
          </a:xfrm>
          <a:prstGeom prst="line">
            <a:avLst/>
          </a:prstGeom>
        </p:spPr>
        <p:style>
          <a:lnRef idx="2">
            <a:schemeClr val="accent1"/>
          </a:lnRef>
          <a:fillRef idx="0">
            <a:schemeClr val="accent1"/>
          </a:fillRef>
          <a:effectRef idx="1">
            <a:schemeClr val="accent1"/>
          </a:effectRef>
          <a:fontRef idx="minor">
            <a:schemeClr val="tx1"/>
          </a:fontRef>
        </p:style>
      </p:cxnSp>
      <p:pic>
        <p:nvPicPr>
          <p:cNvPr id="17" name="Picture 16" descr="A diagram of a network&#10;&#10;AI-generated content may be incorrect.">
            <a:extLst>
              <a:ext uri="{FF2B5EF4-FFF2-40B4-BE49-F238E27FC236}">
                <a16:creationId xmlns:a16="http://schemas.microsoft.com/office/drawing/2014/main" id="{A40277D4-7530-08B9-3580-10F7D671D954}"/>
              </a:ext>
            </a:extLst>
          </p:cNvPr>
          <p:cNvPicPr>
            <a:picLocks noChangeAspect="1"/>
          </p:cNvPicPr>
          <p:nvPr/>
        </p:nvPicPr>
        <p:blipFill>
          <a:blip r:embed="rId2"/>
          <a:stretch>
            <a:fillRect/>
          </a:stretch>
        </p:blipFill>
        <p:spPr>
          <a:xfrm>
            <a:off x="1310235" y="1461247"/>
            <a:ext cx="3493069" cy="4163297"/>
          </a:xfrm>
          <a:prstGeom prst="rect">
            <a:avLst/>
          </a:prstGeom>
        </p:spPr>
      </p:pic>
      <p:pic>
        <p:nvPicPr>
          <p:cNvPr id="19" name="Picture 18" descr="A diagram of a computer&#10;&#10;AI-generated content may be incorrect.">
            <a:extLst>
              <a:ext uri="{FF2B5EF4-FFF2-40B4-BE49-F238E27FC236}">
                <a16:creationId xmlns:a16="http://schemas.microsoft.com/office/drawing/2014/main" id="{C25D7F64-3511-D3C2-CDE4-CBDE36AFC63E}"/>
              </a:ext>
            </a:extLst>
          </p:cNvPr>
          <p:cNvPicPr>
            <a:picLocks noChangeAspect="1"/>
          </p:cNvPicPr>
          <p:nvPr/>
        </p:nvPicPr>
        <p:blipFill>
          <a:blip r:embed="rId3"/>
          <a:stretch>
            <a:fillRect/>
          </a:stretch>
        </p:blipFill>
        <p:spPr>
          <a:xfrm>
            <a:off x="7464628" y="1561520"/>
            <a:ext cx="3153215" cy="4153480"/>
          </a:xfrm>
          <a:prstGeom prst="rect">
            <a:avLst/>
          </a:prstGeom>
        </p:spPr>
      </p:pic>
      <p:sp>
        <p:nvSpPr>
          <p:cNvPr id="20" name="Date Placeholder 19">
            <a:extLst>
              <a:ext uri="{FF2B5EF4-FFF2-40B4-BE49-F238E27FC236}">
                <a16:creationId xmlns:a16="http://schemas.microsoft.com/office/drawing/2014/main" id="{6E06D4C5-FA8B-8703-2FED-02DBF5036D66}"/>
              </a:ext>
            </a:extLst>
          </p:cNvPr>
          <p:cNvSpPr>
            <a:spLocks noGrp="1"/>
          </p:cNvSpPr>
          <p:nvPr>
            <p:ph type="dt" sz="half" idx="10"/>
          </p:nvPr>
        </p:nvSpPr>
        <p:spPr/>
        <p:txBody>
          <a:bodyPr/>
          <a:lstStyle/>
          <a:p>
            <a:fld id="{DB113BBF-A659-48A1-A097-3E5DFF4A89C8}" type="datetime1">
              <a:rPr lang="en-US" smtClean="0"/>
              <a:t>1/10/2026</a:t>
            </a:fld>
            <a:endParaRPr lang="en-US"/>
          </a:p>
        </p:txBody>
      </p:sp>
      <p:sp>
        <p:nvSpPr>
          <p:cNvPr id="21" name="Slide Number Placeholder 20">
            <a:extLst>
              <a:ext uri="{FF2B5EF4-FFF2-40B4-BE49-F238E27FC236}">
                <a16:creationId xmlns:a16="http://schemas.microsoft.com/office/drawing/2014/main" id="{48B8FF1E-97F2-8AC3-A572-04DB1EDEED11}"/>
              </a:ext>
            </a:extLst>
          </p:cNvPr>
          <p:cNvSpPr>
            <a:spLocks noGrp="1"/>
          </p:cNvSpPr>
          <p:nvPr>
            <p:ph type="sldNum" sz="quarter" idx="12"/>
          </p:nvPr>
        </p:nvSpPr>
        <p:spPr/>
        <p:txBody>
          <a:bodyPr/>
          <a:lstStyle/>
          <a:p>
            <a:fld id="{F6C56E59-C124-411E-B3E7-95D014FC7158}" type="slidenum">
              <a:rPr lang="en-US" smtClean="0"/>
              <a:pPr/>
              <a:t>4</a:t>
            </a:fld>
            <a:endParaRPr lang="en-US"/>
          </a:p>
        </p:txBody>
      </p:sp>
    </p:spTree>
    <p:extLst>
      <p:ext uri="{BB962C8B-B14F-4D97-AF65-F5344CB8AC3E}">
        <p14:creationId xmlns:p14="http://schemas.microsoft.com/office/powerpoint/2010/main" val="249747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C51E-196C-7C46-4924-4960BD1887D1}"/>
              </a:ext>
            </a:extLst>
          </p:cNvPr>
          <p:cNvSpPr>
            <a:spLocks noGrp="1"/>
          </p:cNvSpPr>
          <p:nvPr>
            <p:ph type="title"/>
          </p:nvPr>
        </p:nvSpPr>
        <p:spPr/>
        <p:txBody>
          <a:bodyPr/>
          <a:lstStyle/>
          <a:p>
            <a:r>
              <a:rPr lang="en-US" dirty="0"/>
              <a:t>We are going to need a theme.</a:t>
            </a:r>
          </a:p>
        </p:txBody>
      </p:sp>
      <p:sp>
        <p:nvSpPr>
          <p:cNvPr id="3" name="Text Placeholder 2">
            <a:extLst>
              <a:ext uri="{FF2B5EF4-FFF2-40B4-BE49-F238E27FC236}">
                <a16:creationId xmlns:a16="http://schemas.microsoft.com/office/drawing/2014/main" id="{9AB5C673-3A11-73DC-71CD-599B3DBC7F6A}"/>
              </a:ext>
            </a:extLst>
          </p:cNvPr>
          <p:cNvSpPr>
            <a:spLocks noGrp="1"/>
          </p:cNvSpPr>
          <p:nvPr>
            <p:ph type="body" idx="1"/>
          </p:nvPr>
        </p:nvSpPr>
        <p:spPr/>
        <p:txBody>
          <a:bodyPr/>
          <a:lstStyle/>
          <a:p>
            <a:r>
              <a:rPr lang="en-US" dirty="0"/>
              <a:t>And it can’t be accounts receivable unless you want a nap.</a:t>
            </a:r>
          </a:p>
        </p:txBody>
      </p:sp>
      <p:sp>
        <p:nvSpPr>
          <p:cNvPr id="4" name="Date Placeholder 3">
            <a:extLst>
              <a:ext uri="{FF2B5EF4-FFF2-40B4-BE49-F238E27FC236}">
                <a16:creationId xmlns:a16="http://schemas.microsoft.com/office/drawing/2014/main" id="{440E0F3C-6D8A-1277-7162-B8C36D546151}"/>
              </a:ext>
            </a:extLst>
          </p:cNvPr>
          <p:cNvSpPr>
            <a:spLocks noGrp="1"/>
          </p:cNvSpPr>
          <p:nvPr>
            <p:ph type="dt" sz="half" idx="10"/>
          </p:nvPr>
        </p:nvSpPr>
        <p:spPr/>
        <p:txBody>
          <a:bodyPr/>
          <a:lstStyle/>
          <a:p>
            <a:fld id="{6A80767E-9719-4314-B3AF-BEDFD3F0B102}" type="datetime1">
              <a:rPr lang="en-US" smtClean="0"/>
              <a:t>1/10/2026</a:t>
            </a:fld>
            <a:endParaRPr lang="en-US"/>
          </a:p>
        </p:txBody>
      </p:sp>
      <p:sp>
        <p:nvSpPr>
          <p:cNvPr id="5" name="Slide Number Placeholder 4">
            <a:extLst>
              <a:ext uri="{FF2B5EF4-FFF2-40B4-BE49-F238E27FC236}">
                <a16:creationId xmlns:a16="http://schemas.microsoft.com/office/drawing/2014/main" id="{070F9B4B-E213-9CEE-6C9D-8779E62D9125}"/>
              </a:ext>
            </a:extLst>
          </p:cNvPr>
          <p:cNvSpPr>
            <a:spLocks noGrp="1"/>
          </p:cNvSpPr>
          <p:nvPr>
            <p:ph type="sldNum" sz="quarter" idx="12"/>
          </p:nvPr>
        </p:nvSpPr>
        <p:spPr/>
        <p:txBody>
          <a:bodyPr/>
          <a:lstStyle/>
          <a:p>
            <a:fld id="{F6C56E59-C124-411E-B3E7-95D014FC7158}" type="slidenum">
              <a:rPr lang="en-US" smtClean="0"/>
              <a:pPr/>
              <a:t>5</a:t>
            </a:fld>
            <a:endParaRPr lang="en-US"/>
          </a:p>
        </p:txBody>
      </p:sp>
    </p:spTree>
    <p:extLst>
      <p:ext uri="{BB962C8B-B14F-4D97-AF65-F5344CB8AC3E}">
        <p14:creationId xmlns:p14="http://schemas.microsoft.com/office/powerpoint/2010/main" val="3538705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C9911-4C80-097D-29E2-DEBA3E013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3D977-50C2-19EB-7D3C-E30F9E6EB96B}"/>
              </a:ext>
            </a:extLst>
          </p:cNvPr>
          <p:cNvSpPr>
            <a:spLocks noGrp="1"/>
          </p:cNvSpPr>
          <p:nvPr>
            <p:ph type="title"/>
          </p:nvPr>
        </p:nvSpPr>
        <p:spPr/>
        <p:txBody>
          <a:bodyPr/>
          <a:lstStyle/>
          <a:p>
            <a:pPr algn="ctr"/>
            <a:r>
              <a:rPr lang="en-US" dirty="0"/>
              <a:t>National Dodgeball League</a:t>
            </a:r>
            <a:br>
              <a:rPr lang="en-US" dirty="0"/>
            </a:br>
            <a:endParaRPr lang="en-US" dirty="0"/>
          </a:p>
        </p:txBody>
      </p:sp>
      <p:sp>
        <p:nvSpPr>
          <p:cNvPr id="3" name="Text Placeholder 2">
            <a:extLst>
              <a:ext uri="{FF2B5EF4-FFF2-40B4-BE49-F238E27FC236}">
                <a16:creationId xmlns:a16="http://schemas.microsoft.com/office/drawing/2014/main" id="{4D128061-6F9A-517D-625E-90A678287BC8}"/>
              </a:ext>
            </a:extLst>
          </p:cNvPr>
          <p:cNvSpPr>
            <a:spLocks noGrp="1"/>
          </p:cNvSpPr>
          <p:nvPr>
            <p:ph type="body" idx="1"/>
          </p:nvPr>
        </p:nvSpPr>
        <p:spPr/>
        <p:txBody>
          <a:bodyPr/>
          <a:lstStyle/>
          <a:p>
            <a:pPr algn="ctr"/>
            <a:endParaRPr lang="en-US" dirty="0"/>
          </a:p>
          <a:p>
            <a:pPr algn="ctr"/>
            <a:r>
              <a:rPr lang="en-US" dirty="0"/>
              <a:t>“If you can dodge a wrench, you can dodge a ball.”</a:t>
            </a:r>
          </a:p>
        </p:txBody>
      </p:sp>
      <p:sp>
        <p:nvSpPr>
          <p:cNvPr id="6" name="Date Placeholder 5">
            <a:extLst>
              <a:ext uri="{FF2B5EF4-FFF2-40B4-BE49-F238E27FC236}">
                <a16:creationId xmlns:a16="http://schemas.microsoft.com/office/drawing/2014/main" id="{A65AB4A5-1857-48D2-472F-832BCBFCFC2B}"/>
              </a:ext>
            </a:extLst>
          </p:cNvPr>
          <p:cNvSpPr>
            <a:spLocks noGrp="1"/>
          </p:cNvSpPr>
          <p:nvPr>
            <p:ph type="dt" sz="half" idx="10"/>
          </p:nvPr>
        </p:nvSpPr>
        <p:spPr/>
        <p:txBody>
          <a:bodyPr/>
          <a:lstStyle/>
          <a:p>
            <a:fld id="{D47C69F0-38DB-4B68-ADDF-2CF5261A5504}" type="datetime1">
              <a:rPr lang="en-US" smtClean="0"/>
              <a:t>1/10/2026</a:t>
            </a:fld>
            <a:endParaRPr lang="en-US"/>
          </a:p>
        </p:txBody>
      </p:sp>
      <p:sp>
        <p:nvSpPr>
          <p:cNvPr id="7" name="Slide Number Placeholder 6">
            <a:extLst>
              <a:ext uri="{FF2B5EF4-FFF2-40B4-BE49-F238E27FC236}">
                <a16:creationId xmlns:a16="http://schemas.microsoft.com/office/drawing/2014/main" id="{FE0D51C5-46D3-120C-96BB-F30BFBF20D04}"/>
              </a:ext>
            </a:extLst>
          </p:cNvPr>
          <p:cNvSpPr>
            <a:spLocks noGrp="1"/>
          </p:cNvSpPr>
          <p:nvPr>
            <p:ph type="sldNum" sz="quarter" idx="12"/>
          </p:nvPr>
        </p:nvSpPr>
        <p:spPr/>
        <p:txBody>
          <a:bodyPr/>
          <a:lstStyle/>
          <a:p>
            <a:fld id="{F6C56E59-C124-411E-B3E7-95D014FC7158}" type="slidenum">
              <a:rPr lang="en-US" smtClean="0"/>
              <a:pPr/>
              <a:t>6</a:t>
            </a:fld>
            <a:endParaRPr lang="en-US"/>
          </a:p>
        </p:txBody>
      </p:sp>
    </p:spTree>
    <p:extLst>
      <p:ext uri="{BB962C8B-B14F-4D97-AF65-F5344CB8AC3E}">
        <p14:creationId xmlns:p14="http://schemas.microsoft.com/office/powerpoint/2010/main" val="383821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DEAEA-B50E-5D9C-282A-43424356B0E7}"/>
              </a:ext>
            </a:extLst>
          </p:cNvPr>
          <p:cNvSpPr>
            <a:spLocks noGrp="1"/>
          </p:cNvSpPr>
          <p:nvPr>
            <p:ph type="title"/>
          </p:nvPr>
        </p:nvSpPr>
        <p:spPr/>
        <p:txBody>
          <a:bodyPr>
            <a:normAutofit fontScale="90000"/>
          </a:bodyPr>
          <a:lstStyle/>
          <a:p>
            <a:r>
              <a:rPr lang="en-US" dirty="0"/>
              <a:t>The Mighty Table</a:t>
            </a:r>
          </a:p>
        </p:txBody>
      </p:sp>
      <p:sp>
        <p:nvSpPr>
          <p:cNvPr id="3" name="Content Placeholder 2">
            <a:extLst>
              <a:ext uri="{FF2B5EF4-FFF2-40B4-BE49-F238E27FC236}">
                <a16:creationId xmlns:a16="http://schemas.microsoft.com/office/drawing/2014/main" id="{B7440255-6C5D-3D6C-8535-C30922E38AEF}"/>
              </a:ext>
            </a:extLst>
          </p:cNvPr>
          <p:cNvSpPr>
            <a:spLocks noGrp="1"/>
          </p:cNvSpPr>
          <p:nvPr>
            <p:ph idx="1"/>
          </p:nvPr>
        </p:nvSpPr>
        <p:spPr/>
        <p:txBody>
          <a:bodyPr/>
          <a:lstStyle/>
          <a:p>
            <a:endParaRPr lang="en-US"/>
          </a:p>
        </p:txBody>
      </p:sp>
      <p:pic>
        <p:nvPicPr>
          <p:cNvPr id="5" name="Picture 4" descr="A screenshot of a computer">
            <a:extLst>
              <a:ext uri="{FF2B5EF4-FFF2-40B4-BE49-F238E27FC236}">
                <a16:creationId xmlns:a16="http://schemas.microsoft.com/office/drawing/2014/main" id="{FB01302E-E068-FBF5-C953-25F19890F604}"/>
              </a:ext>
            </a:extLst>
          </p:cNvPr>
          <p:cNvPicPr>
            <a:picLocks noChangeAspect="1"/>
          </p:cNvPicPr>
          <p:nvPr/>
        </p:nvPicPr>
        <p:blipFill>
          <a:blip r:embed="rId2"/>
          <a:stretch>
            <a:fillRect/>
          </a:stretch>
        </p:blipFill>
        <p:spPr>
          <a:xfrm>
            <a:off x="1442188" y="1143000"/>
            <a:ext cx="8526566" cy="3632927"/>
          </a:xfrm>
          <a:prstGeom prst="rect">
            <a:avLst/>
          </a:prstGeom>
        </p:spPr>
      </p:pic>
      <p:sp>
        <p:nvSpPr>
          <p:cNvPr id="6" name="TextBox 5">
            <a:extLst>
              <a:ext uri="{FF2B5EF4-FFF2-40B4-BE49-F238E27FC236}">
                <a16:creationId xmlns:a16="http://schemas.microsoft.com/office/drawing/2014/main" id="{491F63DE-3F54-9293-4810-2F216E380C97}"/>
              </a:ext>
            </a:extLst>
          </p:cNvPr>
          <p:cNvSpPr txBox="1"/>
          <p:nvPr/>
        </p:nvSpPr>
        <p:spPr>
          <a:xfrm>
            <a:off x="1825096" y="4775927"/>
            <a:ext cx="7318414" cy="1169551"/>
          </a:xfrm>
          <a:prstGeom prst="rect">
            <a:avLst/>
          </a:prstGeom>
          <a:noFill/>
        </p:spPr>
        <p:txBody>
          <a:bodyPr wrap="none" rtlCol="0">
            <a:spAutoFit/>
          </a:bodyPr>
          <a:lstStyle/>
          <a:p>
            <a:r>
              <a:rPr lang="en-US" sz="1400" b="1" dirty="0"/>
              <a:t>Table</a:t>
            </a:r>
            <a:r>
              <a:rPr lang="en-US" sz="1400" dirty="0"/>
              <a:t> – usually represents a real world entity</a:t>
            </a:r>
          </a:p>
          <a:p>
            <a:r>
              <a:rPr lang="en-US" sz="1400" b="1" dirty="0"/>
              <a:t>Column</a:t>
            </a:r>
            <a:r>
              <a:rPr lang="en-US" sz="1400" dirty="0"/>
              <a:t> – represents a property of an entity</a:t>
            </a:r>
          </a:p>
          <a:p>
            <a:r>
              <a:rPr lang="en-US" sz="1400" b="1" dirty="0"/>
              <a:t>Row</a:t>
            </a:r>
            <a:r>
              <a:rPr lang="en-US" sz="1400" dirty="0"/>
              <a:t> – represents an instance of and entity</a:t>
            </a:r>
          </a:p>
          <a:p>
            <a:r>
              <a:rPr lang="en-US" sz="1400" b="1" dirty="0"/>
              <a:t>Primary key</a:t>
            </a:r>
            <a:r>
              <a:rPr lang="en-US" sz="1400" dirty="0"/>
              <a:t> – uniquely identifies a row</a:t>
            </a:r>
          </a:p>
          <a:p>
            <a:r>
              <a:rPr lang="en-US" sz="1400" b="1" dirty="0"/>
              <a:t>Non-primary key / unique keys</a:t>
            </a:r>
            <a:r>
              <a:rPr lang="en-US" sz="1400" dirty="0"/>
              <a:t> – also uniquely identifies a row but as a secondary concern. </a:t>
            </a:r>
          </a:p>
        </p:txBody>
      </p:sp>
      <p:sp>
        <p:nvSpPr>
          <p:cNvPr id="7" name="Date Placeholder 6">
            <a:extLst>
              <a:ext uri="{FF2B5EF4-FFF2-40B4-BE49-F238E27FC236}">
                <a16:creationId xmlns:a16="http://schemas.microsoft.com/office/drawing/2014/main" id="{214978B3-99E3-54F3-6101-B72F05437D1B}"/>
              </a:ext>
            </a:extLst>
          </p:cNvPr>
          <p:cNvSpPr>
            <a:spLocks noGrp="1"/>
          </p:cNvSpPr>
          <p:nvPr>
            <p:ph type="dt" sz="half" idx="10"/>
          </p:nvPr>
        </p:nvSpPr>
        <p:spPr/>
        <p:txBody>
          <a:bodyPr/>
          <a:lstStyle/>
          <a:p>
            <a:fld id="{B7FE07B0-F112-438B-A32F-258CD90CF283}" type="datetime1">
              <a:rPr lang="en-US" smtClean="0"/>
              <a:t>1/10/2026</a:t>
            </a:fld>
            <a:endParaRPr lang="en-US"/>
          </a:p>
        </p:txBody>
      </p:sp>
      <p:sp>
        <p:nvSpPr>
          <p:cNvPr id="8" name="Slide Number Placeholder 7">
            <a:extLst>
              <a:ext uri="{FF2B5EF4-FFF2-40B4-BE49-F238E27FC236}">
                <a16:creationId xmlns:a16="http://schemas.microsoft.com/office/drawing/2014/main" id="{32F227B1-28B7-2965-C7D0-8ACCB3C6759E}"/>
              </a:ext>
            </a:extLst>
          </p:cNvPr>
          <p:cNvSpPr>
            <a:spLocks noGrp="1"/>
          </p:cNvSpPr>
          <p:nvPr>
            <p:ph type="sldNum" sz="quarter" idx="12"/>
          </p:nvPr>
        </p:nvSpPr>
        <p:spPr/>
        <p:txBody>
          <a:bodyPr/>
          <a:lstStyle/>
          <a:p>
            <a:fld id="{F6C56E59-C124-411E-B3E7-95D014FC7158}" type="slidenum">
              <a:rPr lang="en-US" smtClean="0"/>
              <a:pPr/>
              <a:t>7</a:t>
            </a:fld>
            <a:endParaRPr lang="en-US"/>
          </a:p>
        </p:txBody>
      </p:sp>
    </p:spTree>
    <p:extLst>
      <p:ext uri="{BB962C8B-B14F-4D97-AF65-F5344CB8AC3E}">
        <p14:creationId xmlns:p14="http://schemas.microsoft.com/office/powerpoint/2010/main" val="1523038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FED-81F7-7C0B-A736-A926CF776119}"/>
              </a:ext>
            </a:extLst>
          </p:cNvPr>
          <p:cNvSpPr>
            <a:spLocks noGrp="1"/>
          </p:cNvSpPr>
          <p:nvPr>
            <p:ph type="title"/>
          </p:nvPr>
        </p:nvSpPr>
        <p:spPr/>
        <p:txBody>
          <a:bodyPr>
            <a:normAutofit fontScale="90000"/>
          </a:bodyPr>
          <a:lstStyle/>
          <a:p>
            <a:r>
              <a:rPr lang="en-US" dirty="0"/>
              <a:t>Relationships</a:t>
            </a:r>
          </a:p>
        </p:txBody>
      </p:sp>
      <p:sp>
        <p:nvSpPr>
          <p:cNvPr id="3" name="Content Placeholder 2">
            <a:extLst>
              <a:ext uri="{FF2B5EF4-FFF2-40B4-BE49-F238E27FC236}">
                <a16:creationId xmlns:a16="http://schemas.microsoft.com/office/drawing/2014/main" id="{45AE7340-0599-70AA-D963-FE2E2589981C}"/>
              </a:ext>
            </a:extLst>
          </p:cNvPr>
          <p:cNvSpPr>
            <a:spLocks noGrp="1"/>
          </p:cNvSpPr>
          <p:nvPr>
            <p:ph idx="1"/>
          </p:nvPr>
        </p:nvSpPr>
        <p:spPr/>
        <p:txBody>
          <a:bodyPr/>
          <a:lstStyle/>
          <a:p>
            <a:endParaRPr lang="en-US" dirty="0"/>
          </a:p>
        </p:txBody>
      </p:sp>
      <p:pic>
        <p:nvPicPr>
          <p:cNvPr id="5" name="Picture 4" descr="A diagram of a football game">
            <a:extLst>
              <a:ext uri="{FF2B5EF4-FFF2-40B4-BE49-F238E27FC236}">
                <a16:creationId xmlns:a16="http://schemas.microsoft.com/office/drawing/2014/main" id="{45EF97EF-B166-5FD0-28EE-A4843CA8362B}"/>
              </a:ext>
            </a:extLst>
          </p:cNvPr>
          <p:cNvPicPr>
            <a:picLocks noChangeAspect="1"/>
          </p:cNvPicPr>
          <p:nvPr/>
        </p:nvPicPr>
        <p:blipFill>
          <a:blip r:embed="rId2"/>
          <a:stretch>
            <a:fillRect/>
          </a:stretch>
        </p:blipFill>
        <p:spPr>
          <a:xfrm>
            <a:off x="418527" y="1755648"/>
            <a:ext cx="6106377" cy="3629532"/>
          </a:xfrm>
          <a:prstGeom prst="rect">
            <a:avLst/>
          </a:prstGeom>
        </p:spPr>
      </p:pic>
      <p:sp>
        <p:nvSpPr>
          <p:cNvPr id="8" name="TextBox 7">
            <a:extLst>
              <a:ext uri="{FF2B5EF4-FFF2-40B4-BE49-F238E27FC236}">
                <a16:creationId xmlns:a16="http://schemas.microsoft.com/office/drawing/2014/main" id="{BE5C90BF-77AE-49DC-DFE2-C8644FF8623F}"/>
              </a:ext>
            </a:extLst>
          </p:cNvPr>
          <p:cNvSpPr txBox="1"/>
          <p:nvPr/>
        </p:nvSpPr>
        <p:spPr>
          <a:xfrm>
            <a:off x="7011911" y="1755648"/>
            <a:ext cx="4480561" cy="3970318"/>
          </a:xfrm>
          <a:prstGeom prst="rect">
            <a:avLst/>
          </a:prstGeom>
          <a:noFill/>
        </p:spPr>
        <p:txBody>
          <a:bodyPr wrap="square" rtlCol="0">
            <a:spAutoFit/>
          </a:bodyPr>
          <a:lstStyle/>
          <a:p>
            <a:r>
              <a:rPr lang="en-US" sz="1400" b="1" dirty="0"/>
              <a:t>One-to-one</a:t>
            </a:r>
            <a:r>
              <a:rPr lang="en-US" sz="1400" dirty="0"/>
              <a:t> – two tables with properties related to one entity;  not very common;  Also referred to as a segmentation table.</a:t>
            </a:r>
          </a:p>
          <a:p>
            <a:endParaRPr lang="en-US" sz="1400" dirty="0"/>
          </a:p>
          <a:p>
            <a:r>
              <a:rPr lang="en-US" sz="1400" b="1" dirty="0"/>
              <a:t>One-to-many</a:t>
            </a:r>
            <a:r>
              <a:rPr lang="en-US" sz="1400" dirty="0"/>
              <a:t> – One table is the main unifying table, or </a:t>
            </a:r>
            <a:r>
              <a:rPr lang="en-US" sz="1400" b="1" dirty="0"/>
              <a:t>parent</a:t>
            </a:r>
            <a:r>
              <a:rPr lang="en-US" sz="1400" dirty="0"/>
              <a:t> table, while the other table is a </a:t>
            </a:r>
            <a:r>
              <a:rPr lang="en-US" sz="1400" b="1" dirty="0"/>
              <a:t>child</a:t>
            </a:r>
            <a:r>
              <a:rPr lang="en-US" sz="1400" dirty="0"/>
              <a:t> that can have zero or more related sub entities.  This is the most commonly used relationship.</a:t>
            </a:r>
          </a:p>
          <a:p>
            <a:endParaRPr lang="en-US" sz="1400" dirty="0"/>
          </a:p>
          <a:p>
            <a:r>
              <a:rPr lang="en-US" sz="1400" b="1" dirty="0"/>
              <a:t>Many-to-many</a:t>
            </a:r>
            <a:r>
              <a:rPr lang="en-US" sz="1400" dirty="0"/>
              <a:t> – This relationship allows many rows from one table to relate to many rows in a related table.  Neither is hierarchically higher than the other.  This is often implemented with three tables, two master entity tables and one middle mapping table, or cross reference table.  The Match table is and example of this.  On the left side you can see team having many matches and on the right-hand side, stadiums can be used in many matches.</a:t>
            </a:r>
          </a:p>
        </p:txBody>
      </p:sp>
      <p:sp>
        <p:nvSpPr>
          <p:cNvPr id="9" name="Date Placeholder 8">
            <a:extLst>
              <a:ext uri="{FF2B5EF4-FFF2-40B4-BE49-F238E27FC236}">
                <a16:creationId xmlns:a16="http://schemas.microsoft.com/office/drawing/2014/main" id="{7F04A472-50A6-A988-8F9E-E6052FD4E874}"/>
              </a:ext>
            </a:extLst>
          </p:cNvPr>
          <p:cNvSpPr>
            <a:spLocks noGrp="1"/>
          </p:cNvSpPr>
          <p:nvPr>
            <p:ph type="dt" sz="half" idx="10"/>
          </p:nvPr>
        </p:nvSpPr>
        <p:spPr/>
        <p:txBody>
          <a:bodyPr/>
          <a:lstStyle/>
          <a:p>
            <a:fld id="{CE9C8208-9E49-42F1-9D35-9DEF621FE242}" type="datetime1">
              <a:rPr lang="en-US" smtClean="0"/>
              <a:t>1/10/2026</a:t>
            </a:fld>
            <a:endParaRPr lang="en-US"/>
          </a:p>
        </p:txBody>
      </p:sp>
      <p:sp>
        <p:nvSpPr>
          <p:cNvPr id="10" name="Slide Number Placeholder 9">
            <a:extLst>
              <a:ext uri="{FF2B5EF4-FFF2-40B4-BE49-F238E27FC236}">
                <a16:creationId xmlns:a16="http://schemas.microsoft.com/office/drawing/2014/main" id="{44EE2B3B-1F14-CFF8-C64D-281F5E6867FF}"/>
              </a:ext>
            </a:extLst>
          </p:cNvPr>
          <p:cNvSpPr>
            <a:spLocks noGrp="1"/>
          </p:cNvSpPr>
          <p:nvPr>
            <p:ph type="sldNum" sz="quarter" idx="12"/>
          </p:nvPr>
        </p:nvSpPr>
        <p:spPr/>
        <p:txBody>
          <a:bodyPr/>
          <a:lstStyle/>
          <a:p>
            <a:fld id="{F6C56E59-C124-411E-B3E7-95D014FC7158}" type="slidenum">
              <a:rPr lang="en-US" smtClean="0"/>
              <a:pPr/>
              <a:t>8</a:t>
            </a:fld>
            <a:endParaRPr lang="en-US"/>
          </a:p>
        </p:txBody>
      </p:sp>
    </p:spTree>
    <p:extLst>
      <p:ext uri="{BB962C8B-B14F-4D97-AF65-F5344CB8AC3E}">
        <p14:creationId xmlns:p14="http://schemas.microsoft.com/office/powerpoint/2010/main" val="151458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8BDB1-D3AC-D5CD-B9F0-05643FB12CBE}"/>
              </a:ext>
            </a:extLst>
          </p:cNvPr>
          <p:cNvSpPr>
            <a:spLocks noGrp="1"/>
          </p:cNvSpPr>
          <p:nvPr>
            <p:ph type="title"/>
          </p:nvPr>
        </p:nvSpPr>
        <p:spPr/>
        <p:txBody>
          <a:bodyPr>
            <a:normAutofit fontScale="90000"/>
          </a:bodyPr>
          <a:lstStyle/>
          <a:p>
            <a:r>
              <a:rPr lang="en-US" dirty="0"/>
              <a:t>Keys</a:t>
            </a:r>
          </a:p>
        </p:txBody>
      </p:sp>
      <p:sp>
        <p:nvSpPr>
          <p:cNvPr id="3" name="Content Placeholder 2">
            <a:extLst>
              <a:ext uri="{FF2B5EF4-FFF2-40B4-BE49-F238E27FC236}">
                <a16:creationId xmlns:a16="http://schemas.microsoft.com/office/drawing/2014/main" id="{63424174-91F6-2BD8-44D0-7E47EE4DEE7C}"/>
              </a:ext>
            </a:extLst>
          </p:cNvPr>
          <p:cNvSpPr>
            <a:spLocks noGrp="1"/>
          </p:cNvSpPr>
          <p:nvPr>
            <p:ph idx="1"/>
          </p:nvPr>
        </p:nvSpPr>
        <p:spPr/>
        <p:txBody>
          <a:bodyPr/>
          <a:lstStyle/>
          <a:p>
            <a:endParaRPr lang="en-US" dirty="0"/>
          </a:p>
        </p:txBody>
      </p:sp>
      <p:sp>
        <p:nvSpPr>
          <p:cNvPr id="7" name="TextBox 6">
            <a:extLst>
              <a:ext uri="{FF2B5EF4-FFF2-40B4-BE49-F238E27FC236}">
                <a16:creationId xmlns:a16="http://schemas.microsoft.com/office/drawing/2014/main" id="{31E1FC51-E825-D776-DEC1-B3375FE7981E}"/>
              </a:ext>
            </a:extLst>
          </p:cNvPr>
          <p:cNvSpPr txBox="1"/>
          <p:nvPr/>
        </p:nvSpPr>
        <p:spPr>
          <a:xfrm>
            <a:off x="1630904" y="4624243"/>
            <a:ext cx="8944173" cy="1384995"/>
          </a:xfrm>
          <a:prstGeom prst="rect">
            <a:avLst/>
          </a:prstGeom>
          <a:noFill/>
        </p:spPr>
        <p:txBody>
          <a:bodyPr wrap="square" rtlCol="0">
            <a:spAutoFit/>
          </a:bodyPr>
          <a:lstStyle/>
          <a:p>
            <a:r>
              <a:rPr lang="en-US" sz="1400" b="1" dirty="0"/>
              <a:t>Primary Key</a:t>
            </a:r>
            <a:r>
              <a:rPr lang="en-US" sz="1400" dirty="0"/>
              <a:t> – uniquely identifies each row in the table</a:t>
            </a:r>
          </a:p>
          <a:p>
            <a:r>
              <a:rPr lang="en-US" sz="1400" b="1" dirty="0"/>
              <a:t>Foreign Key</a:t>
            </a:r>
            <a:r>
              <a:rPr lang="en-US" sz="1400" dirty="0"/>
              <a:t> – identifies a related row in another table</a:t>
            </a:r>
          </a:p>
          <a:p>
            <a:r>
              <a:rPr lang="en-US" sz="1400" b="1" dirty="0"/>
              <a:t>Alternate Key</a:t>
            </a:r>
            <a:r>
              <a:rPr lang="en-US" sz="1400" dirty="0"/>
              <a:t> – alternate identifier that uniquely identifies each row in the table</a:t>
            </a:r>
          </a:p>
          <a:p>
            <a:r>
              <a:rPr lang="en-US" sz="1400" b="1" dirty="0"/>
              <a:t>Composite key</a:t>
            </a:r>
            <a:r>
              <a:rPr lang="en-US" sz="1400" dirty="0"/>
              <a:t> – A key made up of more than one field.  This is defined as a </a:t>
            </a:r>
            <a:r>
              <a:rPr lang="en-US" sz="1400" b="1" dirty="0"/>
              <a:t>unique constraint</a:t>
            </a:r>
            <a:r>
              <a:rPr lang="en-US" sz="1400" dirty="0"/>
              <a:t> and not usually used in relationships.</a:t>
            </a:r>
          </a:p>
          <a:p>
            <a:endParaRPr lang="en-US" sz="1400" dirty="0"/>
          </a:p>
        </p:txBody>
      </p:sp>
      <p:pic>
        <p:nvPicPr>
          <p:cNvPr id="9" name="Picture 8" descr="A screenshot of a graph">
            <a:extLst>
              <a:ext uri="{FF2B5EF4-FFF2-40B4-BE49-F238E27FC236}">
                <a16:creationId xmlns:a16="http://schemas.microsoft.com/office/drawing/2014/main" id="{D43E75B2-AAB3-52C1-88E7-875AFAD65A42}"/>
              </a:ext>
            </a:extLst>
          </p:cNvPr>
          <p:cNvPicPr>
            <a:picLocks noChangeAspect="1"/>
          </p:cNvPicPr>
          <p:nvPr/>
        </p:nvPicPr>
        <p:blipFill>
          <a:blip r:embed="rId2"/>
          <a:stretch>
            <a:fillRect/>
          </a:stretch>
        </p:blipFill>
        <p:spPr>
          <a:xfrm>
            <a:off x="1630904" y="1143000"/>
            <a:ext cx="8944173" cy="3241094"/>
          </a:xfrm>
          <a:prstGeom prst="rect">
            <a:avLst/>
          </a:prstGeom>
        </p:spPr>
      </p:pic>
      <p:sp>
        <p:nvSpPr>
          <p:cNvPr id="10" name="Date Placeholder 9">
            <a:extLst>
              <a:ext uri="{FF2B5EF4-FFF2-40B4-BE49-F238E27FC236}">
                <a16:creationId xmlns:a16="http://schemas.microsoft.com/office/drawing/2014/main" id="{A957D15F-9D35-C49B-22B3-5D78480DFBD8}"/>
              </a:ext>
            </a:extLst>
          </p:cNvPr>
          <p:cNvSpPr>
            <a:spLocks noGrp="1"/>
          </p:cNvSpPr>
          <p:nvPr>
            <p:ph type="dt" sz="half" idx="10"/>
          </p:nvPr>
        </p:nvSpPr>
        <p:spPr/>
        <p:txBody>
          <a:bodyPr/>
          <a:lstStyle/>
          <a:p>
            <a:fld id="{7B23E8DB-E2DA-406E-BDC0-E5AB01AE38D4}" type="datetime1">
              <a:rPr lang="en-US" smtClean="0"/>
              <a:t>1/10/2026</a:t>
            </a:fld>
            <a:endParaRPr lang="en-US"/>
          </a:p>
        </p:txBody>
      </p:sp>
      <p:sp>
        <p:nvSpPr>
          <p:cNvPr id="11" name="Slide Number Placeholder 10">
            <a:extLst>
              <a:ext uri="{FF2B5EF4-FFF2-40B4-BE49-F238E27FC236}">
                <a16:creationId xmlns:a16="http://schemas.microsoft.com/office/drawing/2014/main" id="{F0A2BB7A-E524-0CE8-43B4-1E2623B9F0C1}"/>
              </a:ext>
            </a:extLst>
          </p:cNvPr>
          <p:cNvSpPr>
            <a:spLocks noGrp="1"/>
          </p:cNvSpPr>
          <p:nvPr>
            <p:ph type="sldNum" sz="quarter" idx="12"/>
          </p:nvPr>
        </p:nvSpPr>
        <p:spPr/>
        <p:txBody>
          <a:bodyPr/>
          <a:lstStyle/>
          <a:p>
            <a:fld id="{F6C56E59-C124-411E-B3E7-95D014FC7158}" type="slidenum">
              <a:rPr lang="en-US" smtClean="0"/>
              <a:pPr/>
              <a:t>9</a:t>
            </a:fld>
            <a:endParaRPr lang="en-US"/>
          </a:p>
        </p:txBody>
      </p:sp>
    </p:spTree>
    <p:extLst>
      <p:ext uri="{BB962C8B-B14F-4D97-AF65-F5344CB8AC3E}">
        <p14:creationId xmlns:p14="http://schemas.microsoft.com/office/powerpoint/2010/main" val="3636149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BAA84-B2F4-B126-2957-5AC14627E9D4}"/>
              </a:ext>
            </a:extLst>
          </p:cNvPr>
          <p:cNvSpPr>
            <a:spLocks noGrp="1"/>
          </p:cNvSpPr>
          <p:nvPr>
            <p:ph type="title"/>
          </p:nvPr>
        </p:nvSpPr>
        <p:spPr/>
        <p:txBody>
          <a:bodyPr>
            <a:normAutofit fontScale="90000"/>
          </a:bodyPr>
          <a:lstStyle/>
          <a:p>
            <a:r>
              <a:rPr lang="en-US" dirty="0"/>
              <a:t>Columns</a:t>
            </a:r>
          </a:p>
        </p:txBody>
      </p:sp>
      <p:sp>
        <p:nvSpPr>
          <p:cNvPr id="3" name="Content Placeholder 2">
            <a:extLst>
              <a:ext uri="{FF2B5EF4-FFF2-40B4-BE49-F238E27FC236}">
                <a16:creationId xmlns:a16="http://schemas.microsoft.com/office/drawing/2014/main" id="{8B0AA404-A4B2-BEFB-B0E5-9784F59343AC}"/>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AA484984-6CF4-9C65-83BB-99FABB53FE49}"/>
              </a:ext>
            </a:extLst>
          </p:cNvPr>
          <p:cNvSpPr txBox="1"/>
          <p:nvPr/>
        </p:nvSpPr>
        <p:spPr>
          <a:xfrm>
            <a:off x="1666233" y="1890266"/>
            <a:ext cx="8661107" cy="3539430"/>
          </a:xfrm>
          <a:prstGeom prst="rect">
            <a:avLst/>
          </a:prstGeom>
          <a:noFill/>
        </p:spPr>
        <p:txBody>
          <a:bodyPr wrap="square" rtlCol="0">
            <a:spAutoFit/>
          </a:bodyPr>
          <a:lstStyle/>
          <a:p>
            <a:r>
              <a:rPr lang="en-US" sz="1400" b="1" dirty="0"/>
              <a:t>Data types</a:t>
            </a:r>
            <a:r>
              <a:rPr lang="en-US" sz="1400" dirty="0"/>
              <a:t> – defines what kind of value a column can store.  Examples: </a:t>
            </a:r>
            <a:r>
              <a:rPr lang="en-US" sz="1400" b="1" dirty="0"/>
              <a:t>INT</a:t>
            </a:r>
            <a:r>
              <a:rPr lang="en-US" sz="1400" dirty="0"/>
              <a:t> → whole numbers</a:t>
            </a:r>
          </a:p>
          <a:p>
            <a:r>
              <a:rPr lang="en-US" sz="1400" dirty="0"/>
              <a:t>						</a:t>
            </a:r>
            <a:r>
              <a:rPr lang="en-US" sz="1400" b="1" dirty="0"/>
              <a:t>VARCHAR(100) </a:t>
            </a:r>
            <a:r>
              <a:rPr lang="en-US" sz="1400" dirty="0"/>
              <a:t>→ text</a:t>
            </a:r>
          </a:p>
          <a:p>
            <a:r>
              <a:rPr lang="en-US" sz="1400" dirty="0"/>
              <a:t>						</a:t>
            </a:r>
            <a:r>
              <a:rPr lang="en-US" sz="1400" b="1" dirty="0"/>
              <a:t>DATE</a:t>
            </a:r>
            <a:r>
              <a:rPr lang="en-US" sz="1400" dirty="0"/>
              <a:t> → calendar dates</a:t>
            </a:r>
          </a:p>
          <a:p>
            <a:r>
              <a:rPr lang="en-US" sz="1400" dirty="0"/>
              <a:t>						</a:t>
            </a:r>
            <a:r>
              <a:rPr lang="en-US" sz="1400" b="1" dirty="0"/>
              <a:t>BIT</a:t>
            </a:r>
            <a:r>
              <a:rPr lang="en-US" sz="1400" dirty="0"/>
              <a:t> → true/false</a:t>
            </a:r>
          </a:p>
          <a:p>
            <a:endParaRPr lang="en-US" sz="1400" dirty="0"/>
          </a:p>
          <a:p>
            <a:r>
              <a:rPr lang="en-US" sz="1400" b="1" dirty="0"/>
              <a:t>Default value</a:t>
            </a:r>
            <a:r>
              <a:rPr lang="en-US" sz="1400" dirty="0"/>
              <a:t> – A default value is the value SQL Server automatically uses when no value is provided during an insert.  Example: </a:t>
            </a:r>
            <a:r>
              <a:rPr lang="en-US" sz="1400" dirty="0" err="1"/>
              <a:t>IsActive</a:t>
            </a:r>
            <a:r>
              <a:rPr lang="en-US" sz="1400" dirty="0"/>
              <a:t> BIT </a:t>
            </a:r>
            <a:r>
              <a:rPr lang="en-US" sz="1400" b="1" dirty="0"/>
              <a:t>DEFAULT (1)</a:t>
            </a:r>
          </a:p>
          <a:p>
            <a:endParaRPr lang="en-US" sz="1400" dirty="0"/>
          </a:p>
          <a:p>
            <a:r>
              <a:rPr lang="en-US" sz="1400" b="1" dirty="0"/>
              <a:t>Nullability</a:t>
            </a:r>
            <a:r>
              <a:rPr lang="en-US" sz="1400" dirty="0"/>
              <a:t> – indicates of a field can be null, aka unknown.  Example: </a:t>
            </a:r>
            <a:r>
              <a:rPr lang="en-US" sz="1400" dirty="0" err="1"/>
              <a:t>HomeTeamName</a:t>
            </a:r>
            <a:r>
              <a:rPr lang="en-US" sz="1400" dirty="0"/>
              <a:t> VARCHAR(100) </a:t>
            </a:r>
            <a:r>
              <a:rPr lang="en-US" sz="1400" b="1" dirty="0"/>
              <a:t>NULL</a:t>
            </a:r>
          </a:p>
          <a:p>
            <a:endParaRPr lang="en-US" sz="1400" dirty="0"/>
          </a:p>
          <a:p>
            <a:r>
              <a:rPr lang="en-US" sz="1400" b="1" dirty="0"/>
              <a:t>Identity</a:t>
            </a:r>
            <a:r>
              <a:rPr lang="en-US" sz="1400" dirty="0"/>
              <a:t> - column is a SQL Server column that </a:t>
            </a:r>
            <a:r>
              <a:rPr lang="en-US" sz="1400" b="1" dirty="0"/>
              <a:t>automatically generates a numeric value</a:t>
            </a:r>
            <a:r>
              <a:rPr lang="en-US" sz="1400" dirty="0"/>
              <a:t> for each new row, typically used for primary keys.  Example:  INT </a:t>
            </a:r>
            <a:r>
              <a:rPr lang="en-US" sz="1400" b="1" dirty="0"/>
              <a:t>IDENTITY(1,1)</a:t>
            </a:r>
          </a:p>
          <a:p>
            <a:endParaRPr lang="en-US" sz="1400" dirty="0"/>
          </a:p>
          <a:p>
            <a:r>
              <a:rPr lang="en-US" sz="1400" b="1" dirty="0"/>
              <a:t>Identity Seed</a:t>
            </a:r>
            <a:r>
              <a:rPr lang="en-US" sz="1400" dirty="0"/>
              <a:t> - The starting value for an IDENTITY column — the first number generated.</a:t>
            </a:r>
          </a:p>
          <a:p>
            <a:endParaRPr lang="en-US" sz="1400" dirty="0"/>
          </a:p>
          <a:p>
            <a:r>
              <a:rPr lang="en-US" sz="1400" b="1" dirty="0"/>
              <a:t>Identify Increment </a:t>
            </a:r>
            <a:r>
              <a:rPr lang="en-US" sz="1400" dirty="0"/>
              <a:t>- The amount added to the previous value for each new row.</a:t>
            </a:r>
          </a:p>
        </p:txBody>
      </p:sp>
      <p:sp>
        <p:nvSpPr>
          <p:cNvPr id="5" name="Date Placeholder 4">
            <a:extLst>
              <a:ext uri="{FF2B5EF4-FFF2-40B4-BE49-F238E27FC236}">
                <a16:creationId xmlns:a16="http://schemas.microsoft.com/office/drawing/2014/main" id="{10688EBD-0939-C539-6BFD-04CD4EDCC15C}"/>
              </a:ext>
            </a:extLst>
          </p:cNvPr>
          <p:cNvSpPr>
            <a:spLocks noGrp="1"/>
          </p:cNvSpPr>
          <p:nvPr>
            <p:ph type="dt" sz="half" idx="10"/>
          </p:nvPr>
        </p:nvSpPr>
        <p:spPr/>
        <p:txBody>
          <a:bodyPr/>
          <a:lstStyle/>
          <a:p>
            <a:fld id="{A8A1618A-2C79-42C1-8B71-AADC5C3B9C09}" type="datetime1">
              <a:rPr lang="en-US" smtClean="0"/>
              <a:t>1/10/2026</a:t>
            </a:fld>
            <a:endParaRPr lang="en-US"/>
          </a:p>
        </p:txBody>
      </p:sp>
      <p:sp>
        <p:nvSpPr>
          <p:cNvPr id="6" name="Slide Number Placeholder 5">
            <a:extLst>
              <a:ext uri="{FF2B5EF4-FFF2-40B4-BE49-F238E27FC236}">
                <a16:creationId xmlns:a16="http://schemas.microsoft.com/office/drawing/2014/main" id="{AD71A435-787E-6E08-0AED-3D8DA3916EC7}"/>
              </a:ext>
            </a:extLst>
          </p:cNvPr>
          <p:cNvSpPr>
            <a:spLocks noGrp="1"/>
          </p:cNvSpPr>
          <p:nvPr>
            <p:ph type="sldNum" sz="quarter" idx="12"/>
          </p:nvPr>
        </p:nvSpPr>
        <p:spPr/>
        <p:txBody>
          <a:bodyPr/>
          <a:lstStyle/>
          <a:p>
            <a:fld id="{F6C56E59-C124-411E-B3E7-95D014FC7158}" type="slidenum">
              <a:rPr lang="en-US" smtClean="0"/>
              <a:pPr/>
              <a:t>10</a:t>
            </a:fld>
            <a:endParaRPr lang="en-US"/>
          </a:p>
        </p:txBody>
      </p:sp>
    </p:spTree>
    <p:extLst>
      <p:ext uri="{BB962C8B-B14F-4D97-AF65-F5344CB8AC3E}">
        <p14:creationId xmlns:p14="http://schemas.microsoft.com/office/powerpoint/2010/main" val="202603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B170D-B9F8-816D-FDAE-0AF904F7AD89}"/>
              </a:ext>
            </a:extLst>
          </p:cNvPr>
          <p:cNvSpPr>
            <a:spLocks noGrp="1"/>
          </p:cNvSpPr>
          <p:nvPr>
            <p:ph type="title"/>
          </p:nvPr>
        </p:nvSpPr>
        <p:spPr/>
        <p:txBody>
          <a:bodyPr>
            <a:normAutofit fontScale="90000"/>
          </a:bodyPr>
          <a:lstStyle/>
          <a:p>
            <a:r>
              <a:rPr lang="en-US" dirty="0"/>
              <a:t>Common SQL Server Data Types</a:t>
            </a:r>
          </a:p>
        </p:txBody>
      </p:sp>
      <p:sp>
        <p:nvSpPr>
          <p:cNvPr id="8" name="Content Placeholder 7">
            <a:extLst>
              <a:ext uri="{FF2B5EF4-FFF2-40B4-BE49-F238E27FC236}">
                <a16:creationId xmlns:a16="http://schemas.microsoft.com/office/drawing/2014/main" id="{D15E9831-A283-9833-D58A-16594142B34C}"/>
              </a:ext>
            </a:extLst>
          </p:cNvPr>
          <p:cNvSpPr>
            <a:spLocks noGrp="1"/>
          </p:cNvSpPr>
          <p:nvPr>
            <p:ph idx="1"/>
          </p:nvPr>
        </p:nvSpPr>
        <p:spPr/>
        <p:txBody>
          <a:bodyPr/>
          <a:lstStyle/>
          <a:p>
            <a:endParaRPr lang="en-US" dirty="0"/>
          </a:p>
        </p:txBody>
      </p:sp>
      <p:graphicFrame>
        <p:nvGraphicFramePr>
          <p:cNvPr id="9" name="Content Placeholder 5">
            <a:extLst>
              <a:ext uri="{FF2B5EF4-FFF2-40B4-BE49-F238E27FC236}">
                <a16:creationId xmlns:a16="http://schemas.microsoft.com/office/drawing/2014/main" id="{6D73F8A1-7B07-5AFC-1D70-5E4F2428702E}"/>
              </a:ext>
            </a:extLst>
          </p:cNvPr>
          <p:cNvGraphicFramePr>
            <a:graphicFrameLocks/>
          </p:cNvGraphicFramePr>
          <p:nvPr>
            <p:extLst>
              <p:ext uri="{D42A27DB-BD31-4B8C-83A1-F6EECF244321}">
                <p14:modId xmlns:p14="http://schemas.microsoft.com/office/powerpoint/2010/main" val="2536066731"/>
              </p:ext>
            </p:extLst>
          </p:nvPr>
        </p:nvGraphicFramePr>
        <p:xfrm>
          <a:off x="1845515" y="2182907"/>
          <a:ext cx="8015661" cy="2622176"/>
        </p:xfrm>
        <a:graphic>
          <a:graphicData uri="http://schemas.openxmlformats.org/drawingml/2006/table">
            <a:tbl>
              <a:tblPr firstRow="1" bandRow="1">
                <a:tableStyleId>{5C22544A-7EE6-4342-B048-85BDC9FD1C3A}</a:tableStyleId>
              </a:tblPr>
              <a:tblGrid>
                <a:gridCol w="1899120">
                  <a:extLst>
                    <a:ext uri="{9D8B030D-6E8A-4147-A177-3AD203B41FA5}">
                      <a16:colId xmlns:a16="http://schemas.microsoft.com/office/drawing/2014/main" val="2901768082"/>
                    </a:ext>
                  </a:extLst>
                </a:gridCol>
                <a:gridCol w="6116541">
                  <a:extLst>
                    <a:ext uri="{9D8B030D-6E8A-4147-A177-3AD203B41FA5}">
                      <a16:colId xmlns:a16="http://schemas.microsoft.com/office/drawing/2014/main" val="4109777118"/>
                    </a:ext>
                  </a:extLst>
                </a:gridCol>
              </a:tblGrid>
              <a:tr h="370840">
                <a:tc>
                  <a:txBody>
                    <a:bodyPr/>
                    <a:lstStyle/>
                    <a:p>
                      <a:r>
                        <a:rPr lang="en-US" sz="1600" dirty="0"/>
                        <a:t>Type</a:t>
                      </a:r>
                    </a:p>
                  </a:txBody>
                  <a:tcPr/>
                </a:tc>
                <a:tc>
                  <a:txBody>
                    <a:bodyPr/>
                    <a:lstStyle/>
                    <a:p>
                      <a:r>
                        <a:rPr lang="en-US" sz="1600" dirty="0"/>
                        <a:t>Description</a:t>
                      </a:r>
                    </a:p>
                  </a:txBody>
                  <a:tcPr/>
                </a:tc>
                <a:extLst>
                  <a:ext uri="{0D108BD9-81ED-4DB2-BD59-A6C34878D82A}">
                    <a16:rowId xmlns:a16="http://schemas.microsoft.com/office/drawing/2014/main" val="3490119204"/>
                  </a:ext>
                </a:extLst>
              </a:tr>
              <a:tr h="270136">
                <a:tc>
                  <a:txBody>
                    <a:bodyPr/>
                    <a:lstStyle/>
                    <a:p>
                      <a:r>
                        <a:rPr lang="en-US" sz="1200" dirty="0"/>
                        <a:t>bit</a:t>
                      </a:r>
                    </a:p>
                  </a:txBody>
                  <a:tcPr/>
                </a:tc>
                <a:tc>
                  <a:txBody>
                    <a:bodyPr/>
                    <a:lstStyle/>
                    <a:p>
                      <a:r>
                        <a:rPr lang="en-US" sz="1200" dirty="0"/>
                        <a:t>A value of 1 or 0 that represents a True or False value</a:t>
                      </a:r>
                    </a:p>
                  </a:txBody>
                  <a:tcPr/>
                </a:tc>
                <a:extLst>
                  <a:ext uri="{0D108BD9-81ED-4DB2-BD59-A6C34878D82A}">
                    <a16:rowId xmlns:a16="http://schemas.microsoft.com/office/drawing/2014/main" val="2432556007"/>
                  </a:ext>
                </a:extLst>
              </a:tr>
              <a:tr h="282686">
                <a:tc>
                  <a:txBody>
                    <a:bodyPr/>
                    <a:lstStyle/>
                    <a:p>
                      <a:r>
                        <a:rPr lang="en-US" sz="1200" dirty="0"/>
                        <a:t>int, </a:t>
                      </a:r>
                      <a:r>
                        <a:rPr lang="en-US" sz="1200" dirty="0" err="1"/>
                        <a:t>bigint</a:t>
                      </a:r>
                      <a:r>
                        <a:rPr lang="en-US" sz="1200" dirty="0"/>
                        <a:t>, </a:t>
                      </a:r>
                      <a:r>
                        <a:rPr lang="en-US" sz="1200" dirty="0" err="1"/>
                        <a:t>smallint</a:t>
                      </a:r>
                      <a:endParaRPr lang="en-US" sz="1200" dirty="0"/>
                    </a:p>
                  </a:txBody>
                  <a:tcPr/>
                </a:tc>
                <a:tc>
                  <a:txBody>
                    <a:bodyPr/>
                    <a:lstStyle/>
                    <a:p>
                      <a:r>
                        <a:rPr lang="en-US" sz="1200" dirty="0"/>
                        <a:t>Integer values of various sizes</a:t>
                      </a:r>
                    </a:p>
                  </a:txBody>
                  <a:tcPr/>
                </a:tc>
                <a:extLst>
                  <a:ext uri="{0D108BD9-81ED-4DB2-BD59-A6C34878D82A}">
                    <a16:rowId xmlns:a16="http://schemas.microsoft.com/office/drawing/2014/main" val="2317714641"/>
                  </a:ext>
                </a:extLst>
              </a:tr>
              <a:tr h="295836">
                <a:tc>
                  <a:txBody>
                    <a:bodyPr/>
                    <a:lstStyle/>
                    <a:p>
                      <a:r>
                        <a:rPr lang="en-US" sz="1200" dirty="0"/>
                        <a:t>money, </a:t>
                      </a:r>
                      <a:r>
                        <a:rPr lang="en-US" sz="1200" dirty="0" err="1"/>
                        <a:t>smallmoney</a:t>
                      </a:r>
                      <a:endParaRPr lang="en-US" sz="1200" dirty="0"/>
                    </a:p>
                  </a:txBody>
                  <a:tcPr/>
                </a:tc>
                <a:tc>
                  <a:txBody>
                    <a:bodyPr/>
                    <a:lstStyle/>
                    <a:p>
                      <a:r>
                        <a:rPr lang="en-US" sz="1200" dirty="0"/>
                        <a:t>Monetary values that are accurate to the last significant digit</a:t>
                      </a:r>
                    </a:p>
                  </a:txBody>
                  <a:tcPr/>
                </a:tc>
                <a:extLst>
                  <a:ext uri="{0D108BD9-81ED-4DB2-BD59-A6C34878D82A}">
                    <a16:rowId xmlns:a16="http://schemas.microsoft.com/office/drawing/2014/main" val="253621417"/>
                  </a:ext>
                </a:extLst>
              </a:tr>
              <a:tr h="286870">
                <a:tc>
                  <a:txBody>
                    <a:bodyPr/>
                    <a:lstStyle/>
                    <a:p>
                      <a:r>
                        <a:rPr lang="en-US" sz="1200" dirty="0"/>
                        <a:t>decimal, numeric</a:t>
                      </a:r>
                    </a:p>
                  </a:txBody>
                  <a:tcPr/>
                </a:tc>
                <a:tc>
                  <a:txBody>
                    <a:bodyPr/>
                    <a:lstStyle/>
                    <a:p>
                      <a:r>
                        <a:rPr lang="en-US" sz="1200" dirty="0"/>
                        <a:t>Decimal values that are accurate to four decimal places.</a:t>
                      </a:r>
                    </a:p>
                  </a:txBody>
                  <a:tcPr/>
                </a:tc>
                <a:extLst>
                  <a:ext uri="{0D108BD9-81ED-4DB2-BD59-A6C34878D82A}">
                    <a16:rowId xmlns:a16="http://schemas.microsoft.com/office/drawing/2014/main" val="3998765506"/>
                  </a:ext>
                </a:extLst>
              </a:tr>
              <a:tr h="259977">
                <a:tc>
                  <a:txBody>
                    <a:bodyPr/>
                    <a:lstStyle/>
                    <a:p>
                      <a:r>
                        <a:rPr lang="en-US" sz="1200" dirty="0"/>
                        <a:t>float, real</a:t>
                      </a:r>
                    </a:p>
                  </a:txBody>
                  <a:tcPr/>
                </a:tc>
                <a:tc>
                  <a:txBody>
                    <a:bodyPr/>
                    <a:lstStyle/>
                    <a:p>
                      <a:r>
                        <a:rPr lang="en-US" sz="1200" dirty="0"/>
                        <a:t>Floating-point values that contain an approximation of the decimal value</a:t>
                      </a:r>
                    </a:p>
                  </a:txBody>
                  <a:tcPr/>
                </a:tc>
                <a:extLst>
                  <a:ext uri="{0D108BD9-81ED-4DB2-BD59-A6C34878D82A}">
                    <a16:rowId xmlns:a16="http://schemas.microsoft.com/office/drawing/2014/main" val="1089599360"/>
                  </a:ext>
                </a:extLst>
              </a:tr>
              <a:tr h="281492">
                <a:tc>
                  <a:txBody>
                    <a:bodyPr/>
                    <a:lstStyle/>
                    <a:p>
                      <a:r>
                        <a:rPr lang="en-US" sz="1200" dirty="0"/>
                        <a:t>date, time, datetime2</a:t>
                      </a:r>
                    </a:p>
                  </a:txBody>
                  <a:tcPr/>
                </a:tc>
                <a:tc>
                  <a:txBody>
                    <a:bodyPr/>
                    <a:lstStyle/>
                    <a:p>
                      <a:r>
                        <a:rPr lang="en-US" sz="1200" dirty="0"/>
                        <a:t>Dates and Times</a:t>
                      </a:r>
                    </a:p>
                  </a:txBody>
                  <a:tcPr/>
                </a:tc>
                <a:extLst>
                  <a:ext uri="{0D108BD9-81ED-4DB2-BD59-A6C34878D82A}">
                    <a16:rowId xmlns:a16="http://schemas.microsoft.com/office/drawing/2014/main" val="3978086087"/>
                  </a:ext>
                </a:extLst>
              </a:tr>
              <a:tr h="277906">
                <a:tc>
                  <a:txBody>
                    <a:bodyPr/>
                    <a:lstStyle/>
                    <a:p>
                      <a:r>
                        <a:rPr lang="en-US" sz="1200" dirty="0"/>
                        <a:t>char, varchar</a:t>
                      </a:r>
                    </a:p>
                  </a:txBody>
                  <a:tcPr/>
                </a:tc>
                <a:tc>
                  <a:txBody>
                    <a:bodyPr/>
                    <a:lstStyle/>
                    <a:p>
                      <a:r>
                        <a:rPr lang="en-US" sz="1200" dirty="0"/>
                        <a:t>A string of letters, symbols, and numbers of the ASCII character set.</a:t>
                      </a:r>
                    </a:p>
                  </a:txBody>
                  <a:tcPr/>
                </a:tc>
                <a:extLst>
                  <a:ext uri="{0D108BD9-81ED-4DB2-BD59-A6C34878D82A}">
                    <a16:rowId xmlns:a16="http://schemas.microsoft.com/office/drawing/2014/main" val="1336635286"/>
                  </a:ext>
                </a:extLst>
              </a:tr>
              <a:tr h="277906">
                <a:tc>
                  <a:txBody>
                    <a:bodyPr/>
                    <a:lstStyle/>
                    <a:p>
                      <a:r>
                        <a:rPr lang="en-US" sz="1200" dirty="0" err="1"/>
                        <a:t>nchar</a:t>
                      </a:r>
                      <a:r>
                        <a:rPr lang="en-US" sz="1200" dirty="0"/>
                        <a:t>, </a:t>
                      </a:r>
                      <a:r>
                        <a:rPr lang="en-US" sz="1200" dirty="0" err="1"/>
                        <a:t>nvarchar</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string of letters, symbols, and numbers of the Unicode character set.</a:t>
                      </a:r>
                    </a:p>
                  </a:txBody>
                  <a:tcPr/>
                </a:tc>
                <a:extLst>
                  <a:ext uri="{0D108BD9-81ED-4DB2-BD59-A6C34878D82A}">
                    <a16:rowId xmlns:a16="http://schemas.microsoft.com/office/drawing/2014/main" val="3729469251"/>
                  </a:ext>
                </a:extLst>
              </a:tr>
            </a:tbl>
          </a:graphicData>
        </a:graphic>
      </p:graphicFrame>
      <p:sp>
        <p:nvSpPr>
          <p:cNvPr id="10" name="Date Placeholder 9">
            <a:extLst>
              <a:ext uri="{FF2B5EF4-FFF2-40B4-BE49-F238E27FC236}">
                <a16:creationId xmlns:a16="http://schemas.microsoft.com/office/drawing/2014/main" id="{6AF84E88-D412-1976-728D-CC5F109E8920}"/>
              </a:ext>
            </a:extLst>
          </p:cNvPr>
          <p:cNvSpPr>
            <a:spLocks noGrp="1"/>
          </p:cNvSpPr>
          <p:nvPr>
            <p:ph type="dt" sz="half" idx="10"/>
          </p:nvPr>
        </p:nvSpPr>
        <p:spPr/>
        <p:txBody>
          <a:bodyPr/>
          <a:lstStyle/>
          <a:p>
            <a:fld id="{575C8DC8-22C1-4CD3-916B-C9B893E0F541}" type="datetime1">
              <a:rPr lang="en-US" smtClean="0"/>
              <a:t>1/10/2026</a:t>
            </a:fld>
            <a:endParaRPr lang="en-US"/>
          </a:p>
        </p:txBody>
      </p:sp>
      <p:sp>
        <p:nvSpPr>
          <p:cNvPr id="11" name="Slide Number Placeholder 10">
            <a:extLst>
              <a:ext uri="{FF2B5EF4-FFF2-40B4-BE49-F238E27FC236}">
                <a16:creationId xmlns:a16="http://schemas.microsoft.com/office/drawing/2014/main" id="{589D72FA-0CA9-F8B0-8F78-C7488A584FE0}"/>
              </a:ext>
            </a:extLst>
          </p:cNvPr>
          <p:cNvSpPr>
            <a:spLocks noGrp="1"/>
          </p:cNvSpPr>
          <p:nvPr>
            <p:ph type="sldNum" sz="quarter" idx="12"/>
          </p:nvPr>
        </p:nvSpPr>
        <p:spPr/>
        <p:txBody>
          <a:bodyPr/>
          <a:lstStyle/>
          <a:p>
            <a:fld id="{F6C56E59-C124-411E-B3E7-95D014FC7158}" type="slidenum">
              <a:rPr lang="en-US" smtClean="0"/>
              <a:pPr/>
              <a:t>11</a:t>
            </a:fld>
            <a:endParaRPr lang="en-US"/>
          </a:p>
        </p:txBody>
      </p:sp>
    </p:spTree>
    <p:extLst>
      <p:ext uri="{BB962C8B-B14F-4D97-AF65-F5344CB8AC3E}">
        <p14:creationId xmlns:p14="http://schemas.microsoft.com/office/powerpoint/2010/main" val="4009147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B992-6259-930E-547F-90A4456B06A4}"/>
              </a:ext>
            </a:extLst>
          </p:cNvPr>
          <p:cNvSpPr>
            <a:spLocks noGrp="1"/>
          </p:cNvSpPr>
          <p:nvPr>
            <p:ph type="title"/>
          </p:nvPr>
        </p:nvSpPr>
        <p:spPr/>
        <p:txBody>
          <a:bodyPr>
            <a:normAutofit fontScale="90000"/>
          </a:bodyPr>
          <a:lstStyle/>
          <a:p>
            <a:r>
              <a:rPr lang="en-US" dirty="0"/>
              <a:t>History of SQL</a:t>
            </a:r>
          </a:p>
        </p:txBody>
      </p:sp>
      <p:sp>
        <p:nvSpPr>
          <p:cNvPr id="3" name="Content Placeholder 2">
            <a:extLst>
              <a:ext uri="{FF2B5EF4-FFF2-40B4-BE49-F238E27FC236}">
                <a16:creationId xmlns:a16="http://schemas.microsoft.com/office/drawing/2014/main" id="{8F3CD6BD-085E-E4C9-F326-31F7C8AD5977}"/>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09FA6547-4271-2887-A045-7026210EA3D4}"/>
              </a:ext>
            </a:extLst>
          </p:cNvPr>
          <p:cNvSpPr txBox="1"/>
          <p:nvPr/>
        </p:nvSpPr>
        <p:spPr>
          <a:xfrm>
            <a:off x="2311691" y="2132313"/>
            <a:ext cx="8661107" cy="2462213"/>
          </a:xfrm>
          <a:prstGeom prst="rect">
            <a:avLst/>
          </a:prstGeom>
          <a:noFill/>
        </p:spPr>
        <p:txBody>
          <a:bodyPr wrap="square" rtlCol="0">
            <a:spAutoFit/>
          </a:bodyPr>
          <a:lstStyle/>
          <a:p>
            <a:r>
              <a:rPr lang="en-US" sz="1400" b="1" dirty="0"/>
              <a:t>1970</a:t>
            </a:r>
            <a:r>
              <a:rPr lang="en-US" sz="1400" dirty="0"/>
              <a:t> Theory was formulated by Dr E. F. Cobb</a:t>
            </a:r>
          </a:p>
          <a:p>
            <a:endParaRPr lang="en-US" sz="1400" dirty="0"/>
          </a:p>
          <a:p>
            <a:r>
              <a:rPr lang="en-US" sz="1400" b="1" dirty="0"/>
              <a:t>1978</a:t>
            </a:r>
            <a:r>
              <a:rPr lang="en-US" sz="1400" dirty="0"/>
              <a:t> IBM created first implementation</a:t>
            </a:r>
          </a:p>
          <a:p>
            <a:endParaRPr lang="en-US" sz="1400" dirty="0"/>
          </a:p>
          <a:p>
            <a:r>
              <a:rPr lang="en-US" sz="1400" b="1" dirty="0"/>
              <a:t>1989</a:t>
            </a:r>
            <a:r>
              <a:rPr lang="en-US" sz="1400" dirty="0"/>
              <a:t> first ANSI standard created</a:t>
            </a:r>
          </a:p>
          <a:p>
            <a:endParaRPr lang="en-US" sz="1400" dirty="0"/>
          </a:p>
          <a:p>
            <a:r>
              <a:rPr lang="en-US" sz="1400" b="1" dirty="0"/>
              <a:t>1992</a:t>
            </a:r>
            <a:r>
              <a:rPr lang="en-US" sz="1400" dirty="0"/>
              <a:t> ANSI standard update</a:t>
            </a:r>
          </a:p>
          <a:p>
            <a:endParaRPr lang="en-US" sz="1400" dirty="0"/>
          </a:p>
          <a:p>
            <a:r>
              <a:rPr lang="en-US" sz="1400" dirty="0"/>
              <a:t>Six more ANSI standard updates occurred.</a:t>
            </a:r>
            <a:r>
              <a:rPr lang="en-US" sz="1400" b="1" dirty="0"/>
              <a:t>  1999, 2003, 2006,2008, 2011, 2016</a:t>
            </a:r>
          </a:p>
          <a:p>
            <a:endParaRPr lang="en-US" sz="1400" b="1" dirty="0"/>
          </a:p>
          <a:p>
            <a:r>
              <a:rPr lang="en-US" sz="1400" b="1" dirty="0"/>
              <a:t>2019</a:t>
            </a:r>
            <a:r>
              <a:rPr lang="en-US" sz="1400" dirty="0"/>
              <a:t> ANSI SQL-2019 published</a:t>
            </a:r>
          </a:p>
        </p:txBody>
      </p:sp>
      <p:sp>
        <p:nvSpPr>
          <p:cNvPr id="5" name="Date Placeholder 4">
            <a:extLst>
              <a:ext uri="{FF2B5EF4-FFF2-40B4-BE49-F238E27FC236}">
                <a16:creationId xmlns:a16="http://schemas.microsoft.com/office/drawing/2014/main" id="{EE02F682-6B67-D03D-4F69-59B938EDAEE6}"/>
              </a:ext>
            </a:extLst>
          </p:cNvPr>
          <p:cNvSpPr>
            <a:spLocks noGrp="1"/>
          </p:cNvSpPr>
          <p:nvPr>
            <p:ph type="dt" sz="half" idx="10"/>
          </p:nvPr>
        </p:nvSpPr>
        <p:spPr/>
        <p:txBody>
          <a:bodyPr/>
          <a:lstStyle/>
          <a:p>
            <a:fld id="{CD096331-E351-4F00-B4BC-A0F8AFCC47F3}" type="datetime1">
              <a:rPr lang="en-US" smtClean="0"/>
              <a:t>1/10/2026</a:t>
            </a:fld>
            <a:endParaRPr lang="en-US"/>
          </a:p>
        </p:txBody>
      </p:sp>
      <p:sp>
        <p:nvSpPr>
          <p:cNvPr id="6" name="Slide Number Placeholder 5">
            <a:extLst>
              <a:ext uri="{FF2B5EF4-FFF2-40B4-BE49-F238E27FC236}">
                <a16:creationId xmlns:a16="http://schemas.microsoft.com/office/drawing/2014/main" id="{CF7A8682-18F1-C05A-4897-795C6798F375}"/>
              </a:ext>
            </a:extLst>
          </p:cNvPr>
          <p:cNvSpPr>
            <a:spLocks noGrp="1"/>
          </p:cNvSpPr>
          <p:nvPr>
            <p:ph type="sldNum" sz="quarter" idx="12"/>
          </p:nvPr>
        </p:nvSpPr>
        <p:spPr/>
        <p:txBody>
          <a:bodyPr/>
          <a:lstStyle/>
          <a:p>
            <a:fld id="{F6C56E59-C124-411E-B3E7-95D014FC7158}" type="slidenum">
              <a:rPr lang="en-US" smtClean="0"/>
              <a:pPr/>
              <a:t>12</a:t>
            </a:fld>
            <a:endParaRPr lang="en-US"/>
          </a:p>
        </p:txBody>
      </p:sp>
    </p:spTree>
    <p:extLst>
      <p:ext uri="{BB962C8B-B14F-4D97-AF65-F5344CB8AC3E}">
        <p14:creationId xmlns:p14="http://schemas.microsoft.com/office/powerpoint/2010/main" val="130298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A70C-09B8-748C-693D-EFF1ED52A4DA}"/>
              </a:ext>
            </a:extLst>
          </p:cNvPr>
          <p:cNvSpPr>
            <a:spLocks noGrp="1"/>
          </p:cNvSpPr>
          <p:nvPr>
            <p:ph type="title"/>
          </p:nvPr>
        </p:nvSpPr>
        <p:spPr/>
        <p:txBody>
          <a:bodyPr>
            <a:normAutofit fontScale="90000"/>
          </a:bodyPr>
          <a:lstStyle/>
          <a:p>
            <a:r>
              <a:rPr lang="en-US" dirty="0"/>
              <a:t>What Else Will You Know</a:t>
            </a:r>
          </a:p>
        </p:txBody>
      </p:sp>
      <p:sp>
        <p:nvSpPr>
          <p:cNvPr id="3" name="Content Placeholder 2">
            <a:extLst>
              <a:ext uri="{FF2B5EF4-FFF2-40B4-BE49-F238E27FC236}">
                <a16:creationId xmlns:a16="http://schemas.microsoft.com/office/drawing/2014/main" id="{5290AC33-F7A0-EAD8-68FF-65273677D4C6}"/>
              </a:ext>
            </a:extLst>
          </p:cNvPr>
          <p:cNvSpPr>
            <a:spLocks noGrp="1"/>
          </p:cNvSpPr>
          <p:nvPr>
            <p:ph idx="1"/>
          </p:nvPr>
        </p:nvSpPr>
        <p:spPr/>
        <p:txBody>
          <a:bodyPr/>
          <a:lstStyle/>
          <a:p>
            <a:endParaRPr lang="en-US"/>
          </a:p>
        </p:txBody>
      </p:sp>
      <p:pic>
        <p:nvPicPr>
          <p:cNvPr id="5" name="Picture 4" descr="A red square with white text&#10;&#10;AI-generated content may be incorrect.">
            <a:extLst>
              <a:ext uri="{FF2B5EF4-FFF2-40B4-BE49-F238E27FC236}">
                <a16:creationId xmlns:a16="http://schemas.microsoft.com/office/drawing/2014/main" id="{ECABF7E2-0E7C-5232-1D50-6F8334BCB4DB}"/>
              </a:ext>
            </a:extLst>
          </p:cNvPr>
          <p:cNvPicPr>
            <a:picLocks noChangeAspect="1"/>
          </p:cNvPicPr>
          <p:nvPr/>
        </p:nvPicPr>
        <p:blipFill>
          <a:blip r:embed="rId2"/>
          <a:stretch>
            <a:fillRect/>
          </a:stretch>
        </p:blipFill>
        <p:spPr>
          <a:xfrm>
            <a:off x="1072381" y="1808549"/>
            <a:ext cx="2798616" cy="984851"/>
          </a:xfrm>
          <a:prstGeom prst="rect">
            <a:avLst/>
          </a:prstGeom>
        </p:spPr>
      </p:pic>
      <p:pic>
        <p:nvPicPr>
          <p:cNvPr id="7" name="Picture 6" descr="A logo with blue and black text&#10;&#10;AI-generated content may be incorrect.">
            <a:extLst>
              <a:ext uri="{FF2B5EF4-FFF2-40B4-BE49-F238E27FC236}">
                <a16:creationId xmlns:a16="http://schemas.microsoft.com/office/drawing/2014/main" id="{7365929F-2A7D-3CBD-D353-B2E0F808E320}"/>
              </a:ext>
            </a:extLst>
          </p:cNvPr>
          <p:cNvPicPr>
            <a:picLocks noChangeAspect="1"/>
          </p:cNvPicPr>
          <p:nvPr/>
        </p:nvPicPr>
        <p:blipFill>
          <a:blip r:embed="rId3"/>
          <a:stretch>
            <a:fillRect/>
          </a:stretch>
        </p:blipFill>
        <p:spPr>
          <a:xfrm>
            <a:off x="6139411" y="3011378"/>
            <a:ext cx="2353003" cy="1066949"/>
          </a:xfrm>
          <a:prstGeom prst="rect">
            <a:avLst/>
          </a:prstGeom>
        </p:spPr>
      </p:pic>
      <p:pic>
        <p:nvPicPr>
          <p:cNvPr id="9" name="Picture 8" descr="A black and green square with white letters&#10;&#10;AI-generated content may be incorrect.">
            <a:extLst>
              <a:ext uri="{FF2B5EF4-FFF2-40B4-BE49-F238E27FC236}">
                <a16:creationId xmlns:a16="http://schemas.microsoft.com/office/drawing/2014/main" id="{26281E5C-3F9B-1F68-1C46-D6D02389DDF4}"/>
              </a:ext>
            </a:extLst>
          </p:cNvPr>
          <p:cNvPicPr>
            <a:picLocks noChangeAspect="1"/>
          </p:cNvPicPr>
          <p:nvPr/>
        </p:nvPicPr>
        <p:blipFill>
          <a:blip r:embed="rId4"/>
          <a:stretch>
            <a:fillRect/>
          </a:stretch>
        </p:blipFill>
        <p:spPr>
          <a:xfrm>
            <a:off x="2009665" y="3171859"/>
            <a:ext cx="2991267" cy="924054"/>
          </a:xfrm>
          <a:prstGeom prst="rect">
            <a:avLst/>
          </a:prstGeom>
        </p:spPr>
      </p:pic>
      <p:pic>
        <p:nvPicPr>
          <p:cNvPr id="11" name="Picture 10" descr="A logo with a dolphin&#10;&#10;AI-generated content may be incorrect.">
            <a:extLst>
              <a:ext uri="{FF2B5EF4-FFF2-40B4-BE49-F238E27FC236}">
                <a16:creationId xmlns:a16="http://schemas.microsoft.com/office/drawing/2014/main" id="{45097583-D341-AF52-5DD2-2602A8F3B508}"/>
              </a:ext>
            </a:extLst>
          </p:cNvPr>
          <p:cNvPicPr>
            <a:picLocks noChangeAspect="1"/>
          </p:cNvPicPr>
          <p:nvPr/>
        </p:nvPicPr>
        <p:blipFill>
          <a:blip r:embed="rId5"/>
          <a:stretch>
            <a:fillRect/>
          </a:stretch>
        </p:blipFill>
        <p:spPr>
          <a:xfrm>
            <a:off x="8623721" y="1654877"/>
            <a:ext cx="2495898" cy="1657581"/>
          </a:xfrm>
          <a:prstGeom prst="rect">
            <a:avLst/>
          </a:prstGeom>
        </p:spPr>
      </p:pic>
      <p:pic>
        <p:nvPicPr>
          <p:cNvPr id="13" name="Picture 12" descr="A blue and white logo&#10;&#10;AI-generated content may be incorrect.">
            <a:extLst>
              <a:ext uri="{FF2B5EF4-FFF2-40B4-BE49-F238E27FC236}">
                <a16:creationId xmlns:a16="http://schemas.microsoft.com/office/drawing/2014/main" id="{C956FD50-3FFC-8CC4-38E8-0CC045C91DE6}"/>
              </a:ext>
            </a:extLst>
          </p:cNvPr>
          <p:cNvPicPr>
            <a:picLocks noChangeAspect="1"/>
          </p:cNvPicPr>
          <p:nvPr/>
        </p:nvPicPr>
        <p:blipFill>
          <a:blip r:embed="rId6"/>
          <a:stretch>
            <a:fillRect/>
          </a:stretch>
        </p:blipFill>
        <p:spPr>
          <a:xfrm>
            <a:off x="7910672" y="4515695"/>
            <a:ext cx="3317800" cy="1223900"/>
          </a:xfrm>
          <a:prstGeom prst="rect">
            <a:avLst/>
          </a:prstGeom>
        </p:spPr>
      </p:pic>
      <p:pic>
        <p:nvPicPr>
          <p:cNvPr id="15" name="Picture 14" descr="A logo with a feather&#10;&#10;AI-generated content may be incorrect.">
            <a:extLst>
              <a:ext uri="{FF2B5EF4-FFF2-40B4-BE49-F238E27FC236}">
                <a16:creationId xmlns:a16="http://schemas.microsoft.com/office/drawing/2014/main" id="{8D11BBBD-EEE0-824A-C311-FF93C820A60A}"/>
              </a:ext>
            </a:extLst>
          </p:cNvPr>
          <p:cNvPicPr>
            <a:picLocks noChangeAspect="1"/>
          </p:cNvPicPr>
          <p:nvPr/>
        </p:nvPicPr>
        <p:blipFill>
          <a:blip r:embed="rId7"/>
          <a:stretch>
            <a:fillRect/>
          </a:stretch>
        </p:blipFill>
        <p:spPr>
          <a:xfrm>
            <a:off x="1075843" y="4412437"/>
            <a:ext cx="3067478" cy="1448002"/>
          </a:xfrm>
          <a:prstGeom prst="rect">
            <a:avLst/>
          </a:prstGeom>
        </p:spPr>
      </p:pic>
      <p:pic>
        <p:nvPicPr>
          <p:cNvPr id="17" name="Picture 16" descr="A red sign with white text">
            <a:extLst>
              <a:ext uri="{FF2B5EF4-FFF2-40B4-BE49-F238E27FC236}">
                <a16:creationId xmlns:a16="http://schemas.microsoft.com/office/drawing/2014/main" id="{A2E4CF85-7832-28D2-652C-4D9A8F496063}"/>
              </a:ext>
            </a:extLst>
          </p:cNvPr>
          <p:cNvPicPr>
            <a:picLocks noChangeAspect="1"/>
          </p:cNvPicPr>
          <p:nvPr/>
        </p:nvPicPr>
        <p:blipFill>
          <a:blip r:embed="rId8"/>
          <a:stretch>
            <a:fillRect/>
          </a:stretch>
        </p:blipFill>
        <p:spPr>
          <a:xfrm>
            <a:off x="4818600" y="4338304"/>
            <a:ext cx="2341065" cy="1162623"/>
          </a:xfrm>
          <a:prstGeom prst="rect">
            <a:avLst/>
          </a:prstGeom>
        </p:spPr>
      </p:pic>
      <p:pic>
        <p:nvPicPr>
          <p:cNvPr id="19" name="Picture 18" descr="A logo with a seal&#10;&#10;AI-generated content may be incorrect.">
            <a:extLst>
              <a:ext uri="{FF2B5EF4-FFF2-40B4-BE49-F238E27FC236}">
                <a16:creationId xmlns:a16="http://schemas.microsoft.com/office/drawing/2014/main" id="{07B18893-C386-0B76-2F0C-4C3152C702C9}"/>
              </a:ext>
            </a:extLst>
          </p:cNvPr>
          <p:cNvPicPr>
            <a:picLocks noChangeAspect="1"/>
          </p:cNvPicPr>
          <p:nvPr/>
        </p:nvPicPr>
        <p:blipFill>
          <a:blip r:embed="rId9"/>
          <a:stretch>
            <a:fillRect/>
          </a:stretch>
        </p:blipFill>
        <p:spPr>
          <a:xfrm>
            <a:off x="4716875" y="1719662"/>
            <a:ext cx="1933198" cy="1162623"/>
          </a:xfrm>
          <a:prstGeom prst="rect">
            <a:avLst/>
          </a:prstGeom>
        </p:spPr>
      </p:pic>
      <p:sp>
        <p:nvSpPr>
          <p:cNvPr id="20" name="Date Placeholder 19">
            <a:extLst>
              <a:ext uri="{FF2B5EF4-FFF2-40B4-BE49-F238E27FC236}">
                <a16:creationId xmlns:a16="http://schemas.microsoft.com/office/drawing/2014/main" id="{45EC08D2-B754-2FF0-6C9A-EC05A15F6E01}"/>
              </a:ext>
            </a:extLst>
          </p:cNvPr>
          <p:cNvSpPr>
            <a:spLocks noGrp="1"/>
          </p:cNvSpPr>
          <p:nvPr>
            <p:ph type="dt" sz="half" idx="10"/>
          </p:nvPr>
        </p:nvSpPr>
        <p:spPr/>
        <p:txBody>
          <a:bodyPr/>
          <a:lstStyle/>
          <a:p>
            <a:fld id="{C1D0FAF6-DAD4-4442-88D3-733D9776A677}" type="datetime1">
              <a:rPr lang="en-US" smtClean="0"/>
              <a:t>1/10/2026</a:t>
            </a:fld>
            <a:endParaRPr lang="en-US"/>
          </a:p>
        </p:txBody>
      </p:sp>
      <p:sp>
        <p:nvSpPr>
          <p:cNvPr id="21" name="Slide Number Placeholder 20">
            <a:extLst>
              <a:ext uri="{FF2B5EF4-FFF2-40B4-BE49-F238E27FC236}">
                <a16:creationId xmlns:a16="http://schemas.microsoft.com/office/drawing/2014/main" id="{0D909CF2-A273-93DB-05B4-48204E5480D5}"/>
              </a:ext>
            </a:extLst>
          </p:cNvPr>
          <p:cNvSpPr>
            <a:spLocks noGrp="1"/>
          </p:cNvSpPr>
          <p:nvPr>
            <p:ph type="sldNum" sz="quarter" idx="12"/>
          </p:nvPr>
        </p:nvSpPr>
        <p:spPr/>
        <p:txBody>
          <a:bodyPr/>
          <a:lstStyle/>
          <a:p>
            <a:fld id="{F6C56E59-C124-411E-B3E7-95D014FC7158}" type="slidenum">
              <a:rPr lang="en-US" smtClean="0"/>
              <a:pPr/>
              <a:t>13</a:t>
            </a:fld>
            <a:endParaRPr lang="en-US"/>
          </a:p>
        </p:txBody>
      </p:sp>
    </p:spTree>
    <p:extLst>
      <p:ext uri="{BB962C8B-B14F-4D97-AF65-F5344CB8AC3E}">
        <p14:creationId xmlns:p14="http://schemas.microsoft.com/office/powerpoint/2010/main" val="218642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28A5-4E48-0CF1-8BA2-6EB6973DE964}"/>
              </a:ext>
            </a:extLst>
          </p:cNvPr>
          <p:cNvSpPr>
            <a:spLocks noGrp="1"/>
          </p:cNvSpPr>
          <p:nvPr>
            <p:ph type="title"/>
          </p:nvPr>
        </p:nvSpPr>
        <p:spPr/>
        <p:txBody>
          <a:bodyPr>
            <a:normAutofit fontScale="90000"/>
          </a:bodyPr>
          <a:lstStyle/>
          <a:p>
            <a:r>
              <a:rPr lang="en-US" dirty="0"/>
              <a:t>SQL – Structured Query Language</a:t>
            </a:r>
          </a:p>
        </p:txBody>
      </p:sp>
      <p:sp>
        <p:nvSpPr>
          <p:cNvPr id="3" name="Content Placeholder 2">
            <a:extLst>
              <a:ext uri="{FF2B5EF4-FFF2-40B4-BE49-F238E27FC236}">
                <a16:creationId xmlns:a16="http://schemas.microsoft.com/office/drawing/2014/main" id="{80AD75F1-3CF1-E6C0-2464-89319D368CB7}"/>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20C012AE-8B4A-8B03-BC10-766ED8364B58}"/>
              </a:ext>
            </a:extLst>
          </p:cNvPr>
          <p:cNvSpPr txBox="1"/>
          <p:nvPr/>
        </p:nvSpPr>
        <p:spPr>
          <a:xfrm>
            <a:off x="1003446" y="1353532"/>
            <a:ext cx="8661107" cy="954107"/>
          </a:xfrm>
          <a:prstGeom prst="rect">
            <a:avLst/>
          </a:prstGeom>
          <a:noFill/>
        </p:spPr>
        <p:txBody>
          <a:bodyPr wrap="square" rtlCol="0">
            <a:spAutoFit/>
          </a:bodyPr>
          <a:lstStyle/>
          <a:p>
            <a:r>
              <a:rPr lang="en-US" sz="1400" b="1" dirty="0"/>
              <a:t>SQL</a:t>
            </a:r>
            <a:r>
              <a:rPr lang="en-US" sz="1400" dirty="0"/>
              <a:t> is the language we use to communication with SQL Server to create database objects like </a:t>
            </a:r>
            <a:r>
              <a:rPr lang="en-US" sz="1400" b="1" dirty="0"/>
              <a:t>tables</a:t>
            </a:r>
            <a:r>
              <a:rPr lang="en-US" sz="1400" dirty="0"/>
              <a:t>, </a:t>
            </a:r>
            <a:r>
              <a:rPr lang="en-US" sz="1400" b="1" dirty="0"/>
              <a:t>views</a:t>
            </a:r>
            <a:r>
              <a:rPr lang="en-US" sz="1400" dirty="0"/>
              <a:t>, </a:t>
            </a:r>
            <a:r>
              <a:rPr lang="en-US" sz="1400" b="1" dirty="0"/>
              <a:t>functions</a:t>
            </a:r>
            <a:r>
              <a:rPr lang="en-US" sz="1400" dirty="0"/>
              <a:t> and </a:t>
            </a:r>
            <a:r>
              <a:rPr lang="en-US" sz="1400" b="1" dirty="0"/>
              <a:t>stored procedures</a:t>
            </a:r>
            <a:r>
              <a:rPr lang="en-US" sz="1400" dirty="0"/>
              <a:t>.</a:t>
            </a:r>
            <a:r>
              <a:rPr lang="en-US" sz="1400" b="1" dirty="0"/>
              <a:t>  </a:t>
            </a:r>
          </a:p>
          <a:p>
            <a:endParaRPr lang="en-US" sz="1400" b="1" dirty="0"/>
          </a:p>
          <a:p>
            <a:r>
              <a:rPr lang="en-US" sz="1400" b="1" dirty="0"/>
              <a:t>SQL is broken out into two parts DDL and DML</a:t>
            </a:r>
          </a:p>
        </p:txBody>
      </p:sp>
      <p:graphicFrame>
        <p:nvGraphicFramePr>
          <p:cNvPr id="10" name="Content Placeholder 5">
            <a:extLst>
              <a:ext uri="{FF2B5EF4-FFF2-40B4-BE49-F238E27FC236}">
                <a16:creationId xmlns:a16="http://schemas.microsoft.com/office/drawing/2014/main" id="{663F02FA-04E2-B981-4AE5-29889BD0BC55}"/>
              </a:ext>
            </a:extLst>
          </p:cNvPr>
          <p:cNvGraphicFramePr>
            <a:graphicFrameLocks/>
          </p:cNvGraphicFramePr>
          <p:nvPr>
            <p:extLst>
              <p:ext uri="{D42A27DB-BD31-4B8C-83A1-F6EECF244321}">
                <p14:modId xmlns:p14="http://schemas.microsoft.com/office/powerpoint/2010/main" val="4098208513"/>
              </p:ext>
            </p:extLst>
          </p:nvPr>
        </p:nvGraphicFramePr>
        <p:xfrm>
          <a:off x="886905" y="2964116"/>
          <a:ext cx="4635968" cy="1231373"/>
        </p:xfrm>
        <a:graphic>
          <a:graphicData uri="http://schemas.openxmlformats.org/drawingml/2006/table">
            <a:tbl>
              <a:tblPr firstRow="1" bandRow="1">
                <a:tableStyleId>{5C22544A-7EE6-4342-B048-85BDC9FD1C3A}</a:tableStyleId>
              </a:tblPr>
              <a:tblGrid>
                <a:gridCol w="1098382">
                  <a:extLst>
                    <a:ext uri="{9D8B030D-6E8A-4147-A177-3AD203B41FA5}">
                      <a16:colId xmlns:a16="http://schemas.microsoft.com/office/drawing/2014/main" val="2901768082"/>
                    </a:ext>
                  </a:extLst>
                </a:gridCol>
                <a:gridCol w="3537586">
                  <a:extLst>
                    <a:ext uri="{9D8B030D-6E8A-4147-A177-3AD203B41FA5}">
                      <a16:colId xmlns:a16="http://schemas.microsoft.com/office/drawing/2014/main" val="4109777118"/>
                    </a:ext>
                  </a:extLst>
                </a:gridCol>
              </a:tblGrid>
              <a:tr h="290079">
                <a:tc>
                  <a:txBody>
                    <a:bodyPr/>
                    <a:lstStyle/>
                    <a:p>
                      <a:r>
                        <a:rPr lang="en-US" sz="1200" dirty="0"/>
                        <a:t>Type</a:t>
                      </a:r>
                    </a:p>
                  </a:txBody>
                  <a:tcPr/>
                </a:tc>
                <a:tc>
                  <a:txBody>
                    <a:bodyPr/>
                    <a:lstStyle/>
                    <a:p>
                      <a:r>
                        <a:rPr lang="en-US" sz="1200" dirty="0"/>
                        <a:t>Description</a:t>
                      </a:r>
                    </a:p>
                  </a:txBody>
                  <a:tcPr/>
                </a:tc>
                <a:extLst>
                  <a:ext uri="{0D108BD9-81ED-4DB2-BD59-A6C34878D82A}">
                    <a16:rowId xmlns:a16="http://schemas.microsoft.com/office/drawing/2014/main" val="3490119204"/>
                  </a:ext>
                </a:extLst>
              </a:tr>
              <a:tr h="215153">
                <a:tc>
                  <a:txBody>
                    <a:bodyPr/>
                    <a:lstStyle/>
                    <a:p>
                      <a:r>
                        <a:rPr lang="en-US" sz="900" dirty="0"/>
                        <a:t>SELECT</a:t>
                      </a:r>
                    </a:p>
                  </a:txBody>
                  <a:tcPr/>
                </a:tc>
                <a:tc>
                  <a:txBody>
                    <a:bodyPr/>
                    <a:lstStyle/>
                    <a:p>
                      <a:r>
                        <a:rPr lang="en-US" sz="900" dirty="0"/>
                        <a:t>Retrieves data from one or more tables.</a:t>
                      </a:r>
                    </a:p>
                  </a:txBody>
                  <a:tcPr/>
                </a:tc>
                <a:extLst>
                  <a:ext uri="{0D108BD9-81ED-4DB2-BD59-A6C34878D82A}">
                    <a16:rowId xmlns:a16="http://schemas.microsoft.com/office/drawing/2014/main" val="2432556007"/>
                  </a:ext>
                </a:extLst>
              </a:tr>
              <a:tr h="219635">
                <a:tc>
                  <a:txBody>
                    <a:bodyPr/>
                    <a:lstStyle/>
                    <a:p>
                      <a:r>
                        <a:rPr lang="en-US" sz="900" dirty="0"/>
                        <a:t>INSERT</a:t>
                      </a:r>
                    </a:p>
                  </a:txBody>
                  <a:tcPr/>
                </a:tc>
                <a:tc>
                  <a:txBody>
                    <a:bodyPr/>
                    <a:lstStyle/>
                    <a:p>
                      <a:r>
                        <a:rPr lang="en-US" sz="900" dirty="0"/>
                        <a:t>Adds one or more new rows.</a:t>
                      </a:r>
                    </a:p>
                  </a:txBody>
                  <a:tcPr/>
                </a:tc>
                <a:extLst>
                  <a:ext uri="{0D108BD9-81ED-4DB2-BD59-A6C34878D82A}">
                    <a16:rowId xmlns:a16="http://schemas.microsoft.com/office/drawing/2014/main" val="2317714641"/>
                  </a:ext>
                </a:extLst>
              </a:tr>
              <a:tr h="242047">
                <a:tc>
                  <a:txBody>
                    <a:bodyPr/>
                    <a:lstStyle/>
                    <a:p>
                      <a:r>
                        <a:rPr lang="en-US" sz="900" dirty="0"/>
                        <a:t>UPDATE</a:t>
                      </a:r>
                    </a:p>
                  </a:txBody>
                  <a:tcPr/>
                </a:tc>
                <a:tc>
                  <a:txBody>
                    <a:bodyPr/>
                    <a:lstStyle/>
                    <a:p>
                      <a:r>
                        <a:rPr lang="en-US" sz="900" dirty="0"/>
                        <a:t>Changes one or more existing rows in a table.</a:t>
                      </a:r>
                    </a:p>
                  </a:txBody>
                  <a:tcPr/>
                </a:tc>
                <a:extLst>
                  <a:ext uri="{0D108BD9-81ED-4DB2-BD59-A6C34878D82A}">
                    <a16:rowId xmlns:a16="http://schemas.microsoft.com/office/drawing/2014/main" val="253621417"/>
                  </a:ext>
                </a:extLst>
              </a:tr>
              <a:tr h="242047">
                <a:tc>
                  <a:txBody>
                    <a:bodyPr/>
                    <a:lstStyle/>
                    <a:p>
                      <a:r>
                        <a:rPr lang="en-US" sz="900" dirty="0"/>
                        <a:t>DELETE</a:t>
                      </a:r>
                    </a:p>
                  </a:txBody>
                  <a:tcPr/>
                </a:tc>
                <a:tc>
                  <a:txBody>
                    <a:bodyPr/>
                    <a:lstStyle/>
                    <a:p>
                      <a:r>
                        <a:rPr lang="en-US" sz="900" dirty="0"/>
                        <a:t>Deletes one or more  existing rows from a table.</a:t>
                      </a:r>
                    </a:p>
                  </a:txBody>
                  <a:tcPr/>
                </a:tc>
                <a:extLst>
                  <a:ext uri="{0D108BD9-81ED-4DB2-BD59-A6C34878D82A}">
                    <a16:rowId xmlns:a16="http://schemas.microsoft.com/office/drawing/2014/main" val="3998765506"/>
                  </a:ext>
                </a:extLst>
              </a:tr>
            </a:tbl>
          </a:graphicData>
        </a:graphic>
      </p:graphicFrame>
      <p:sp>
        <p:nvSpPr>
          <p:cNvPr id="11" name="TextBox 10">
            <a:extLst>
              <a:ext uri="{FF2B5EF4-FFF2-40B4-BE49-F238E27FC236}">
                <a16:creationId xmlns:a16="http://schemas.microsoft.com/office/drawing/2014/main" id="{0D87F335-64AB-D612-C4AA-BACE90C53661}"/>
              </a:ext>
            </a:extLst>
          </p:cNvPr>
          <p:cNvSpPr txBox="1"/>
          <p:nvPr/>
        </p:nvSpPr>
        <p:spPr>
          <a:xfrm>
            <a:off x="886905" y="2590556"/>
            <a:ext cx="4312024" cy="369332"/>
          </a:xfrm>
          <a:prstGeom prst="rect">
            <a:avLst/>
          </a:prstGeom>
          <a:noFill/>
        </p:spPr>
        <p:txBody>
          <a:bodyPr wrap="square" rtlCol="0">
            <a:spAutoFit/>
          </a:bodyPr>
          <a:lstStyle/>
          <a:p>
            <a:r>
              <a:rPr lang="en-US" dirty="0"/>
              <a:t>DML – Data Manipulation Language</a:t>
            </a:r>
          </a:p>
        </p:txBody>
      </p:sp>
      <p:graphicFrame>
        <p:nvGraphicFramePr>
          <p:cNvPr id="12" name="Content Placeholder 5">
            <a:extLst>
              <a:ext uri="{FF2B5EF4-FFF2-40B4-BE49-F238E27FC236}">
                <a16:creationId xmlns:a16="http://schemas.microsoft.com/office/drawing/2014/main" id="{2506BC54-D3BE-AD0B-2C33-08759982CCD8}"/>
              </a:ext>
            </a:extLst>
          </p:cNvPr>
          <p:cNvGraphicFramePr>
            <a:graphicFrameLocks/>
          </p:cNvGraphicFramePr>
          <p:nvPr>
            <p:extLst>
              <p:ext uri="{D42A27DB-BD31-4B8C-83A1-F6EECF244321}">
                <p14:modId xmlns:p14="http://schemas.microsoft.com/office/powerpoint/2010/main" val="3236774478"/>
              </p:ext>
            </p:extLst>
          </p:nvPr>
        </p:nvGraphicFramePr>
        <p:xfrm>
          <a:off x="6606988" y="2968344"/>
          <a:ext cx="4635968" cy="2925702"/>
        </p:xfrm>
        <a:graphic>
          <a:graphicData uri="http://schemas.openxmlformats.org/drawingml/2006/table">
            <a:tbl>
              <a:tblPr firstRow="1" bandRow="1">
                <a:tableStyleId>{5C22544A-7EE6-4342-B048-85BDC9FD1C3A}</a:tableStyleId>
              </a:tblPr>
              <a:tblGrid>
                <a:gridCol w="1299883">
                  <a:extLst>
                    <a:ext uri="{9D8B030D-6E8A-4147-A177-3AD203B41FA5}">
                      <a16:colId xmlns:a16="http://schemas.microsoft.com/office/drawing/2014/main" val="2901768082"/>
                    </a:ext>
                  </a:extLst>
                </a:gridCol>
                <a:gridCol w="3336085">
                  <a:extLst>
                    <a:ext uri="{9D8B030D-6E8A-4147-A177-3AD203B41FA5}">
                      <a16:colId xmlns:a16="http://schemas.microsoft.com/office/drawing/2014/main" val="4109777118"/>
                    </a:ext>
                  </a:extLst>
                </a:gridCol>
              </a:tblGrid>
              <a:tr h="290079">
                <a:tc>
                  <a:txBody>
                    <a:bodyPr/>
                    <a:lstStyle/>
                    <a:p>
                      <a:r>
                        <a:rPr lang="en-US" sz="1200" dirty="0"/>
                        <a:t>Type</a:t>
                      </a:r>
                    </a:p>
                  </a:txBody>
                  <a:tcPr/>
                </a:tc>
                <a:tc>
                  <a:txBody>
                    <a:bodyPr/>
                    <a:lstStyle/>
                    <a:p>
                      <a:r>
                        <a:rPr lang="en-US" sz="1200" dirty="0"/>
                        <a:t>Description</a:t>
                      </a:r>
                    </a:p>
                  </a:txBody>
                  <a:tcPr/>
                </a:tc>
                <a:extLst>
                  <a:ext uri="{0D108BD9-81ED-4DB2-BD59-A6C34878D82A}">
                    <a16:rowId xmlns:a16="http://schemas.microsoft.com/office/drawing/2014/main" val="3490119204"/>
                  </a:ext>
                </a:extLst>
              </a:tr>
              <a:tr h="215153">
                <a:tc>
                  <a:txBody>
                    <a:bodyPr/>
                    <a:lstStyle/>
                    <a:p>
                      <a:r>
                        <a:rPr lang="en-US" sz="900" dirty="0"/>
                        <a:t>CREATE DATABASE</a:t>
                      </a:r>
                    </a:p>
                  </a:txBody>
                  <a:tcPr/>
                </a:tc>
                <a:tc>
                  <a:txBody>
                    <a:bodyPr/>
                    <a:lstStyle/>
                    <a:p>
                      <a:r>
                        <a:rPr lang="en-US" sz="900" dirty="0"/>
                        <a:t>Creates a new database</a:t>
                      </a:r>
                    </a:p>
                  </a:txBody>
                  <a:tcPr/>
                </a:tc>
                <a:extLst>
                  <a:ext uri="{0D108BD9-81ED-4DB2-BD59-A6C34878D82A}">
                    <a16:rowId xmlns:a16="http://schemas.microsoft.com/office/drawing/2014/main" val="2432556007"/>
                  </a:ext>
                </a:extLst>
              </a:tr>
              <a:tr h="219635">
                <a:tc>
                  <a:txBody>
                    <a:bodyPr/>
                    <a:lstStyle/>
                    <a:p>
                      <a:r>
                        <a:rPr lang="en-US" sz="900" dirty="0"/>
                        <a:t>CREATE TABLE</a:t>
                      </a:r>
                    </a:p>
                  </a:txBody>
                  <a:tcPr/>
                </a:tc>
                <a:tc>
                  <a:txBody>
                    <a:bodyPr/>
                    <a:lstStyle/>
                    <a:p>
                      <a:r>
                        <a:rPr lang="en-US" sz="900" dirty="0"/>
                        <a:t>Creates a new table.</a:t>
                      </a:r>
                    </a:p>
                  </a:txBody>
                  <a:tcPr/>
                </a:tc>
                <a:extLst>
                  <a:ext uri="{0D108BD9-81ED-4DB2-BD59-A6C34878D82A}">
                    <a16:rowId xmlns:a16="http://schemas.microsoft.com/office/drawing/2014/main" val="2317714641"/>
                  </a:ext>
                </a:extLst>
              </a:tr>
              <a:tr h="242047">
                <a:tc>
                  <a:txBody>
                    <a:bodyPr/>
                    <a:lstStyle/>
                    <a:p>
                      <a:r>
                        <a:rPr lang="en-US" sz="900" dirty="0"/>
                        <a:t>CREATE INDEX</a:t>
                      </a:r>
                    </a:p>
                  </a:txBody>
                  <a:tcPr/>
                </a:tc>
                <a:tc>
                  <a:txBody>
                    <a:bodyPr/>
                    <a:lstStyle/>
                    <a:p>
                      <a:r>
                        <a:rPr lang="en-US" sz="900" dirty="0"/>
                        <a:t>Creates a new index</a:t>
                      </a:r>
                    </a:p>
                  </a:txBody>
                  <a:tcPr/>
                </a:tc>
                <a:extLst>
                  <a:ext uri="{0D108BD9-81ED-4DB2-BD59-A6C34878D82A}">
                    <a16:rowId xmlns:a16="http://schemas.microsoft.com/office/drawing/2014/main" val="253621417"/>
                  </a:ext>
                </a:extLst>
              </a:tr>
              <a:tr h="242047">
                <a:tc>
                  <a:txBody>
                    <a:bodyPr/>
                    <a:lstStyle/>
                    <a:p>
                      <a:r>
                        <a:rPr lang="en-US" sz="900" dirty="0"/>
                        <a:t>DELETE</a:t>
                      </a:r>
                    </a:p>
                  </a:txBody>
                  <a:tcPr/>
                </a:tc>
                <a:tc>
                  <a:txBody>
                    <a:bodyPr/>
                    <a:lstStyle/>
                    <a:p>
                      <a:r>
                        <a:rPr lang="en-US" sz="900" dirty="0"/>
                        <a:t>Deletes one or more  existing rows from a table.</a:t>
                      </a:r>
                    </a:p>
                  </a:txBody>
                  <a:tcPr/>
                </a:tc>
                <a:extLst>
                  <a:ext uri="{0D108BD9-81ED-4DB2-BD59-A6C34878D82A}">
                    <a16:rowId xmlns:a16="http://schemas.microsoft.com/office/drawing/2014/main" val="3998765506"/>
                  </a:ext>
                </a:extLst>
              </a:tr>
              <a:tr h="242047">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012925224"/>
                  </a:ext>
                </a:extLst>
              </a:tr>
              <a:tr h="242047">
                <a:tc>
                  <a:txBody>
                    <a:bodyPr/>
                    <a:lstStyle/>
                    <a:p>
                      <a:r>
                        <a:rPr lang="en-US" sz="900" dirty="0"/>
                        <a:t>ALTER TABLE</a:t>
                      </a:r>
                    </a:p>
                  </a:txBody>
                  <a:tcPr/>
                </a:tc>
                <a:tc>
                  <a:txBody>
                    <a:bodyPr/>
                    <a:lstStyle/>
                    <a:p>
                      <a:r>
                        <a:rPr lang="en-US" sz="900" dirty="0"/>
                        <a:t>Changes the structure of an existing table.</a:t>
                      </a:r>
                    </a:p>
                  </a:txBody>
                  <a:tcPr/>
                </a:tc>
                <a:extLst>
                  <a:ext uri="{0D108BD9-81ED-4DB2-BD59-A6C34878D82A}">
                    <a16:rowId xmlns:a16="http://schemas.microsoft.com/office/drawing/2014/main" val="1323851657"/>
                  </a:ext>
                </a:extLst>
              </a:tr>
              <a:tr h="242047">
                <a:tc>
                  <a:txBody>
                    <a:bodyPr/>
                    <a:lstStyle/>
                    <a:p>
                      <a:r>
                        <a:rPr lang="en-US" sz="900" dirty="0"/>
                        <a:t>ALTER INDEX</a:t>
                      </a:r>
                    </a:p>
                  </a:txBody>
                  <a:tcPr/>
                </a:tc>
                <a:tc>
                  <a:txBody>
                    <a:bodyPr/>
                    <a:lstStyle/>
                    <a:p>
                      <a:r>
                        <a:rPr lang="en-US" sz="900" dirty="0"/>
                        <a:t>Changes the structure of and existing Index.</a:t>
                      </a:r>
                    </a:p>
                  </a:txBody>
                  <a:tcPr/>
                </a:tc>
                <a:extLst>
                  <a:ext uri="{0D108BD9-81ED-4DB2-BD59-A6C34878D82A}">
                    <a16:rowId xmlns:a16="http://schemas.microsoft.com/office/drawing/2014/main" val="2507654264"/>
                  </a:ext>
                </a:extLst>
              </a:tr>
              <a:tr h="242047">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308889188"/>
                  </a:ext>
                </a:extLst>
              </a:tr>
              <a:tr h="242047">
                <a:tc>
                  <a:txBody>
                    <a:bodyPr/>
                    <a:lstStyle/>
                    <a:p>
                      <a:r>
                        <a:rPr lang="en-US" sz="900" dirty="0"/>
                        <a:t>DROP DATABASE</a:t>
                      </a:r>
                    </a:p>
                  </a:txBody>
                  <a:tcPr/>
                </a:tc>
                <a:tc>
                  <a:txBody>
                    <a:bodyPr/>
                    <a:lstStyle/>
                    <a:p>
                      <a:r>
                        <a:rPr lang="en-US" sz="900" dirty="0"/>
                        <a:t>Deletes existing database.</a:t>
                      </a:r>
                    </a:p>
                  </a:txBody>
                  <a:tcPr/>
                </a:tc>
                <a:extLst>
                  <a:ext uri="{0D108BD9-81ED-4DB2-BD59-A6C34878D82A}">
                    <a16:rowId xmlns:a16="http://schemas.microsoft.com/office/drawing/2014/main" val="3712858771"/>
                  </a:ext>
                </a:extLst>
              </a:tr>
              <a:tr h="242047">
                <a:tc>
                  <a:txBody>
                    <a:bodyPr/>
                    <a:lstStyle/>
                    <a:p>
                      <a:r>
                        <a:rPr lang="en-US" sz="900" dirty="0"/>
                        <a:t>DROP TABLE</a:t>
                      </a:r>
                    </a:p>
                  </a:txBody>
                  <a:tcPr/>
                </a:tc>
                <a:tc>
                  <a:txBody>
                    <a:bodyPr/>
                    <a:lstStyle/>
                    <a:p>
                      <a:r>
                        <a:rPr lang="en-US" sz="900" dirty="0"/>
                        <a:t>Deletes existing table.</a:t>
                      </a:r>
                    </a:p>
                  </a:txBody>
                  <a:tcPr/>
                </a:tc>
                <a:extLst>
                  <a:ext uri="{0D108BD9-81ED-4DB2-BD59-A6C34878D82A}">
                    <a16:rowId xmlns:a16="http://schemas.microsoft.com/office/drawing/2014/main" val="3135770600"/>
                  </a:ext>
                </a:extLst>
              </a:tr>
              <a:tr h="242047">
                <a:tc>
                  <a:txBody>
                    <a:bodyPr/>
                    <a:lstStyle/>
                    <a:p>
                      <a:r>
                        <a:rPr lang="en-US" sz="900" dirty="0"/>
                        <a:t>DROP INDEX</a:t>
                      </a:r>
                    </a:p>
                  </a:txBody>
                  <a:tcPr/>
                </a:tc>
                <a:tc>
                  <a:txBody>
                    <a:bodyPr/>
                    <a:lstStyle/>
                    <a:p>
                      <a:r>
                        <a:rPr lang="en-US" sz="900" dirty="0"/>
                        <a:t>Deletes existing index.</a:t>
                      </a:r>
                    </a:p>
                  </a:txBody>
                  <a:tcPr/>
                </a:tc>
                <a:extLst>
                  <a:ext uri="{0D108BD9-81ED-4DB2-BD59-A6C34878D82A}">
                    <a16:rowId xmlns:a16="http://schemas.microsoft.com/office/drawing/2014/main" val="1842053168"/>
                  </a:ext>
                </a:extLst>
              </a:tr>
            </a:tbl>
          </a:graphicData>
        </a:graphic>
      </p:graphicFrame>
      <p:sp>
        <p:nvSpPr>
          <p:cNvPr id="13" name="TextBox 12">
            <a:extLst>
              <a:ext uri="{FF2B5EF4-FFF2-40B4-BE49-F238E27FC236}">
                <a16:creationId xmlns:a16="http://schemas.microsoft.com/office/drawing/2014/main" id="{F141CAF7-210F-91C6-5AC8-7012D89D90B5}"/>
              </a:ext>
            </a:extLst>
          </p:cNvPr>
          <p:cNvSpPr txBox="1"/>
          <p:nvPr/>
        </p:nvSpPr>
        <p:spPr>
          <a:xfrm>
            <a:off x="6606988" y="2594784"/>
            <a:ext cx="4312024" cy="369332"/>
          </a:xfrm>
          <a:prstGeom prst="rect">
            <a:avLst/>
          </a:prstGeom>
          <a:noFill/>
        </p:spPr>
        <p:txBody>
          <a:bodyPr wrap="square" rtlCol="0">
            <a:spAutoFit/>
          </a:bodyPr>
          <a:lstStyle/>
          <a:p>
            <a:r>
              <a:rPr lang="en-US" dirty="0"/>
              <a:t>DDL – Data Definition Language</a:t>
            </a:r>
          </a:p>
        </p:txBody>
      </p:sp>
      <p:sp>
        <p:nvSpPr>
          <p:cNvPr id="14" name="Date Placeholder 13">
            <a:extLst>
              <a:ext uri="{FF2B5EF4-FFF2-40B4-BE49-F238E27FC236}">
                <a16:creationId xmlns:a16="http://schemas.microsoft.com/office/drawing/2014/main" id="{A0C4FBA6-8041-3F66-206E-F82AA8486CA0}"/>
              </a:ext>
            </a:extLst>
          </p:cNvPr>
          <p:cNvSpPr>
            <a:spLocks noGrp="1"/>
          </p:cNvSpPr>
          <p:nvPr>
            <p:ph type="dt" sz="half" idx="10"/>
          </p:nvPr>
        </p:nvSpPr>
        <p:spPr/>
        <p:txBody>
          <a:bodyPr/>
          <a:lstStyle/>
          <a:p>
            <a:fld id="{6D4A0C9B-55A2-4647-B23D-3A414875E75F}" type="datetime1">
              <a:rPr lang="en-US" smtClean="0"/>
              <a:t>1/10/2026</a:t>
            </a:fld>
            <a:endParaRPr lang="en-US"/>
          </a:p>
        </p:txBody>
      </p:sp>
      <p:sp>
        <p:nvSpPr>
          <p:cNvPr id="15" name="Slide Number Placeholder 14">
            <a:extLst>
              <a:ext uri="{FF2B5EF4-FFF2-40B4-BE49-F238E27FC236}">
                <a16:creationId xmlns:a16="http://schemas.microsoft.com/office/drawing/2014/main" id="{E1FDFDFE-7C93-7377-FFD1-2E0FDE431B9D}"/>
              </a:ext>
            </a:extLst>
          </p:cNvPr>
          <p:cNvSpPr>
            <a:spLocks noGrp="1"/>
          </p:cNvSpPr>
          <p:nvPr>
            <p:ph type="sldNum" sz="quarter" idx="12"/>
          </p:nvPr>
        </p:nvSpPr>
        <p:spPr/>
        <p:txBody>
          <a:bodyPr/>
          <a:lstStyle/>
          <a:p>
            <a:fld id="{F6C56E59-C124-411E-B3E7-95D014FC7158}" type="slidenum">
              <a:rPr lang="en-US" smtClean="0"/>
              <a:pPr/>
              <a:t>14</a:t>
            </a:fld>
            <a:endParaRPr lang="en-US"/>
          </a:p>
        </p:txBody>
      </p:sp>
    </p:spTree>
    <p:extLst>
      <p:ext uri="{BB962C8B-B14F-4D97-AF65-F5344CB8AC3E}">
        <p14:creationId xmlns:p14="http://schemas.microsoft.com/office/powerpoint/2010/main" val="948612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6C29-30C5-43BC-ED57-E6DCCE03A193}"/>
              </a:ext>
            </a:extLst>
          </p:cNvPr>
          <p:cNvSpPr>
            <a:spLocks noGrp="1"/>
          </p:cNvSpPr>
          <p:nvPr>
            <p:ph type="title"/>
          </p:nvPr>
        </p:nvSpPr>
        <p:spPr/>
        <p:txBody>
          <a:bodyPr>
            <a:normAutofit fontScale="90000"/>
          </a:bodyPr>
          <a:lstStyle/>
          <a:p>
            <a:r>
              <a:rPr lang="en-US" dirty="0"/>
              <a:t>DDL – Create Database</a:t>
            </a:r>
          </a:p>
        </p:txBody>
      </p:sp>
      <p:sp>
        <p:nvSpPr>
          <p:cNvPr id="3" name="Content Placeholder 2">
            <a:extLst>
              <a:ext uri="{FF2B5EF4-FFF2-40B4-BE49-F238E27FC236}">
                <a16:creationId xmlns:a16="http://schemas.microsoft.com/office/drawing/2014/main" id="{3F0CE979-522F-F46C-066A-BD2D0ECAC7AD}"/>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A0E19D7F-A408-E084-C209-140CD2764054}"/>
              </a:ext>
            </a:extLst>
          </p:cNvPr>
          <p:cNvSpPr txBox="1"/>
          <p:nvPr/>
        </p:nvSpPr>
        <p:spPr>
          <a:xfrm>
            <a:off x="1772437" y="3290649"/>
            <a:ext cx="8661107" cy="276999"/>
          </a:xfrm>
          <a:prstGeom prst="rect">
            <a:avLst/>
          </a:prstGeom>
          <a:noFill/>
        </p:spPr>
        <p:txBody>
          <a:bodyPr wrap="square" rtlCol="0">
            <a:spAutoFit/>
          </a:bodyPr>
          <a:lstStyle/>
          <a:p>
            <a:pPr algn="ctr"/>
            <a:r>
              <a:rPr lang="en-US" sz="1200" dirty="0"/>
              <a:t>CREATE DATABASE </a:t>
            </a:r>
            <a:r>
              <a:rPr lang="en-US" sz="1200" dirty="0" err="1"/>
              <a:t>Dodegeball</a:t>
            </a:r>
            <a:r>
              <a:rPr lang="en-US" sz="1200" dirty="0"/>
              <a:t>;</a:t>
            </a:r>
          </a:p>
        </p:txBody>
      </p:sp>
      <p:sp>
        <p:nvSpPr>
          <p:cNvPr id="5" name="Date Placeholder 4">
            <a:extLst>
              <a:ext uri="{FF2B5EF4-FFF2-40B4-BE49-F238E27FC236}">
                <a16:creationId xmlns:a16="http://schemas.microsoft.com/office/drawing/2014/main" id="{00436919-67D2-35BA-C4B0-8437D96FFB3B}"/>
              </a:ext>
            </a:extLst>
          </p:cNvPr>
          <p:cNvSpPr>
            <a:spLocks noGrp="1"/>
          </p:cNvSpPr>
          <p:nvPr>
            <p:ph type="dt" sz="half" idx="10"/>
          </p:nvPr>
        </p:nvSpPr>
        <p:spPr/>
        <p:txBody>
          <a:bodyPr/>
          <a:lstStyle/>
          <a:p>
            <a:fld id="{96547A82-7C10-4223-8A7B-CCD5C830E346}" type="datetime1">
              <a:rPr lang="en-US" smtClean="0"/>
              <a:t>1/10/2026</a:t>
            </a:fld>
            <a:endParaRPr lang="en-US"/>
          </a:p>
        </p:txBody>
      </p:sp>
      <p:sp>
        <p:nvSpPr>
          <p:cNvPr id="6" name="Slide Number Placeholder 5">
            <a:extLst>
              <a:ext uri="{FF2B5EF4-FFF2-40B4-BE49-F238E27FC236}">
                <a16:creationId xmlns:a16="http://schemas.microsoft.com/office/drawing/2014/main" id="{2488B759-6069-42EC-B285-3BE2E1D6762B}"/>
              </a:ext>
            </a:extLst>
          </p:cNvPr>
          <p:cNvSpPr>
            <a:spLocks noGrp="1"/>
          </p:cNvSpPr>
          <p:nvPr>
            <p:ph type="sldNum" sz="quarter" idx="12"/>
          </p:nvPr>
        </p:nvSpPr>
        <p:spPr/>
        <p:txBody>
          <a:bodyPr/>
          <a:lstStyle/>
          <a:p>
            <a:fld id="{F6C56E59-C124-411E-B3E7-95D014FC7158}" type="slidenum">
              <a:rPr lang="en-US" smtClean="0"/>
              <a:pPr/>
              <a:t>15</a:t>
            </a:fld>
            <a:endParaRPr lang="en-US"/>
          </a:p>
        </p:txBody>
      </p:sp>
      <p:sp>
        <p:nvSpPr>
          <p:cNvPr id="7" name="TextBox 6">
            <a:extLst>
              <a:ext uri="{FF2B5EF4-FFF2-40B4-BE49-F238E27FC236}">
                <a16:creationId xmlns:a16="http://schemas.microsoft.com/office/drawing/2014/main" id="{78480FF6-4147-ED72-3EA3-3480F90501F2}"/>
              </a:ext>
            </a:extLst>
          </p:cNvPr>
          <p:cNvSpPr txBox="1"/>
          <p:nvPr/>
        </p:nvSpPr>
        <p:spPr>
          <a:xfrm>
            <a:off x="8435789" y="4356882"/>
            <a:ext cx="3173506" cy="1477328"/>
          </a:xfrm>
          <a:prstGeom prst="rect">
            <a:avLst/>
          </a:prstGeom>
          <a:noFill/>
        </p:spPr>
        <p:txBody>
          <a:bodyPr wrap="square" rtlCol="0">
            <a:spAutoFit/>
          </a:bodyPr>
          <a:lstStyle/>
          <a:p>
            <a:r>
              <a:rPr lang="en-US" dirty="0"/>
              <a:t>Try it.  </a:t>
            </a:r>
          </a:p>
          <a:p>
            <a:endParaRPr lang="en-US" dirty="0"/>
          </a:p>
          <a:p>
            <a:r>
              <a:rPr lang="en-US" dirty="0"/>
              <a:t>Create your first Database. </a:t>
            </a:r>
          </a:p>
          <a:p>
            <a:endParaRPr lang="en-US" dirty="0"/>
          </a:p>
          <a:p>
            <a:r>
              <a:rPr lang="en-US" dirty="0"/>
              <a:t>Too easy right?</a:t>
            </a:r>
          </a:p>
        </p:txBody>
      </p:sp>
    </p:spTree>
    <p:extLst>
      <p:ext uri="{BB962C8B-B14F-4D97-AF65-F5344CB8AC3E}">
        <p14:creationId xmlns:p14="http://schemas.microsoft.com/office/powerpoint/2010/main" val="353751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1ED6-2D8B-3FF9-F226-4CAF4F5E3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12CD7-EB40-1411-548A-F9F29DBD4825}"/>
              </a:ext>
            </a:extLst>
          </p:cNvPr>
          <p:cNvSpPr>
            <a:spLocks noGrp="1"/>
          </p:cNvSpPr>
          <p:nvPr>
            <p:ph type="title"/>
          </p:nvPr>
        </p:nvSpPr>
        <p:spPr/>
        <p:txBody>
          <a:bodyPr>
            <a:normAutofit fontScale="90000"/>
          </a:bodyPr>
          <a:lstStyle/>
          <a:p>
            <a:r>
              <a:rPr lang="en-US" dirty="0"/>
              <a:t>DDL – Create Table</a:t>
            </a:r>
          </a:p>
        </p:txBody>
      </p:sp>
      <p:sp>
        <p:nvSpPr>
          <p:cNvPr id="3" name="Content Placeholder 2">
            <a:extLst>
              <a:ext uri="{FF2B5EF4-FFF2-40B4-BE49-F238E27FC236}">
                <a16:creationId xmlns:a16="http://schemas.microsoft.com/office/drawing/2014/main" id="{F1BB0B5A-FF05-44C0-0AC5-B74BD12ECFC7}"/>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2E6D5A47-3FDD-BB7B-38C8-106F9308FB36}"/>
              </a:ext>
            </a:extLst>
          </p:cNvPr>
          <p:cNvSpPr txBox="1"/>
          <p:nvPr/>
        </p:nvSpPr>
        <p:spPr>
          <a:xfrm>
            <a:off x="2805144" y="1929348"/>
            <a:ext cx="6581711" cy="3785652"/>
          </a:xfrm>
          <a:prstGeom prst="rect">
            <a:avLst/>
          </a:prstGeom>
          <a:noFill/>
        </p:spPr>
        <p:txBody>
          <a:bodyPr wrap="square" rtlCol="0">
            <a:spAutoFit/>
          </a:bodyPr>
          <a:lstStyle/>
          <a:p>
            <a:r>
              <a:rPr lang="en-US" sz="1200" dirty="0"/>
              <a:t>CREATE TABLE </a:t>
            </a:r>
            <a:r>
              <a:rPr lang="en-US" sz="1200" dirty="0" err="1"/>
              <a:t>dbo.Player</a:t>
            </a:r>
            <a:endParaRPr lang="en-US" sz="1200" dirty="0"/>
          </a:p>
          <a:p>
            <a:r>
              <a:rPr lang="en-US" sz="1200" dirty="0"/>
              <a:t>(</a:t>
            </a:r>
          </a:p>
          <a:p>
            <a:r>
              <a:rPr lang="en-US" sz="1200" dirty="0"/>
              <a:t>    Id              		INT </a:t>
            </a:r>
            <a:r>
              <a:rPr lang="en-US" sz="1200" b="1" dirty="0"/>
              <a:t>IDENTITY(1,1) </a:t>
            </a:r>
            <a:r>
              <a:rPr lang="en-US" sz="1200" dirty="0"/>
              <a:t>NOT NULL CONSTRAINT </a:t>
            </a:r>
            <a:r>
              <a:rPr lang="en-US" sz="1200" dirty="0" err="1"/>
              <a:t>PK_Player</a:t>
            </a:r>
            <a:r>
              <a:rPr lang="en-US" sz="1200" dirty="0"/>
              <a:t> PRIMARY KEY,</a:t>
            </a:r>
          </a:p>
          <a:p>
            <a:r>
              <a:rPr lang="en-US" sz="1200" dirty="0"/>
              <a:t>    FirstName       	VARCHAR(100) NOT NULL,</a:t>
            </a:r>
          </a:p>
          <a:p>
            <a:r>
              <a:rPr lang="en-US" sz="1200" dirty="0"/>
              <a:t>    </a:t>
            </a:r>
            <a:r>
              <a:rPr lang="en-US" sz="1200" dirty="0" err="1"/>
              <a:t>MiddleName</a:t>
            </a:r>
            <a:r>
              <a:rPr lang="en-US" sz="1200" dirty="0"/>
              <a:t>      	VARCHAR(50) NULL,</a:t>
            </a:r>
          </a:p>
          <a:p>
            <a:r>
              <a:rPr lang="en-US" sz="1200" dirty="0"/>
              <a:t>    LastName        	VARCHAR(100) NOT NULL,</a:t>
            </a:r>
          </a:p>
          <a:p>
            <a:r>
              <a:rPr lang="en-US" sz="1200" dirty="0"/>
              <a:t>    </a:t>
            </a:r>
            <a:r>
              <a:rPr lang="en-US" sz="1200" dirty="0" err="1"/>
              <a:t>PreferredName</a:t>
            </a:r>
            <a:r>
              <a:rPr lang="en-US" sz="1200" dirty="0"/>
              <a:t>   	VARCHAR(100) NULL,</a:t>
            </a:r>
          </a:p>
          <a:p>
            <a:r>
              <a:rPr lang="en-US" sz="1200" dirty="0"/>
              <a:t>    </a:t>
            </a:r>
            <a:r>
              <a:rPr lang="en-US" sz="1200" dirty="0" err="1"/>
              <a:t>BirthDate</a:t>
            </a:r>
            <a:r>
              <a:rPr lang="en-US" sz="1200" dirty="0"/>
              <a:t>       	DATE NULL,</a:t>
            </a:r>
          </a:p>
          <a:p>
            <a:r>
              <a:rPr lang="en-US" sz="1200" dirty="0"/>
              <a:t>    Gender          	VARCHAR(20) NULL,</a:t>
            </a:r>
          </a:p>
          <a:p>
            <a:r>
              <a:rPr lang="en-US" sz="1200" dirty="0"/>
              <a:t>    Nationality    	VARCHAR(50) NULL,</a:t>
            </a:r>
          </a:p>
          <a:p>
            <a:r>
              <a:rPr lang="en-US" sz="1200" dirty="0"/>
              <a:t>    </a:t>
            </a:r>
            <a:r>
              <a:rPr lang="en-US" sz="1200" dirty="0" err="1"/>
              <a:t>HeightCm</a:t>
            </a:r>
            <a:r>
              <a:rPr lang="en-US" sz="1200" dirty="0"/>
              <a:t>        	SMALLINT NULL,</a:t>
            </a:r>
          </a:p>
          <a:p>
            <a:r>
              <a:rPr lang="en-US" sz="1200" dirty="0"/>
              <a:t>    </a:t>
            </a:r>
            <a:r>
              <a:rPr lang="en-US" sz="1200" dirty="0" err="1"/>
              <a:t>WeightKg</a:t>
            </a:r>
            <a:r>
              <a:rPr lang="en-US" sz="1200" dirty="0"/>
              <a:t>        	DECIMAL(5,2) NULL,</a:t>
            </a:r>
          </a:p>
          <a:p>
            <a:r>
              <a:rPr lang="en-US" sz="1200" dirty="0"/>
              <a:t>    Position        		VARCHAR(50) NULL,</a:t>
            </a:r>
          </a:p>
          <a:p>
            <a:r>
              <a:rPr lang="en-US" sz="1200" dirty="0"/>
              <a:t>    </a:t>
            </a:r>
            <a:r>
              <a:rPr lang="en-US" sz="1200" dirty="0" err="1"/>
              <a:t>JerseyNumber</a:t>
            </a:r>
            <a:r>
              <a:rPr lang="en-US" sz="1200" dirty="0"/>
              <a:t>    	TINYINT NULL,</a:t>
            </a:r>
          </a:p>
          <a:p>
            <a:r>
              <a:rPr lang="en-US" sz="1200" dirty="0"/>
              <a:t>    </a:t>
            </a:r>
            <a:r>
              <a:rPr lang="en-US" sz="1200" dirty="0" err="1"/>
              <a:t>TeamId</a:t>
            </a:r>
            <a:r>
              <a:rPr lang="en-US" sz="1200" dirty="0"/>
              <a:t>          	INT NULL,</a:t>
            </a:r>
          </a:p>
          <a:p>
            <a:r>
              <a:rPr lang="en-US" sz="1200" dirty="0"/>
              <a:t>    </a:t>
            </a:r>
            <a:r>
              <a:rPr lang="en-US" sz="1200" dirty="0" err="1"/>
              <a:t>IsActive</a:t>
            </a:r>
            <a:r>
              <a:rPr lang="en-US" sz="1200" dirty="0"/>
              <a:t>        		BIT NOT NULL </a:t>
            </a:r>
            <a:r>
              <a:rPr lang="en-US" sz="1200" b="1" dirty="0"/>
              <a:t>CONSTRAINT</a:t>
            </a:r>
            <a:r>
              <a:rPr lang="en-US" sz="1200" dirty="0"/>
              <a:t> </a:t>
            </a:r>
            <a:r>
              <a:rPr lang="en-US" sz="1200" dirty="0" err="1"/>
              <a:t>DF_Player_IsActive</a:t>
            </a:r>
            <a:r>
              <a:rPr lang="en-US" sz="1200" dirty="0"/>
              <a:t> DEFAULT (1),</a:t>
            </a:r>
          </a:p>
          <a:p>
            <a:r>
              <a:rPr lang="en-US" sz="1200" dirty="0"/>
              <a:t>    </a:t>
            </a:r>
            <a:r>
              <a:rPr lang="en-US" sz="1200" dirty="0" err="1"/>
              <a:t>CreateDate</a:t>
            </a:r>
            <a:r>
              <a:rPr lang="en-US" sz="1200" dirty="0"/>
              <a:t>      	DATETIME2(0) NOT NULL CONSTRAINT </a:t>
            </a:r>
            <a:r>
              <a:rPr lang="en-US" sz="1200" dirty="0" err="1"/>
              <a:t>DF_Player_CreateDate</a:t>
            </a:r>
            <a:r>
              <a:rPr lang="en-US" sz="1200" dirty="0"/>
              <a:t> DEFAULT (SYSUTCDATETIME()),</a:t>
            </a:r>
          </a:p>
          <a:p>
            <a:r>
              <a:rPr lang="en-US" sz="1200" dirty="0"/>
              <a:t>    CONSTRAINT </a:t>
            </a:r>
            <a:r>
              <a:rPr lang="en-US" sz="1200" dirty="0" err="1"/>
              <a:t>FK_Player_Team</a:t>
            </a:r>
            <a:r>
              <a:rPr lang="en-US" sz="1200" dirty="0"/>
              <a:t> FOREIGN KEY (</a:t>
            </a:r>
            <a:r>
              <a:rPr lang="en-US" sz="1200" dirty="0" err="1"/>
              <a:t>TeamId</a:t>
            </a:r>
            <a:r>
              <a:rPr lang="en-US" sz="1200" dirty="0"/>
              <a:t>) </a:t>
            </a:r>
            <a:r>
              <a:rPr lang="en-US" sz="1200" b="1" dirty="0"/>
              <a:t>REFERENCES</a:t>
            </a:r>
            <a:r>
              <a:rPr lang="en-US" sz="1200" dirty="0"/>
              <a:t> </a:t>
            </a:r>
            <a:r>
              <a:rPr lang="en-US" sz="1200" dirty="0" err="1"/>
              <a:t>dbo.Team</a:t>
            </a:r>
            <a:r>
              <a:rPr lang="en-US" sz="1200" dirty="0"/>
              <a:t>(Id)</a:t>
            </a:r>
          </a:p>
          <a:p>
            <a:r>
              <a:rPr lang="en-US" sz="1200" dirty="0"/>
              <a:t>);</a:t>
            </a:r>
          </a:p>
        </p:txBody>
      </p:sp>
      <p:sp>
        <p:nvSpPr>
          <p:cNvPr id="6" name="Date Placeholder 5">
            <a:extLst>
              <a:ext uri="{FF2B5EF4-FFF2-40B4-BE49-F238E27FC236}">
                <a16:creationId xmlns:a16="http://schemas.microsoft.com/office/drawing/2014/main" id="{7694654D-D60D-837E-2B60-04BB41EC51D7}"/>
              </a:ext>
            </a:extLst>
          </p:cNvPr>
          <p:cNvSpPr>
            <a:spLocks noGrp="1"/>
          </p:cNvSpPr>
          <p:nvPr>
            <p:ph type="dt" sz="half" idx="10"/>
          </p:nvPr>
        </p:nvSpPr>
        <p:spPr/>
        <p:txBody>
          <a:bodyPr/>
          <a:lstStyle/>
          <a:p>
            <a:fld id="{D61C6659-256C-47E6-80D2-743BF05ADC9E}" type="datetime1">
              <a:rPr lang="en-US" smtClean="0"/>
              <a:t>1/10/2026</a:t>
            </a:fld>
            <a:endParaRPr lang="en-US"/>
          </a:p>
        </p:txBody>
      </p:sp>
      <p:sp>
        <p:nvSpPr>
          <p:cNvPr id="7" name="Slide Number Placeholder 6">
            <a:extLst>
              <a:ext uri="{FF2B5EF4-FFF2-40B4-BE49-F238E27FC236}">
                <a16:creationId xmlns:a16="http://schemas.microsoft.com/office/drawing/2014/main" id="{5DA77A83-9A83-CB24-F475-9459C0D7A9B9}"/>
              </a:ext>
            </a:extLst>
          </p:cNvPr>
          <p:cNvSpPr>
            <a:spLocks noGrp="1"/>
          </p:cNvSpPr>
          <p:nvPr>
            <p:ph type="sldNum" sz="quarter" idx="12"/>
          </p:nvPr>
        </p:nvSpPr>
        <p:spPr/>
        <p:txBody>
          <a:bodyPr/>
          <a:lstStyle/>
          <a:p>
            <a:fld id="{F6C56E59-C124-411E-B3E7-95D014FC7158}" type="slidenum">
              <a:rPr lang="en-US" smtClean="0"/>
              <a:pPr/>
              <a:t>16</a:t>
            </a:fld>
            <a:endParaRPr lang="en-US"/>
          </a:p>
        </p:txBody>
      </p:sp>
    </p:spTree>
    <p:extLst>
      <p:ext uri="{BB962C8B-B14F-4D97-AF65-F5344CB8AC3E}">
        <p14:creationId xmlns:p14="http://schemas.microsoft.com/office/powerpoint/2010/main" val="4265553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756C0-A4B1-D3F2-B3F5-4D6E706D0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2A0D8-6413-EC62-9BCC-22613F61830C}"/>
              </a:ext>
            </a:extLst>
          </p:cNvPr>
          <p:cNvSpPr>
            <a:spLocks noGrp="1"/>
          </p:cNvSpPr>
          <p:nvPr>
            <p:ph type="title"/>
          </p:nvPr>
        </p:nvSpPr>
        <p:spPr/>
        <p:txBody>
          <a:bodyPr>
            <a:normAutofit fontScale="90000"/>
          </a:bodyPr>
          <a:lstStyle/>
          <a:p>
            <a:r>
              <a:rPr lang="en-US" dirty="0"/>
              <a:t>DDL – Create Table – Your Turn</a:t>
            </a:r>
          </a:p>
        </p:txBody>
      </p:sp>
      <p:sp>
        <p:nvSpPr>
          <p:cNvPr id="3" name="Content Placeholder 2">
            <a:extLst>
              <a:ext uri="{FF2B5EF4-FFF2-40B4-BE49-F238E27FC236}">
                <a16:creationId xmlns:a16="http://schemas.microsoft.com/office/drawing/2014/main" id="{20A7BA86-BBBB-BEAD-A2A8-39E601268E4A}"/>
              </a:ext>
            </a:extLst>
          </p:cNvPr>
          <p:cNvSpPr>
            <a:spLocks noGrp="1"/>
          </p:cNvSpPr>
          <p:nvPr>
            <p:ph idx="1"/>
          </p:nvPr>
        </p:nvSpPr>
        <p:spPr/>
        <p:txBody>
          <a:bodyPr/>
          <a:lstStyle/>
          <a:p>
            <a:endParaRPr lang="en-US" dirty="0"/>
          </a:p>
        </p:txBody>
      </p:sp>
      <p:sp>
        <p:nvSpPr>
          <p:cNvPr id="6" name="Date Placeholder 5">
            <a:extLst>
              <a:ext uri="{FF2B5EF4-FFF2-40B4-BE49-F238E27FC236}">
                <a16:creationId xmlns:a16="http://schemas.microsoft.com/office/drawing/2014/main" id="{FCFDB1CD-804C-566E-6FE4-AACCAF5301B4}"/>
              </a:ext>
            </a:extLst>
          </p:cNvPr>
          <p:cNvSpPr>
            <a:spLocks noGrp="1"/>
          </p:cNvSpPr>
          <p:nvPr>
            <p:ph type="dt" sz="half" idx="10"/>
          </p:nvPr>
        </p:nvSpPr>
        <p:spPr/>
        <p:txBody>
          <a:bodyPr/>
          <a:lstStyle/>
          <a:p>
            <a:fld id="{D61C6659-256C-47E6-80D2-743BF05ADC9E}" type="datetime1">
              <a:rPr lang="en-US" smtClean="0"/>
              <a:t>1/10/2026</a:t>
            </a:fld>
            <a:endParaRPr lang="en-US"/>
          </a:p>
        </p:txBody>
      </p:sp>
      <p:sp>
        <p:nvSpPr>
          <p:cNvPr id="7" name="Slide Number Placeholder 6">
            <a:extLst>
              <a:ext uri="{FF2B5EF4-FFF2-40B4-BE49-F238E27FC236}">
                <a16:creationId xmlns:a16="http://schemas.microsoft.com/office/drawing/2014/main" id="{8231316B-B730-5C96-6005-32EC9161F0E0}"/>
              </a:ext>
            </a:extLst>
          </p:cNvPr>
          <p:cNvSpPr>
            <a:spLocks noGrp="1"/>
          </p:cNvSpPr>
          <p:nvPr>
            <p:ph type="sldNum" sz="quarter" idx="12"/>
          </p:nvPr>
        </p:nvSpPr>
        <p:spPr/>
        <p:txBody>
          <a:bodyPr/>
          <a:lstStyle/>
          <a:p>
            <a:fld id="{F6C56E59-C124-411E-B3E7-95D014FC7158}" type="slidenum">
              <a:rPr lang="en-US" smtClean="0"/>
              <a:pPr/>
              <a:t>17</a:t>
            </a:fld>
            <a:endParaRPr lang="en-US"/>
          </a:p>
        </p:txBody>
      </p:sp>
      <p:sp>
        <p:nvSpPr>
          <p:cNvPr id="8" name="TextBox 7">
            <a:extLst>
              <a:ext uri="{FF2B5EF4-FFF2-40B4-BE49-F238E27FC236}">
                <a16:creationId xmlns:a16="http://schemas.microsoft.com/office/drawing/2014/main" id="{1EF0C015-D18B-5CD5-28DD-29B36E2A489E}"/>
              </a:ext>
            </a:extLst>
          </p:cNvPr>
          <p:cNvSpPr txBox="1"/>
          <p:nvPr/>
        </p:nvSpPr>
        <p:spPr>
          <a:xfrm>
            <a:off x="3116757" y="1997987"/>
            <a:ext cx="5972468" cy="3323987"/>
          </a:xfrm>
          <a:prstGeom prst="rect">
            <a:avLst/>
          </a:prstGeom>
          <a:noFill/>
        </p:spPr>
        <p:txBody>
          <a:bodyPr wrap="square" rtlCol="0">
            <a:spAutoFit/>
          </a:bodyPr>
          <a:lstStyle/>
          <a:p>
            <a:r>
              <a:rPr lang="en-US" dirty="0"/>
              <a:t>Try it.  </a:t>
            </a:r>
          </a:p>
          <a:p>
            <a:endParaRPr lang="en-US" dirty="0"/>
          </a:p>
          <a:p>
            <a:r>
              <a:rPr lang="en-US" dirty="0"/>
              <a:t>Create your first table using SQL.  Let’s make it super simple.</a:t>
            </a:r>
            <a:br>
              <a:rPr lang="en-US" dirty="0"/>
            </a:br>
            <a:br>
              <a:rPr lang="en-US" dirty="0"/>
            </a:br>
            <a:endParaRPr lang="en-US" dirty="0"/>
          </a:p>
          <a:p>
            <a:r>
              <a:rPr lang="en-US" sz="1100" dirty="0"/>
              <a:t>CREATE TABLE </a:t>
            </a:r>
            <a:r>
              <a:rPr lang="en-US" sz="1100" dirty="0" err="1"/>
              <a:t>dbo.StateLookup</a:t>
            </a:r>
            <a:endParaRPr lang="en-US" sz="1100" dirty="0"/>
          </a:p>
          <a:p>
            <a:r>
              <a:rPr lang="en-US" sz="1100" dirty="0"/>
              <a:t>(</a:t>
            </a:r>
          </a:p>
          <a:p>
            <a:r>
              <a:rPr lang="en-US" sz="1100" dirty="0"/>
              <a:t>    Id INT IDENTITY(1,1) NOT NULL CONSTRAINT </a:t>
            </a:r>
            <a:r>
              <a:rPr lang="en-US" sz="1100" dirty="0" err="1"/>
              <a:t>PK_StateLookup</a:t>
            </a:r>
            <a:r>
              <a:rPr lang="en-US" sz="1100" dirty="0"/>
              <a:t> PRIMARY KEY,</a:t>
            </a:r>
          </a:p>
          <a:p>
            <a:r>
              <a:rPr lang="en-US" sz="1100" dirty="0"/>
              <a:t>    Code  CHAR(2) NOT NULL,</a:t>
            </a:r>
          </a:p>
          <a:p>
            <a:r>
              <a:rPr lang="en-US" sz="1100" dirty="0"/>
              <a:t>    Description VARCHAR(50) NOT NULL</a:t>
            </a:r>
          </a:p>
          <a:p>
            <a:r>
              <a:rPr lang="en-US" sz="1100" dirty="0"/>
              <a:t>)</a:t>
            </a:r>
          </a:p>
          <a:p>
            <a:endParaRPr lang="en-US" dirty="0"/>
          </a:p>
          <a:p>
            <a:r>
              <a:rPr lang="en-US" dirty="0"/>
              <a:t> </a:t>
            </a:r>
          </a:p>
        </p:txBody>
      </p:sp>
    </p:spTree>
    <p:extLst>
      <p:ext uri="{BB962C8B-B14F-4D97-AF65-F5344CB8AC3E}">
        <p14:creationId xmlns:p14="http://schemas.microsoft.com/office/powerpoint/2010/main" val="1685943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A6C8-74D6-A459-2293-B23B5D7B1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4197D-22C9-5374-3284-03BF5DDA1601}"/>
              </a:ext>
            </a:extLst>
          </p:cNvPr>
          <p:cNvSpPr>
            <a:spLocks noGrp="1"/>
          </p:cNvSpPr>
          <p:nvPr>
            <p:ph type="title"/>
          </p:nvPr>
        </p:nvSpPr>
        <p:spPr/>
        <p:txBody>
          <a:bodyPr>
            <a:normAutofit fontScale="90000"/>
          </a:bodyPr>
          <a:lstStyle/>
          <a:p>
            <a:r>
              <a:rPr lang="en-US" dirty="0"/>
              <a:t>DDL – Alter Table and Create Index</a:t>
            </a:r>
          </a:p>
        </p:txBody>
      </p:sp>
      <p:sp>
        <p:nvSpPr>
          <p:cNvPr id="3" name="Content Placeholder 2">
            <a:extLst>
              <a:ext uri="{FF2B5EF4-FFF2-40B4-BE49-F238E27FC236}">
                <a16:creationId xmlns:a16="http://schemas.microsoft.com/office/drawing/2014/main" id="{58489708-3AEB-62E3-D914-23521AC9BE2A}"/>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28DB7780-F01E-E55C-35CC-42789F71272E}"/>
              </a:ext>
            </a:extLst>
          </p:cNvPr>
          <p:cNvSpPr txBox="1"/>
          <p:nvPr/>
        </p:nvSpPr>
        <p:spPr>
          <a:xfrm>
            <a:off x="3720353" y="2535582"/>
            <a:ext cx="5847374" cy="1938992"/>
          </a:xfrm>
          <a:prstGeom prst="rect">
            <a:avLst/>
          </a:prstGeom>
          <a:noFill/>
        </p:spPr>
        <p:txBody>
          <a:bodyPr wrap="square" rtlCol="0">
            <a:spAutoFit/>
          </a:bodyPr>
          <a:lstStyle/>
          <a:p>
            <a:r>
              <a:rPr lang="en-US" sz="1200" dirty="0"/>
              <a:t>ALTER TABLE </a:t>
            </a:r>
            <a:r>
              <a:rPr lang="en-US" sz="1200" dirty="0" err="1"/>
              <a:t>StateLookup</a:t>
            </a:r>
            <a:endParaRPr lang="en-US" sz="1200" dirty="0"/>
          </a:p>
          <a:p>
            <a:r>
              <a:rPr lang="en-US" sz="1200" b="1" dirty="0"/>
              <a:t>ADD</a:t>
            </a:r>
            <a:r>
              <a:rPr lang="en-US" sz="1200" dirty="0"/>
              <a:t> Capital varchar(50) NULL;</a:t>
            </a:r>
            <a:br>
              <a:rPr lang="en-US" sz="1200" dirty="0"/>
            </a:br>
            <a:br>
              <a:rPr lang="en-US" sz="1200" dirty="0"/>
            </a:br>
            <a:r>
              <a:rPr lang="en-US" sz="1200" dirty="0"/>
              <a:t>ALTER TABLE </a:t>
            </a:r>
            <a:r>
              <a:rPr lang="en-US" sz="1200" dirty="0" err="1"/>
              <a:t>StateLookup</a:t>
            </a:r>
            <a:endParaRPr lang="en-US" sz="1200" dirty="0"/>
          </a:p>
          <a:p>
            <a:r>
              <a:rPr lang="fr-FR" sz="1200" b="1" dirty="0"/>
              <a:t>DROP</a:t>
            </a:r>
            <a:r>
              <a:rPr lang="fr-FR" sz="1200" dirty="0"/>
              <a:t> COLUMN </a:t>
            </a:r>
            <a:r>
              <a:rPr lang="en-US" sz="1200" dirty="0"/>
              <a:t>Capital</a:t>
            </a:r>
            <a:r>
              <a:rPr lang="fr-FR" sz="1200" dirty="0"/>
              <a:t>;</a:t>
            </a:r>
          </a:p>
          <a:p>
            <a:endParaRPr lang="fr-FR" sz="1200" dirty="0"/>
          </a:p>
          <a:p>
            <a:br>
              <a:rPr lang="fr-FR" sz="1200" dirty="0"/>
            </a:br>
            <a:br>
              <a:rPr lang="fr-FR" sz="1200" dirty="0"/>
            </a:br>
            <a:r>
              <a:rPr lang="fr-FR" sz="1200" dirty="0"/>
              <a:t>CREATE </a:t>
            </a:r>
            <a:r>
              <a:rPr lang="fr-FR" sz="1200" b="1" dirty="0"/>
              <a:t>INDEX</a:t>
            </a:r>
            <a:r>
              <a:rPr lang="fr-FR" sz="1200" dirty="0"/>
              <a:t> IX_</a:t>
            </a:r>
            <a:r>
              <a:rPr lang="en-US" sz="1200" dirty="0" err="1"/>
              <a:t>StateLookup</a:t>
            </a:r>
            <a:r>
              <a:rPr lang="fr-FR" sz="1200" dirty="0"/>
              <a:t>_Name</a:t>
            </a:r>
          </a:p>
          <a:p>
            <a:r>
              <a:rPr lang="fr-FR" sz="1200" dirty="0"/>
              <a:t>ON Stadium (Code);</a:t>
            </a:r>
            <a:endParaRPr lang="en-US" sz="1200" dirty="0"/>
          </a:p>
        </p:txBody>
      </p:sp>
      <p:sp>
        <p:nvSpPr>
          <p:cNvPr id="6" name="Date Placeholder 5">
            <a:extLst>
              <a:ext uri="{FF2B5EF4-FFF2-40B4-BE49-F238E27FC236}">
                <a16:creationId xmlns:a16="http://schemas.microsoft.com/office/drawing/2014/main" id="{9F5E6D02-7B7C-163E-79F7-71C0C2C8B092}"/>
              </a:ext>
            </a:extLst>
          </p:cNvPr>
          <p:cNvSpPr>
            <a:spLocks noGrp="1"/>
          </p:cNvSpPr>
          <p:nvPr>
            <p:ph type="dt" sz="half" idx="10"/>
          </p:nvPr>
        </p:nvSpPr>
        <p:spPr/>
        <p:txBody>
          <a:bodyPr/>
          <a:lstStyle/>
          <a:p>
            <a:fld id="{D61C6659-256C-47E6-80D2-743BF05ADC9E}" type="datetime1">
              <a:rPr lang="en-US" smtClean="0"/>
              <a:t>1/10/2026</a:t>
            </a:fld>
            <a:endParaRPr lang="en-US"/>
          </a:p>
        </p:txBody>
      </p:sp>
      <p:sp>
        <p:nvSpPr>
          <p:cNvPr id="7" name="Slide Number Placeholder 6">
            <a:extLst>
              <a:ext uri="{FF2B5EF4-FFF2-40B4-BE49-F238E27FC236}">
                <a16:creationId xmlns:a16="http://schemas.microsoft.com/office/drawing/2014/main" id="{BA039BE7-A089-7DDB-8B90-5F709B692C32}"/>
              </a:ext>
            </a:extLst>
          </p:cNvPr>
          <p:cNvSpPr>
            <a:spLocks noGrp="1"/>
          </p:cNvSpPr>
          <p:nvPr>
            <p:ph type="sldNum" sz="quarter" idx="12"/>
          </p:nvPr>
        </p:nvSpPr>
        <p:spPr/>
        <p:txBody>
          <a:bodyPr/>
          <a:lstStyle/>
          <a:p>
            <a:fld id="{F6C56E59-C124-411E-B3E7-95D014FC7158}" type="slidenum">
              <a:rPr lang="en-US" smtClean="0"/>
              <a:pPr/>
              <a:t>18</a:t>
            </a:fld>
            <a:endParaRPr lang="en-US"/>
          </a:p>
        </p:txBody>
      </p:sp>
      <p:sp>
        <p:nvSpPr>
          <p:cNvPr id="8" name="TextBox 7">
            <a:extLst>
              <a:ext uri="{FF2B5EF4-FFF2-40B4-BE49-F238E27FC236}">
                <a16:creationId xmlns:a16="http://schemas.microsoft.com/office/drawing/2014/main" id="{CC1FDFEF-D588-F87A-2574-C8A481E9662A}"/>
              </a:ext>
            </a:extLst>
          </p:cNvPr>
          <p:cNvSpPr txBox="1"/>
          <p:nvPr/>
        </p:nvSpPr>
        <p:spPr>
          <a:xfrm>
            <a:off x="8256495" y="1966716"/>
            <a:ext cx="3173506" cy="2862322"/>
          </a:xfrm>
          <a:prstGeom prst="rect">
            <a:avLst/>
          </a:prstGeom>
          <a:noFill/>
        </p:spPr>
        <p:txBody>
          <a:bodyPr wrap="square" rtlCol="0">
            <a:spAutoFit/>
          </a:bodyPr>
          <a:lstStyle/>
          <a:p>
            <a:r>
              <a:rPr lang="en-US" dirty="0"/>
              <a:t>Try it.  </a:t>
            </a:r>
          </a:p>
          <a:p>
            <a:endParaRPr lang="en-US" dirty="0"/>
          </a:p>
          <a:p>
            <a:r>
              <a:rPr lang="en-US" dirty="0"/>
              <a:t>Add a column to an existing table.  </a:t>
            </a:r>
          </a:p>
          <a:p>
            <a:r>
              <a:rPr lang="en-US" dirty="0"/>
              <a:t>Confirm it worked.  </a:t>
            </a:r>
          </a:p>
          <a:p>
            <a:r>
              <a:rPr lang="en-US" dirty="0"/>
              <a:t>Delete it.  </a:t>
            </a:r>
          </a:p>
          <a:p>
            <a:r>
              <a:rPr lang="en-US" dirty="0"/>
              <a:t>Confirm again </a:t>
            </a:r>
          </a:p>
          <a:p>
            <a:r>
              <a:rPr lang="en-US" dirty="0"/>
              <a:t>Add and index.</a:t>
            </a:r>
          </a:p>
          <a:p>
            <a:endParaRPr lang="en-US" dirty="0"/>
          </a:p>
          <a:p>
            <a:r>
              <a:rPr lang="en-US" dirty="0"/>
              <a:t>What does an index do again?</a:t>
            </a:r>
          </a:p>
        </p:txBody>
      </p:sp>
    </p:spTree>
    <p:extLst>
      <p:ext uri="{BB962C8B-B14F-4D97-AF65-F5344CB8AC3E}">
        <p14:creationId xmlns:p14="http://schemas.microsoft.com/office/powerpoint/2010/main" val="1014306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485CA-A2F2-9238-40CE-F3EF99DD2070}"/>
              </a:ext>
            </a:extLst>
          </p:cNvPr>
          <p:cNvSpPr>
            <a:spLocks noGrp="1"/>
          </p:cNvSpPr>
          <p:nvPr>
            <p:ph type="title"/>
          </p:nvPr>
        </p:nvSpPr>
        <p:spPr/>
        <p:txBody>
          <a:bodyPr>
            <a:normAutofit fontScale="90000"/>
          </a:bodyPr>
          <a:lstStyle/>
          <a:p>
            <a:r>
              <a:rPr lang="en-US" dirty="0"/>
              <a:t>How to Query a Single Table</a:t>
            </a:r>
          </a:p>
        </p:txBody>
      </p:sp>
      <p:sp>
        <p:nvSpPr>
          <p:cNvPr id="3" name="Content Placeholder 2">
            <a:extLst>
              <a:ext uri="{FF2B5EF4-FFF2-40B4-BE49-F238E27FC236}">
                <a16:creationId xmlns:a16="http://schemas.microsoft.com/office/drawing/2014/main" id="{191F4A4A-04B8-9572-0684-0A6E4C4DC74B}"/>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FFF4B94-F5D5-C538-6E53-1CDA1C1537B0}"/>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1515ECB9-11A4-E646-6971-60F8650938B1}"/>
              </a:ext>
            </a:extLst>
          </p:cNvPr>
          <p:cNvSpPr>
            <a:spLocks noGrp="1"/>
          </p:cNvSpPr>
          <p:nvPr>
            <p:ph type="sldNum" sz="quarter" idx="12"/>
          </p:nvPr>
        </p:nvSpPr>
        <p:spPr/>
        <p:txBody>
          <a:bodyPr/>
          <a:lstStyle/>
          <a:p>
            <a:fld id="{F6C56E59-C124-411E-B3E7-95D014FC7158}" type="slidenum">
              <a:rPr lang="en-US" smtClean="0"/>
              <a:pPr/>
              <a:t>19</a:t>
            </a:fld>
            <a:endParaRPr lang="en-US"/>
          </a:p>
        </p:txBody>
      </p:sp>
      <p:sp>
        <p:nvSpPr>
          <p:cNvPr id="6" name="TextBox 5">
            <a:extLst>
              <a:ext uri="{FF2B5EF4-FFF2-40B4-BE49-F238E27FC236}">
                <a16:creationId xmlns:a16="http://schemas.microsoft.com/office/drawing/2014/main" id="{098828F5-04AC-4421-56D8-A301C3D2FB37}"/>
              </a:ext>
            </a:extLst>
          </p:cNvPr>
          <p:cNvSpPr txBox="1"/>
          <p:nvPr/>
        </p:nvSpPr>
        <p:spPr>
          <a:xfrm>
            <a:off x="821072" y="1570965"/>
            <a:ext cx="4297261" cy="1384995"/>
          </a:xfrm>
          <a:prstGeom prst="rect">
            <a:avLst/>
          </a:prstGeom>
          <a:noFill/>
        </p:spPr>
        <p:txBody>
          <a:bodyPr wrap="square" rtlCol="0">
            <a:spAutoFit/>
          </a:bodyPr>
          <a:lstStyle/>
          <a:p>
            <a:r>
              <a:rPr lang="en-US" sz="1200" b="1" dirty="0"/>
              <a:t>SELECT</a:t>
            </a:r>
            <a:r>
              <a:rPr lang="en-US" sz="1200" dirty="0"/>
              <a:t> – specifies what fields to return</a:t>
            </a:r>
          </a:p>
          <a:p>
            <a:endParaRPr lang="en-US" sz="1200" dirty="0"/>
          </a:p>
          <a:p>
            <a:r>
              <a:rPr lang="en-US" sz="1200" b="1" dirty="0"/>
              <a:t>FROM</a:t>
            </a:r>
            <a:r>
              <a:rPr lang="en-US" sz="1200" dirty="0"/>
              <a:t> – specifies the base table to return the data from</a:t>
            </a:r>
          </a:p>
          <a:p>
            <a:endParaRPr lang="en-US" sz="1200" dirty="0"/>
          </a:p>
          <a:p>
            <a:r>
              <a:rPr lang="en-US" sz="1200" b="1" dirty="0"/>
              <a:t>WHERE</a:t>
            </a:r>
            <a:r>
              <a:rPr lang="en-US" sz="1200" dirty="0"/>
              <a:t> – define criteria used to filter from available table rows</a:t>
            </a:r>
          </a:p>
          <a:p>
            <a:endParaRPr lang="en-US" sz="1200" dirty="0"/>
          </a:p>
          <a:p>
            <a:r>
              <a:rPr lang="en-US" sz="1200" b="1" dirty="0"/>
              <a:t>ORDER BY</a:t>
            </a:r>
            <a:r>
              <a:rPr lang="en-US" sz="1200" dirty="0"/>
              <a:t> – used to sort the results</a:t>
            </a:r>
          </a:p>
        </p:txBody>
      </p:sp>
      <p:sp>
        <p:nvSpPr>
          <p:cNvPr id="8" name="TextBox 7">
            <a:extLst>
              <a:ext uri="{FF2B5EF4-FFF2-40B4-BE49-F238E27FC236}">
                <a16:creationId xmlns:a16="http://schemas.microsoft.com/office/drawing/2014/main" id="{1AD03CC8-89B0-61DE-395D-6AD62749A71E}"/>
              </a:ext>
            </a:extLst>
          </p:cNvPr>
          <p:cNvSpPr txBox="1"/>
          <p:nvPr/>
        </p:nvSpPr>
        <p:spPr>
          <a:xfrm>
            <a:off x="6555191" y="1570965"/>
            <a:ext cx="3016109" cy="1785104"/>
          </a:xfrm>
          <a:prstGeom prst="rect">
            <a:avLst/>
          </a:prstGeom>
          <a:noFill/>
        </p:spPr>
        <p:txBody>
          <a:bodyPr wrap="square" rtlCol="0">
            <a:spAutoFit/>
          </a:bodyPr>
          <a:lstStyle/>
          <a:p>
            <a:r>
              <a:rPr lang="en-US" sz="1400" dirty="0"/>
              <a:t>Example:</a:t>
            </a:r>
          </a:p>
          <a:p>
            <a:endParaRPr lang="en-US" sz="1200" dirty="0"/>
          </a:p>
          <a:p>
            <a:r>
              <a:rPr lang="en-US" sz="1200" b="1" dirty="0"/>
              <a:t>SELECT</a:t>
            </a:r>
            <a:r>
              <a:rPr lang="en-US" sz="1200" dirty="0"/>
              <a:t> Name,</a:t>
            </a:r>
          </a:p>
          <a:p>
            <a:r>
              <a:rPr lang="en-US" sz="1200" dirty="0"/>
              <a:t>                 City + Country </a:t>
            </a:r>
            <a:r>
              <a:rPr lang="en-US" sz="1200" b="1" dirty="0"/>
              <a:t>AS</a:t>
            </a:r>
            <a:r>
              <a:rPr lang="en-US" sz="1200" dirty="0"/>
              <a:t> Location,</a:t>
            </a:r>
          </a:p>
          <a:p>
            <a:r>
              <a:rPr lang="en-US" sz="1200" dirty="0"/>
              <a:t>                 Country,</a:t>
            </a:r>
          </a:p>
          <a:p>
            <a:r>
              <a:rPr lang="en-US" sz="1200" dirty="0"/>
              <a:t>                 Mascot</a:t>
            </a:r>
          </a:p>
          <a:p>
            <a:r>
              <a:rPr lang="en-US" sz="1200" b="1" dirty="0"/>
              <a:t>FROM</a:t>
            </a:r>
            <a:r>
              <a:rPr lang="en-US" sz="1200" dirty="0"/>
              <a:t> Team</a:t>
            </a:r>
          </a:p>
          <a:p>
            <a:r>
              <a:rPr lang="en-US" sz="1200" b="1" dirty="0"/>
              <a:t>WHERE</a:t>
            </a:r>
            <a:r>
              <a:rPr lang="en-US" sz="1200" dirty="0"/>
              <a:t> </a:t>
            </a:r>
            <a:r>
              <a:rPr lang="en-US" sz="1200" dirty="0" err="1"/>
              <a:t>IsActive</a:t>
            </a:r>
            <a:r>
              <a:rPr lang="en-US" sz="1200" dirty="0"/>
              <a:t> = 1</a:t>
            </a:r>
          </a:p>
          <a:p>
            <a:r>
              <a:rPr lang="en-US" sz="1200" b="1" dirty="0"/>
              <a:t>ORDER BY </a:t>
            </a:r>
            <a:r>
              <a:rPr lang="en-US" sz="1200" dirty="0"/>
              <a:t>Name</a:t>
            </a:r>
          </a:p>
        </p:txBody>
      </p:sp>
      <p:pic>
        <p:nvPicPr>
          <p:cNvPr id="10" name="Picture 9" descr="A screenshot of a computer">
            <a:extLst>
              <a:ext uri="{FF2B5EF4-FFF2-40B4-BE49-F238E27FC236}">
                <a16:creationId xmlns:a16="http://schemas.microsoft.com/office/drawing/2014/main" id="{B4AC622A-55D1-FB8E-96A0-30E7B3DBACBF}"/>
              </a:ext>
            </a:extLst>
          </p:cNvPr>
          <p:cNvPicPr>
            <a:picLocks noChangeAspect="1"/>
          </p:cNvPicPr>
          <p:nvPr/>
        </p:nvPicPr>
        <p:blipFill>
          <a:blip r:embed="rId2"/>
          <a:stretch>
            <a:fillRect/>
          </a:stretch>
        </p:blipFill>
        <p:spPr>
          <a:xfrm>
            <a:off x="6555191" y="3618033"/>
            <a:ext cx="3581900" cy="2324424"/>
          </a:xfrm>
          <a:prstGeom prst="rect">
            <a:avLst/>
          </a:prstGeom>
        </p:spPr>
      </p:pic>
    </p:spTree>
    <p:extLst>
      <p:ext uri="{BB962C8B-B14F-4D97-AF65-F5344CB8AC3E}">
        <p14:creationId xmlns:p14="http://schemas.microsoft.com/office/powerpoint/2010/main" val="3550774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022D0-AFB3-28EC-A32B-E35193D57AC9}"/>
              </a:ext>
            </a:extLst>
          </p:cNvPr>
          <p:cNvSpPr>
            <a:spLocks noGrp="1"/>
          </p:cNvSpPr>
          <p:nvPr>
            <p:ph type="title"/>
          </p:nvPr>
        </p:nvSpPr>
        <p:spPr/>
        <p:txBody>
          <a:bodyPr>
            <a:normAutofit fontScale="90000"/>
          </a:bodyPr>
          <a:lstStyle/>
          <a:p>
            <a:r>
              <a:rPr lang="en-US" dirty="0"/>
              <a:t>How to join data from two or more tables</a:t>
            </a:r>
          </a:p>
        </p:txBody>
      </p:sp>
      <p:sp>
        <p:nvSpPr>
          <p:cNvPr id="3" name="Content Placeholder 2">
            <a:extLst>
              <a:ext uri="{FF2B5EF4-FFF2-40B4-BE49-F238E27FC236}">
                <a16:creationId xmlns:a16="http://schemas.microsoft.com/office/drawing/2014/main" id="{6129382B-AF07-0824-BABE-D99060E20773}"/>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7C1CD720-685D-F15A-6AC4-463A0477AD13}"/>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9F2999F2-9987-A622-795E-9B716532486B}"/>
              </a:ext>
            </a:extLst>
          </p:cNvPr>
          <p:cNvSpPr>
            <a:spLocks noGrp="1"/>
          </p:cNvSpPr>
          <p:nvPr>
            <p:ph type="sldNum" sz="quarter" idx="12"/>
          </p:nvPr>
        </p:nvSpPr>
        <p:spPr/>
        <p:txBody>
          <a:bodyPr/>
          <a:lstStyle/>
          <a:p>
            <a:fld id="{F6C56E59-C124-411E-B3E7-95D014FC7158}" type="slidenum">
              <a:rPr lang="en-US" smtClean="0"/>
              <a:pPr/>
              <a:t>20</a:t>
            </a:fld>
            <a:endParaRPr lang="en-US"/>
          </a:p>
        </p:txBody>
      </p:sp>
      <p:sp>
        <p:nvSpPr>
          <p:cNvPr id="6" name="TextBox 5">
            <a:extLst>
              <a:ext uri="{FF2B5EF4-FFF2-40B4-BE49-F238E27FC236}">
                <a16:creationId xmlns:a16="http://schemas.microsoft.com/office/drawing/2014/main" id="{280524FA-9A09-018A-65F4-1E7D916E1B7A}"/>
              </a:ext>
            </a:extLst>
          </p:cNvPr>
          <p:cNvSpPr txBox="1"/>
          <p:nvPr/>
        </p:nvSpPr>
        <p:spPr>
          <a:xfrm>
            <a:off x="418186" y="1499371"/>
            <a:ext cx="5373540" cy="2123658"/>
          </a:xfrm>
          <a:prstGeom prst="rect">
            <a:avLst/>
          </a:prstGeom>
          <a:noFill/>
        </p:spPr>
        <p:txBody>
          <a:bodyPr wrap="square" rtlCol="0">
            <a:spAutoFit/>
          </a:bodyPr>
          <a:lstStyle/>
          <a:p>
            <a:r>
              <a:rPr lang="en-US" sz="1100" b="1" dirty="0"/>
              <a:t>INNER JOIN</a:t>
            </a:r>
            <a:r>
              <a:rPr lang="en-US" sz="1100" dirty="0"/>
              <a:t> – Returns rows where </a:t>
            </a:r>
            <a:r>
              <a:rPr lang="en-US" sz="1100" b="1" dirty="0"/>
              <a:t>both tables match</a:t>
            </a:r>
            <a:r>
              <a:rPr lang="en-US" sz="1100" dirty="0"/>
              <a:t>.</a:t>
            </a:r>
          </a:p>
          <a:p>
            <a:endParaRPr lang="en-US" sz="1100" dirty="0"/>
          </a:p>
          <a:p>
            <a:pPr lvl="1"/>
            <a:r>
              <a:rPr lang="en-US" sz="1100" dirty="0"/>
              <a:t>SELECT *</a:t>
            </a:r>
          </a:p>
          <a:p>
            <a:pPr lvl="1"/>
            <a:r>
              <a:rPr lang="en-US" sz="1100" dirty="0"/>
              <a:t>FROM Stadium s</a:t>
            </a:r>
          </a:p>
          <a:p>
            <a:pPr lvl="1"/>
            <a:r>
              <a:rPr lang="en-US" sz="1100" b="1" dirty="0"/>
              <a:t>INNER JOIN </a:t>
            </a:r>
            <a:r>
              <a:rPr lang="en-US" sz="1100" dirty="0"/>
              <a:t>Team t ON </a:t>
            </a:r>
            <a:r>
              <a:rPr lang="en-US" sz="1100" dirty="0" err="1"/>
              <a:t>t.StadiumId</a:t>
            </a:r>
            <a:r>
              <a:rPr lang="en-US" sz="1100" dirty="0"/>
              <a:t> = </a:t>
            </a:r>
            <a:r>
              <a:rPr lang="en-US" sz="1100" dirty="0" err="1"/>
              <a:t>s.Id</a:t>
            </a:r>
            <a:r>
              <a:rPr lang="en-US" sz="1100" dirty="0"/>
              <a:t>;</a:t>
            </a:r>
          </a:p>
          <a:p>
            <a:endParaRPr lang="en-US" sz="1100" dirty="0"/>
          </a:p>
          <a:p>
            <a:r>
              <a:rPr lang="en-US" sz="1100" b="1" dirty="0"/>
              <a:t>LEFT [OUTER] JOIN</a:t>
            </a:r>
            <a:r>
              <a:rPr lang="en-US" sz="1100" dirty="0"/>
              <a:t> – Returns </a:t>
            </a:r>
            <a:r>
              <a:rPr lang="en-US" sz="1100" b="1" dirty="0"/>
              <a:t>all rows from the left table</a:t>
            </a:r>
            <a:r>
              <a:rPr lang="en-US" sz="1100" dirty="0"/>
              <a:t>, plus matches from the right </a:t>
            </a:r>
            <a:r>
              <a:rPr lang="en-US" sz="1100" dirty="0" err="1"/>
              <a:t>table.Unmatched</a:t>
            </a:r>
            <a:r>
              <a:rPr lang="en-US" sz="1100" dirty="0"/>
              <a:t> right-side rows return NULL.</a:t>
            </a:r>
          </a:p>
          <a:p>
            <a:endParaRPr lang="en-US" sz="1100" dirty="0"/>
          </a:p>
          <a:p>
            <a:pPr lvl="1"/>
            <a:r>
              <a:rPr lang="en-US" sz="1100" dirty="0"/>
              <a:t>SELECT *</a:t>
            </a:r>
          </a:p>
          <a:p>
            <a:pPr lvl="1"/>
            <a:r>
              <a:rPr lang="en-US" sz="1100" dirty="0"/>
              <a:t>FROM Stadium s</a:t>
            </a:r>
          </a:p>
          <a:p>
            <a:pPr lvl="1"/>
            <a:r>
              <a:rPr lang="en-US" sz="1100" b="1" dirty="0"/>
              <a:t>LEFT JOIN </a:t>
            </a:r>
            <a:r>
              <a:rPr lang="en-US" sz="1100" dirty="0"/>
              <a:t>Team t ON </a:t>
            </a:r>
            <a:r>
              <a:rPr lang="en-US" sz="1100" dirty="0" err="1"/>
              <a:t>t.StadiumId</a:t>
            </a:r>
            <a:r>
              <a:rPr lang="en-US" sz="1100" dirty="0"/>
              <a:t> = </a:t>
            </a:r>
            <a:r>
              <a:rPr lang="en-US" sz="1100" dirty="0" err="1"/>
              <a:t>s.Id</a:t>
            </a:r>
            <a:r>
              <a:rPr lang="en-US" sz="1100" dirty="0"/>
              <a:t>;</a:t>
            </a:r>
          </a:p>
        </p:txBody>
      </p:sp>
      <p:sp>
        <p:nvSpPr>
          <p:cNvPr id="10" name="TextBox 9">
            <a:extLst>
              <a:ext uri="{FF2B5EF4-FFF2-40B4-BE49-F238E27FC236}">
                <a16:creationId xmlns:a16="http://schemas.microsoft.com/office/drawing/2014/main" id="{9647E197-DEAA-C9C6-F854-8BB7FDACBAD8}"/>
              </a:ext>
            </a:extLst>
          </p:cNvPr>
          <p:cNvSpPr txBox="1"/>
          <p:nvPr/>
        </p:nvSpPr>
        <p:spPr>
          <a:xfrm>
            <a:off x="6400274" y="1499371"/>
            <a:ext cx="5373540" cy="4339650"/>
          </a:xfrm>
          <a:prstGeom prst="rect">
            <a:avLst/>
          </a:prstGeom>
          <a:noFill/>
        </p:spPr>
        <p:txBody>
          <a:bodyPr wrap="square" rtlCol="0">
            <a:spAutoFit/>
          </a:bodyPr>
          <a:lstStyle/>
          <a:p>
            <a:endParaRPr lang="en-US" sz="1200" dirty="0"/>
          </a:p>
          <a:p>
            <a:r>
              <a:rPr lang="en-US" sz="1100" b="1" dirty="0"/>
              <a:t>RIGHT [OUTER] JOIN - </a:t>
            </a:r>
            <a:r>
              <a:rPr lang="en-US" sz="1100" dirty="0"/>
              <a:t>Returns </a:t>
            </a:r>
            <a:r>
              <a:rPr lang="en-US" sz="1100" b="1" dirty="0"/>
              <a:t>all rows from the right table</a:t>
            </a:r>
            <a:r>
              <a:rPr lang="en-US" sz="1100" dirty="0"/>
              <a:t>, plus matches from the left.</a:t>
            </a:r>
          </a:p>
          <a:p>
            <a:endParaRPr lang="en-US" sz="1100" dirty="0"/>
          </a:p>
          <a:p>
            <a:pPr lvl="1"/>
            <a:r>
              <a:rPr lang="en-US" sz="1100" dirty="0"/>
              <a:t>SELECT *</a:t>
            </a:r>
          </a:p>
          <a:p>
            <a:pPr lvl="1"/>
            <a:r>
              <a:rPr lang="en-US" sz="1100" dirty="0"/>
              <a:t>FROM Team t</a:t>
            </a:r>
          </a:p>
          <a:p>
            <a:pPr lvl="1"/>
            <a:r>
              <a:rPr lang="en-US" sz="1100" b="1" dirty="0"/>
              <a:t>RIGHT JOIN </a:t>
            </a:r>
            <a:r>
              <a:rPr lang="en-US" sz="1100" dirty="0"/>
              <a:t>Stadium s ON </a:t>
            </a:r>
            <a:r>
              <a:rPr lang="en-US" sz="1100" dirty="0" err="1"/>
              <a:t>t.StadiumID</a:t>
            </a:r>
            <a:r>
              <a:rPr lang="en-US" sz="1100" dirty="0"/>
              <a:t> = </a:t>
            </a:r>
            <a:r>
              <a:rPr lang="en-US" sz="1100" dirty="0" err="1"/>
              <a:t>s.StadiumID</a:t>
            </a:r>
            <a:r>
              <a:rPr lang="en-US" sz="1100" dirty="0"/>
              <a:t>;</a:t>
            </a:r>
          </a:p>
          <a:p>
            <a:endParaRPr lang="en-US" sz="1100" dirty="0"/>
          </a:p>
          <a:p>
            <a:r>
              <a:rPr lang="en-US" sz="1100" b="1" dirty="0"/>
              <a:t>FULL OUTER JOIN</a:t>
            </a:r>
            <a:r>
              <a:rPr lang="en-US" sz="1100" dirty="0"/>
              <a:t> – Returns </a:t>
            </a:r>
            <a:r>
              <a:rPr lang="en-US" sz="1100" b="1" dirty="0"/>
              <a:t>all rows from both tables</a:t>
            </a:r>
            <a:r>
              <a:rPr lang="en-US" sz="1100" dirty="0"/>
              <a:t>, matched where possible.</a:t>
            </a:r>
          </a:p>
          <a:p>
            <a:endParaRPr lang="en-US" sz="1100" dirty="0"/>
          </a:p>
          <a:p>
            <a:pPr lvl="1"/>
            <a:r>
              <a:rPr lang="en-US" sz="1100" dirty="0"/>
              <a:t>SELECT *</a:t>
            </a:r>
          </a:p>
          <a:p>
            <a:pPr lvl="1"/>
            <a:r>
              <a:rPr lang="en-US" sz="1100" dirty="0"/>
              <a:t>FROM Team t</a:t>
            </a:r>
          </a:p>
          <a:p>
            <a:pPr lvl="1"/>
            <a:r>
              <a:rPr lang="en-US" sz="1100" b="1" dirty="0"/>
              <a:t>FULL OUTER JOIN </a:t>
            </a:r>
            <a:r>
              <a:rPr lang="en-US" sz="1100" dirty="0"/>
              <a:t>Stadium s ON </a:t>
            </a:r>
            <a:r>
              <a:rPr lang="en-US" sz="1100" dirty="0" err="1"/>
              <a:t>t.StadiumID</a:t>
            </a:r>
            <a:r>
              <a:rPr lang="en-US" sz="1100" dirty="0"/>
              <a:t> = </a:t>
            </a:r>
            <a:r>
              <a:rPr lang="en-US" sz="1100" dirty="0" err="1"/>
              <a:t>s.StadiumID</a:t>
            </a:r>
            <a:r>
              <a:rPr lang="en-US" sz="1100" dirty="0"/>
              <a:t>;</a:t>
            </a:r>
          </a:p>
          <a:p>
            <a:endParaRPr lang="en-US" sz="1100" dirty="0"/>
          </a:p>
          <a:p>
            <a:r>
              <a:rPr lang="en-US" sz="1100" b="1" dirty="0"/>
              <a:t>CROSS JOIN</a:t>
            </a:r>
            <a:r>
              <a:rPr lang="en-US" sz="1100" dirty="0"/>
              <a:t> - Returns </a:t>
            </a:r>
            <a:r>
              <a:rPr lang="en-US" sz="1100" b="1" dirty="0"/>
              <a:t>every combination </a:t>
            </a:r>
            <a:r>
              <a:rPr lang="en-US" sz="1100" dirty="0"/>
              <a:t>of rows.</a:t>
            </a:r>
          </a:p>
          <a:p>
            <a:endParaRPr lang="en-US" sz="1100" dirty="0"/>
          </a:p>
          <a:p>
            <a:pPr lvl="1"/>
            <a:r>
              <a:rPr lang="en-US" sz="1100" dirty="0"/>
              <a:t>SELECT *</a:t>
            </a:r>
          </a:p>
          <a:p>
            <a:pPr lvl="1"/>
            <a:r>
              <a:rPr lang="en-US" sz="1100" dirty="0"/>
              <a:t>FROM Team</a:t>
            </a:r>
          </a:p>
          <a:p>
            <a:pPr lvl="1"/>
            <a:r>
              <a:rPr lang="en-US" sz="1100" b="1" dirty="0"/>
              <a:t>CROSS JOIN </a:t>
            </a:r>
            <a:r>
              <a:rPr lang="en-US" sz="1100" dirty="0"/>
              <a:t>Stadium;</a:t>
            </a:r>
          </a:p>
          <a:p>
            <a:endParaRPr lang="en-US" sz="1100" dirty="0"/>
          </a:p>
          <a:p>
            <a:r>
              <a:rPr lang="en-US" sz="1100" b="1" dirty="0"/>
              <a:t>SELF JOIN</a:t>
            </a:r>
            <a:r>
              <a:rPr lang="en-US" sz="1100" dirty="0"/>
              <a:t> - A table joined to </a:t>
            </a:r>
            <a:r>
              <a:rPr lang="en-US" sz="1100" b="1" dirty="0"/>
              <a:t>itself</a:t>
            </a:r>
            <a:r>
              <a:rPr lang="en-US" sz="1100" dirty="0"/>
              <a:t>.</a:t>
            </a:r>
          </a:p>
          <a:p>
            <a:endParaRPr lang="en-US" sz="1100" dirty="0"/>
          </a:p>
          <a:p>
            <a:pPr lvl="1"/>
            <a:r>
              <a:rPr lang="en-US" sz="1100" dirty="0"/>
              <a:t>SELECT *</a:t>
            </a:r>
          </a:p>
          <a:p>
            <a:pPr lvl="1"/>
            <a:r>
              <a:rPr lang="en-US" sz="1100" dirty="0"/>
              <a:t>FROM </a:t>
            </a:r>
            <a:r>
              <a:rPr lang="en-US" sz="1100" b="1" dirty="0"/>
              <a:t>Employee</a:t>
            </a:r>
            <a:r>
              <a:rPr lang="en-US" sz="1100" dirty="0"/>
              <a:t> e1</a:t>
            </a:r>
          </a:p>
          <a:p>
            <a:pPr lvl="1"/>
            <a:r>
              <a:rPr lang="en-US" sz="1100" dirty="0"/>
              <a:t>JOIN </a:t>
            </a:r>
            <a:r>
              <a:rPr lang="en-US" sz="1100" b="1" dirty="0"/>
              <a:t>Employee</a:t>
            </a:r>
            <a:r>
              <a:rPr lang="en-US" sz="1100" dirty="0"/>
              <a:t> e2 ON e1.ManagerID = e2.EmployeeID;</a:t>
            </a:r>
          </a:p>
        </p:txBody>
      </p:sp>
    </p:spTree>
    <p:extLst>
      <p:ext uri="{BB962C8B-B14F-4D97-AF65-F5344CB8AC3E}">
        <p14:creationId xmlns:p14="http://schemas.microsoft.com/office/powerpoint/2010/main" val="3517934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FC0F-45E3-EE4B-E390-8BE2572D6D59}"/>
              </a:ext>
            </a:extLst>
          </p:cNvPr>
          <p:cNvSpPr>
            <a:spLocks noGrp="1"/>
          </p:cNvSpPr>
          <p:nvPr>
            <p:ph type="title"/>
          </p:nvPr>
        </p:nvSpPr>
        <p:spPr/>
        <p:txBody>
          <a:bodyPr>
            <a:normAutofit fontScale="90000"/>
          </a:bodyPr>
          <a:lstStyle/>
          <a:p>
            <a:r>
              <a:rPr lang="en-US" dirty="0"/>
              <a:t>Join Example</a:t>
            </a:r>
          </a:p>
        </p:txBody>
      </p:sp>
      <p:sp>
        <p:nvSpPr>
          <p:cNvPr id="3" name="Content Placeholder 2">
            <a:extLst>
              <a:ext uri="{FF2B5EF4-FFF2-40B4-BE49-F238E27FC236}">
                <a16:creationId xmlns:a16="http://schemas.microsoft.com/office/drawing/2014/main" id="{C3B3842C-0B88-6EF5-07AE-928A9CA69ACF}"/>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2979FE0-20D8-EA52-1D38-AD3C509249A6}"/>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6D8A1F3-A98C-E44B-445E-CFECC8F5722F}"/>
              </a:ext>
            </a:extLst>
          </p:cNvPr>
          <p:cNvSpPr>
            <a:spLocks noGrp="1"/>
          </p:cNvSpPr>
          <p:nvPr>
            <p:ph type="sldNum" sz="quarter" idx="12"/>
          </p:nvPr>
        </p:nvSpPr>
        <p:spPr/>
        <p:txBody>
          <a:bodyPr/>
          <a:lstStyle/>
          <a:p>
            <a:fld id="{F6C56E59-C124-411E-B3E7-95D014FC7158}" type="slidenum">
              <a:rPr lang="en-US" smtClean="0"/>
              <a:pPr/>
              <a:t>21</a:t>
            </a:fld>
            <a:endParaRPr lang="en-US"/>
          </a:p>
        </p:txBody>
      </p:sp>
      <p:sp>
        <p:nvSpPr>
          <p:cNvPr id="6" name="TextBox 5">
            <a:extLst>
              <a:ext uri="{FF2B5EF4-FFF2-40B4-BE49-F238E27FC236}">
                <a16:creationId xmlns:a16="http://schemas.microsoft.com/office/drawing/2014/main" id="{FDA59E4C-B1AF-1AF2-7853-C4110B5BD097}"/>
              </a:ext>
            </a:extLst>
          </p:cNvPr>
          <p:cNvSpPr txBox="1"/>
          <p:nvPr/>
        </p:nvSpPr>
        <p:spPr>
          <a:xfrm>
            <a:off x="3851142" y="1938643"/>
            <a:ext cx="4297775" cy="1015663"/>
          </a:xfrm>
          <a:prstGeom prst="rect">
            <a:avLst/>
          </a:prstGeom>
          <a:noFill/>
        </p:spPr>
        <p:txBody>
          <a:bodyPr wrap="square" rtlCol="0">
            <a:spAutoFit/>
          </a:bodyPr>
          <a:lstStyle/>
          <a:p>
            <a:r>
              <a:rPr lang="en-US" sz="1200" b="1" dirty="0"/>
              <a:t>SELECT</a:t>
            </a:r>
            <a:r>
              <a:rPr lang="en-US" sz="1200" dirty="0"/>
              <a:t> </a:t>
            </a:r>
            <a:r>
              <a:rPr lang="en-US" sz="1200" dirty="0" err="1"/>
              <a:t>t.Name</a:t>
            </a:r>
            <a:r>
              <a:rPr lang="en-US" sz="1200" dirty="0"/>
              <a:t>,</a:t>
            </a:r>
          </a:p>
          <a:p>
            <a:r>
              <a:rPr lang="en-US" sz="1200" dirty="0"/>
              <a:t>                 </a:t>
            </a:r>
            <a:r>
              <a:rPr lang="en-US" sz="1200" dirty="0" err="1"/>
              <a:t>p.FirstName</a:t>
            </a:r>
            <a:r>
              <a:rPr lang="en-US" sz="1200" dirty="0"/>
              <a:t> + ' ' + </a:t>
            </a:r>
            <a:r>
              <a:rPr lang="en-US" sz="1200" dirty="0" err="1"/>
              <a:t>p.LastName</a:t>
            </a:r>
            <a:r>
              <a:rPr lang="en-US" sz="1200" dirty="0"/>
              <a:t> as </a:t>
            </a:r>
            <a:r>
              <a:rPr lang="en-US" sz="1200" dirty="0" err="1"/>
              <a:t>FullName</a:t>
            </a:r>
            <a:endParaRPr lang="en-US" sz="1200" dirty="0"/>
          </a:p>
          <a:p>
            <a:r>
              <a:rPr lang="en-US" sz="1200" b="1" dirty="0"/>
              <a:t>FROM</a:t>
            </a:r>
            <a:r>
              <a:rPr lang="en-US" sz="1200" dirty="0"/>
              <a:t> </a:t>
            </a:r>
            <a:r>
              <a:rPr lang="en-US" sz="1200" dirty="0" err="1"/>
              <a:t>dbo.Team</a:t>
            </a:r>
            <a:r>
              <a:rPr lang="en-US" sz="1200" dirty="0"/>
              <a:t> t</a:t>
            </a:r>
          </a:p>
          <a:p>
            <a:r>
              <a:rPr lang="en-US" sz="1200" b="1" dirty="0"/>
              <a:t>LEFT JOIN </a:t>
            </a:r>
            <a:r>
              <a:rPr lang="en-US" sz="1200" dirty="0" err="1"/>
              <a:t>dbo.Player</a:t>
            </a:r>
            <a:r>
              <a:rPr lang="en-US" sz="1200" dirty="0"/>
              <a:t> p </a:t>
            </a:r>
            <a:r>
              <a:rPr lang="en-US" sz="1200" b="1" dirty="0"/>
              <a:t>ON</a:t>
            </a:r>
            <a:r>
              <a:rPr lang="en-US" sz="1200" dirty="0"/>
              <a:t> </a:t>
            </a:r>
            <a:r>
              <a:rPr lang="en-US" sz="1200" dirty="0" err="1"/>
              <a:t>p.TeamId</a:t>
            </a:r>
            <a:r>
              <a:rPr lang="en-US" sz="1200" dirty="0"/>
              <a:t> = </a:t>
            </a:r>
            <a:r>
              <a:rPr lang="en-US" sz="1200" dirty="0" err="1"/>
              <a:t>t.Id</a:t>
            </a:r>
            <a:endParaRPr lang="en-US" sz="1200" dirty="0"/>
          </a:p>
          <a:p>
            <a:r>
              <a:rPr lang="en-US" sz="1200" b="1" dirty="0"/>
              <a:t>ORDER BY </a:t>
            </a:r>
            <a:r>
              <a:rPr lang="en-US" sz="1200" dirty="0" err="1"/>
              <a:t>t.Name</a:t>
            </a:r>
            <a:r>
              <a:rPr lang="en-US" sz="1200" dirty="0"/>
              <a:t>;</a:t>
            </a:r>
          </a:p>
        </p:txBody>
      </p:sp>
      <p:pic>
        <p:nvPicPr>
          <p:cNvPr id="8" name="Picture 7" descr="A screenshot of a computer&#10;&#10;AI-generated content may be incorrect.">
            <a:extLst>
              <a:ext uri="{FF2B5EF4-FFF2-40B4-BE49-F238E27FC236}">
                <a16:creationId xmlns:a16="http://schemas.microsoft.com/office/drawing/2014/main" id="{05A5F937-4F61-0412-D094-461F5994D1A5}"/>
              </a:ext>
            </a:extLst>
          </p:cNvPr>
          <p:cNvPicPr>
            <a:picLocks noChangeAspect="1"/>
          </p:cNvPicPr>
          <p:nvPr/>
        </p:nvPicPr>
        <p:blipFill>
          <a:blip r:embed="rId2"/>
          <a:stretch>
            <a:fillRect/>
          </a:stretch>
        </p:blipFill>
        <p:spPr>
          <a:xfrm>
            <a:off x="4193485" y="3429000"/>
            <a:ext cx="2581635" cy="2010056"/>
          </a:xfrm>
          <a:prstGeom prst="rect">
            <a:avLst/>
          </a:prstGeom>
        </p:spPr>
      </p:pic>
    </p:spTree>
    <p:extLst>
      <p:ext uri="{BB962C8B-B14F-4D97-AF65-F5344CB8AC3E}">
        <p14:creationId xmlns:p14="http://schemas.microsoft.com/office/powerpoint/2010/main" val="4279563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EF58B-24F2-D541-F5C7-FD958DBE4233}"/>
              </a:ext>
            </a:extLst>
          </p:cNvPr>
          <p:cNvSpPr>
            <a:spLocks noGrp="1"/>
          </p:cNvSpPr>
          <p:nvPr>
            <p:ph type="title"/>
          </p:nvPr>
        </p:nvSpPr>
        <p:spPr/>
        <p:txBody>
          <a:bodyPr>
            <a:normAutofit fontScale="90000"/>
          </a:bodyPr>
          <a:lstStyle/>
          <a:p>
            <a:r>
              <a:rPr lang="en-US" dirty="0"/>
              <a:t>Insert a new row</a:t>
            </a:r>
          </a:p>
        </p:txBody>
      </p:sp>
      <p:sp>
        <p:nvSpPr>
          <p:cNvPr id="3" name="Content Placeholder 2">
            <a:extLst>
              <a:ext uri="{FF2B5EF4-FFF2-40B4-BE49-F238E27FC236}">
                <a16:creationId xmlns:a16="http://schemas.microsoft.com/office/drawing/2014/main" id="{46825755-BB17-CE4F-CF08-F81E2F24050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C1DA24F-A5E6-90B0-DBCB-249D1E9AA5E6}"/>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F668608D-74DC-6992-145E-86C39B79A696}"/>
              </a:ext>
            </a:extLst>
          </p:cNvPr>
          <p:cNvSpPr>
            <a:spLocks noGrp="1"/>
          </p:cNvSpPr>
          <p:nvPr>
            <p:ph type="sldNum" sz="quarter" idx="12"/>
          </p:nvPr>
        </p:nvSpPr>
        <p:spPr/>
        <p:txBody>
          <a:bodyPr/>
          <a:lstStyle/>
          <a:p>
            <a:fld id="{F6C56E59-C124-411E-B3E7-95D014FC7158}" type="slidenum">
              <a:rPr lang="en-US" smtClean="0"/>
              <a:pPr/>
              <a:t>22</a:t>
            </a:fld>
            <a:endParaRPr lang="en-US"/>
          </a:p>
        </p:txBody>
      </p:sp>
      <p:sp>
        <p:nvSpPr>
          <p:cNvPr id="6" name="TextBox 5">
            <a:extLst>
              <a:ext uri="{FF2B5EF4-FFF2-40B4-BE49-F238E27FC236}">
                <a16:creationId xmlns:a16="http://schemas.microsoft.com/office/drawing/2014/main" id="{0F1EC189-A3F9-EC5F-A3E2-7BA61CC510B7}"/>
              </a:ext>
            </a:extLst>
          </p:cNvPr>
          <p:cNvSpPr txBox="1"/>
          <p:nvPr/>
        </p:nvSpPr>
        <p:spPr>
          <a:xfrm>
            <a:off x="3794790" y="1767155"/>
            <a:ext cx="3379026" cy="3785652"/>
          </a:xfrm>
          <a:prstGeom prst="rect">
            <a:avLst/>
          </a:prstGeom>
          <a:noFill/>
        </p:spPr>
        <p:txBody>
          <a:bodyPr wrap="square" rtlCol="0">
            <a:spAutoFit/>
          </a:bodyPr>
          <a:lstStyle/>
          <a:p>
            <a:r>
              <a:rPr lang="en-US" sz="1200" b="1" dirty="0"/>
              <a:t>INSERT INTO</a:t>
            </a:r>
            <a:r>
              <a:rPr lang="en-US" sz="1200" dirty="0"/>
              <a:t> </a:t>
            </a:r>
            <a:r>
              <a:rPr lang="en-US" sz="1200" dirty="0" err="1"/>
              <a:t>dbo.Team</a:t>
            </a:r>
            <a:r>
              <a:rPr lang="en-US" sz="1200" dirty="0"/>
              <a:t> (Name,		                     City,</a:t>
            </a:r>
          </a:p>
          <a:p>
            <a:r>
              <a:rPr lang="en-US" sz="1200" dirty="0"/>
              <a:t>	                     Country,</a:t>
            </a:r>
          </a:p>
          <a:p>
            <a:r>
              <a:rPr lang="en-US" sz="1200" dirty="0"/>
              <a:t>	                     </a:t>
            </a:r>
            <a:r>
              <a:rPr lang="en-US" sz="1200" dirty="0" err="1"/>
              <a:t>HomeStadiumId</a:t>
            </a:r>
            <a:r>
              <a:rPr lang="en-US" sz="1200" dirty="0"/>
              <a:t>,</a:t>
            </a:r>
          </a:p>
          <a:p>
            <a:r>
              <a:rPr lang="en-US" sz="1200" dirty="0"/>
              <a:t>	                     </a:t>
            </a:r>
            <a:r>
              <a:rPr lang="en-US" sz="1200" dirty="0" err="1"/>
              <a:t>FoundedDate</a:t>
            </a:r>
            <a:r>
              <a:rPr lang="en-US" sz="1200" dirty="0"/>
              <a:t>,</a:t>
            </a:r>
          </a:p>
          <a:p>
            <a:r>
              <a:rPr lang="en-US" sz="1200" dirty="0"/>
              <a:t>	                     </a:t>
            </a:r>
            <a:r>
              <a:rPr lang="en-US" sz="1200" dirty="0" err="1"/>
              <a:t>CoachName</a:t>
            </a:r>
            <a:r>
              <a:rPr lang="en-US" sz="1200" dirty="0"/>
              <a:t>,</a:t>
            </a:r>
          </a:p>
          <a:p>
            <a:r>
              <a:rPr lang="en-US" sz="1200" dirty="0"/>
              <a:t>	                     Mascot,</a:t>
            </a:r>
          </a:p>
          <a:p>
            <a:r>
              <a:rPr lang="en-US" sz="1200" dirty="0"/>
              <a:t>	                     Colors,</a:t>
            </a:r>
          </a:p>
          <a:p>
            <a:r>
              <a:rPr lang="en-US" sz="1200" dirty="0"/>
              <a:t>	                     </a:t>
            </a:r>
            <a:r>
              <a:rPr lang="en-US" sz="1200" dirty="0" err="1"/>
              <a:t>ChampionshipCount</a:t>
            </a:r>
            <a:r>
              <a:rPr lang="en-US" sz="1200" dirty="0"/>
              <a:t>,</a:t>
            </a:r>
          </a:p>
          <a:p>
            <a:r>
              <a:rPr lang="en-US" sz="1200" dirty="0"/>
              <a:t>	                     </a:t>
            </a:r>
            <a:r>
              <a:rPr lang="en-US" sz="1200" dirty="0" err="1"/>
              <a:t>IsActive</a:t>
            </a:r>
            <a:r>
              <a:rPr lang="en-US" sz="1200" dirty="0"/>
              <a:t>)</a:t>
            </a:r>
          </a:p>
          <a:p>
            <a:r>
              <a:rPr lang="en-US" sz="1200" b="1" dirty="0"/>
              <a:t>VALUES</a:t>
            </a:r>
            <a:r>
              <a:rPr lang="en-US" sz="1200" dirty="0"/>
              <a:t> ('Red Rockers’,</a:t>
            </a:r>
          </a:p>
          <a:p>
            <a:r>
              <a:rPr lang="en-US" sz="1200" dirty="0"/>
              <a:t>                   'Phoenix’,</a:t>
            </a:r>
          </a:p>
          <a:p>
            <a:r>
              <a:rPr lang="en-US" sz="1200" dirty="0"/>
              <a:t>                    'US’,</a:t>
            </a:r>
          </a:p>
          <a:p>
            <a:r>
              <a:rPr lang="en-US" sz="1200" dirty="0"/>
              <a:t>                    1,</a:t>
            </a:r>
          </a:p>
          <a:p>
            <a:r>
              <a:rPr lang="en-US" sz="1200" dirty="0"/>
              <a:t>                    '1999-05-01’,</a:t>
            </a:r>
          </a:p>
          <a:p>
            <a:r>
              <a:rPr lang="en-US" sz="1200" dirty="0"/>
              <a:t>                    'Alex Mercer’,</a:t>
            </a:r>
          </a:p>
          <a:p>
            <a:r>
              <a:rPr lang="en-US" sz="1200" dirty="0"/>
              <a:t>                    'Rocky’,</a:t>
            </a:r>
          </a:p>
          <a:p>
            <a:r>
              <a:rPr lang="en-US" sz="1200" dirty="0"/>
              <a:t>                    'Red/Black’,</a:t>
            </a:r>
          </a:p>
          <a:p>
            <a:r>
              <a:rPr lang="en-US" sz="1200" dirty="0"/>
              <a:t>                    2,</a:t>
            </a:r>
          </a:p>
          <a:p>
            <a:r>
              <a:rPr lang="en-US" sz="1200" dirty="0"/>
              <a:t>                    1)</a:t>
            </a:r>
          </a:p>
        </p:txBody>
      </p:sp>
    </p:spTree>
    <p:extLst>
      <p:ext uri="{BB962C8B-B14F-4D97-AF65-F5344CB8AC3E}">
        <p14:creationId xmlns:p14="http://schemas.microsoft.com/office/powerpoint/2010/main" val="1912185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E102-7A48-4E19-3C10-DCAC102A0E2F}"/>
              </a:ext>
            </a:extLst>
          </p:cNvPr>
          <p:cNvSpPr>
            <a:spLocks noGrp="1"/>
          </p:cNvSpPr>
          <p:nvPr>
            <p:ph type="title"/>
          </p:nvPr>
        </p:nvSpPr>
        <p:spPr/>
        <p:txBody>
          <a:bodyPr>
            <a:normAutofit fontScale="90000"/>
          </a:bodyPr>
          <a:lstStyle/>
          <a:p>
            <a:r>
              <a:rPr lang="en-US" dirty="0"/>
              <a:t>Update row</a:t>
            </a:r>
          </a:p>
        </p:txBody>
      </p:sp>
      <p:sp>
        <p:nvSpPr>
          <p:cNvPr id="3" name="Content Placeholder 2">
            <a:extLst>
              <a:ext uri="{FF2B5EF4-FFF2-40B4-BE49-F238E27FC236}">
                <a16:creationId xmlns:a16="http://schemas.microsoft.com/office/drawing/2014/main" id="{345346A8-F7A2-9B9F-53E1-387E4F5C729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3931316-CD71-3C36-ED64-FA1EC7CA79E8}"/>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7472F99-4004-A569-0966-84B33172FD1C}"/>
              </a:ext>
            </a:extLst>
          </p:cNvPr>
          <p:cNvSpPr>
            <a:spLocks noGrp="1"/>
          </p:cNvSpPr>
          <p:nvPr>
            <p:ph type="sldNum" sz="quarter" idx="12"/>
          </p:nvPr>
        </p:nvSpPr>
        <p:spPr/>
        <p:txBody>
          <a:bodyPr/>
          <a:lstStyle/>
          <a:p>
            <a:fld id="{F6C56E59-C124-411E-B3E7-95D014FC7158}" type="slidenum">
              <a:rPr lang="en-US" smtClean="0"/>
              <a:pPr/>
              <a:t>23</a:t>
            </a:fld>
            <a:endParaRPr lang="en-US"/>
          </a:p>
        </p:txBody>
      </p:sp>
      <p:sp>
        <p:nvSpPr>
          <p:cNvPr id="6" name="TextBox 5">
            <a:extLst>
              <a:ext uri="{FF2B5EF4-FFF2-40B4-BE49-F238E27FC236}">
                <a16:creationId xmlns:a16="http://schemas.microsoft.com/office/drawing/2014/main" id="{678DEE59-2E0E-96D0-3A4E-916EC95EEF89}"/>
              </a:ext>
            </a:extLst>
          </p:cNvPr>
          <p:cNvSpPr txBox="1"/>
          <p:nvPr/>
        </p:nvSpPr>
        <p:spPr>
          <a:xfrm>
            <a:off x="5214336" y="2206426"/>
            <a:ext cx="1763328" cy="646331"/>
          </a:xfrm>
          <a:prstGeom prst="rect">
            <a:avLst/>
          </a:prstGeom>
          <a:noFill/>
        </p:spPr>
        <p:txBody>
          <a:bodyPr wrap="square" rtlCol="0">
            <a:spAutoFit/>
          </a:bodyPr>
          <a:lstStyle/>
          <a:p>
            <a:r>
              <a:rPr lang="en-US" sz="1200" b="1" dirty="0"/>
              <a:t>UPDATE</a:t>
            </a:r>
            <a:r>
              <a:rPr lang="en-US" sz="1200" dirty="0"/>
              <a:t> Player</a:t>
            </a:r>
          </a:p>
          <a:p>
            <a:r>
              <a:rPr lang="en-US" sz="1200" b="1" dirty="0"/>
              <a:t>SET</a:t>
            </a:r>
            <a:r>
              <a:rPr lang="en-US" sz="1200" dirty="0"/>
              <a:t> LastName = ‘Jones’</a:t>
            </a:r>
          </a:p>
          <a:p>
            <a:r>
              <a:rPr lang="en-US" sz="1200" b="1" dirty="0"/>
              <a:t>WHERE</a:t>
            </a:r>
            <a:r>
              <a:rPr lang="en-US" sz="1200" dirty="0"/>
              <a:t> Id = 26;</a:t>
            </a:r>
          </a:p>
        </p:txBody>
      </p:sp>
    </p:spTree>
    <p:extLst>
      <p:ext uri="{BB962C8B-B14F-4D97-AF65-F5344CB8AC3E}">
        <p14:creationId xmlns:p14="http://schemas.microsoft.com/office/powerpoint/2010/main" val="3663960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5AFE1-10FF-2D01-B227-2AD6921C03AF}"/>
              </a:ext>
            </a:extLst>
          </p:cNvPr>
          <p:cNvSpPr>
            <a:spLocks noGrp="1"/>
          </p:cNvSpPr>
          <p:nvPr>
            <p:ph type="title"/>
          </p:nvPr>
        </p:nvSpPr>
        <p:spPr/>
        <p:txBody>
          <a:bodyPr>
            <a:normAutofit fontScale="90000"/>
          </a:bodyPr>
          <a:lstStyle/>
          <a:p>
            <a:r>
              <a:rPr lang="en-US" dirty="0"/>
              <a:t>Delete a Row</a:t>
            </a:r>
          </a:p>
        </p:txBody>
      </p:sp>
      <p:sp>
        <p:nvSpPr>
          <p:cNvPr id="3" name="Content Placeholder 2">
            <a:extLst>
              <a:ext uri="{FF2B5EF4-FFF2-40B4-BE49-F238E27FC236}">
                <a16:creationId xmlns:a16="http://schemas.microsoft.com/office/drawing/2014/main" id="{70C745ED-A212-2156-1AB5-D599154C2878}"/>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DF6535C4-6EA0-CDF7-631E-84626BDD53B8}"/>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08BE7531-0248-7AD0-277F-373E01B2BDA7}"/>
              </a:ext>
            </a:extLst>
          </p:cNvPr>
          <p:cNvSpPr>
            <a:spLocks noGrp="1"/>
          </p:cNvSpPr>
          <p:nvPr>
            <p:ph type="sldNum" sz="quarter" idx="12"/>
          </p:nvPr>
        </p:nvSpPr>
        <p:spPr/>
        <p:txBody>
          <a:bodyPr/>
          <a:lstStyle/>
          <a:p>
            <a:fld id="{F6C56E59-C124-411E-B3E7-95D014FC7158}" type="slidenum">
              <a:rPr lang="en-US" smtClean="0"/>
              <a:pPr/>
              <a:t>24</a:t>
            </a:fld>
            <a:endParaRPr lang="en-US"/>
          </a:p>
        </p:txBody>
      </p:sp>
      <p:sp>
        <p:nvSpPr>
          <p:cNvPr id="6" name="TextBox 5">
            <a:extLst>
              <a:ext uri="{FF2B5EF4-FFF2-40B4-BE49-F238E27FC236}">
                <a16:creationId xmlns:a16="http://schemas.microsoft.com/office/drawing/2014/main" id="{BEEE4CB0-B12C-7161-C0EF-A1C763D69ECD}"/>
              </a:ext>
            </a:extLst>
          </p:cNvPr>
          <p:cNvSpPr txBox="1"/>
          <p:nvPr/>
        </p:nvSpPr>
        <p:spPr>
          <a:xfrm>
            <a:off x="5214336" y="2206426"/>
            <a:ext cx="1763328" cy="461665"/>
          </a:xfrm>
          <a:prstGeom prst="rect">
            <a:avLst/>
          </a:prstGeom>
          <a:noFill/>
        </p:spPr>
        <p:txBody>
          <a:bodyPr wrap="square" rtlCol="0">
            <a:spAutoFit/>
          </a:bodyPr>
          <a:lstStyle/>
          <a:p>
            <a:r>
              <a:rPr lang="en-US" sz="1200" b="1" dirty="0"/>
              <a:t>DELETE FROM</a:t>
            </a:r>
            <a:r>
              <a:rPr lang="en-US" sz="1200" dirty="0"/>
              <a:t> Player</a:t>
            </a:r>
          </a:p>
          <a:p>
            <a:r>
              <a:rPr lang="en-US" sz="1200" b="1" dirty="0"/>
              <a:t>WHERE</a:t>
            </a:r>
            <a:r>
              <a:rPr lang="en-US" sz="1200" dirty="0"/>
              <a:t> Id = 26;</a:t>
            </a:r>
          </a:p>
        </p:txBody>
      </p:sp>
    </p:spTree>
    <p:extLst>
      <p:ext uri="{BB962C8B-B14F-4D97-AF65-F5344CB8AC3E}">
        <p14:creationId xmlns:p14="http://schemas.microsoft.com/office/powerpoint/2010/main" val="3227122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5BA3D-78AC-EFE3-774A-B52E37997F67}"/>
              </a:ext>
            </a:extLst>
          </p:cNvPr>
          <p:cNvSpPr>
            <a:spLocks noGrp="1"/>
          </p:cNvSpPr>
          <p:nvPr>
            <p:ph type="title"/>
          </p:nvPr>
        </p:nvSpPr>
        <p:spPr/>
        <p:txBody>
          <a:bodyPr>
            <a:normAutofit fontScale="90000"/>
          </a:bodyPr>
          <a:lstStyle/>
          <a:p>
            <a:r>
              <a:rPr lang="en-US" dirty="0"/>
              <a:t>Comments</a:t>
            </a:r>
          </a:p>
        </p:txBody>
      </p:sp>
      <p:sp>
        <p:nvSpPr>
          <p:cNvPr id="3" name="Content Placeholder 2">
            <a:extLst>
              <a:ext uri="{FF2B5EF4-FFF2-40B4-BE49-F238E27FC236}">
                <a16:creationId xmlns:a16="http://schemas.microsoft.com/office/drawing/2014/main" id="{9ADA4885-5CD7-72D9-F44B-D3993C8F3F13}"/>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B8A76726-E4DC-1257-18B4-A2187DCEC3F5}"/>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15C63AAF-3A01-9E38-4FF6-863A7631A48A}"/>
              </a:ext>
            </a:extLst>
          </p:cNvPr>
          <p:cNvSpPr>
            <a:spLocks noGrp="1"/>
          </p:cNvSpPr>
          <p:nvPr>
            <p:ph type="sldNum" sz="quarter" idx="12"/>
          </p:nvPr>
        </p:nvSpPr>
        <p:spPr/>
        <p:txBody>
          <a:bodyPr/>
          <a:lstStyle/>
          <a:p>
            <a:fld id="{F6C56E59-C124-411E-B3E7-95D014FC7158}" type="slidenum">
              <a:rPr lang="en-US" smtClean="0"/>
              <a:pPr/>
              <a:t>25</a:t>
            </a:fld>
            <a:endParaRPr lang="en-US"/>
          </a:p>
        </p:txBody>
      </p:sp>
      <p:sp>
        <p:nvSpPr>
          <p:cNvPr id="6" name="TextBox 5">
            <a:extLst>
              <a:ext uri="{FF2B5EF4-FFF2-40B4-BE49-F238E27FC236}">
                <a16:creationId xmlns:a16="http://schemas.microsoft.com/office/drawing/2014/main" id="{55A7D834-7F2F-562F-6F6B-1917FFA6150C}"/>
              </a:ext>
            </a:extLst>
          </p:cNvPr>
          <p:cNvSpPr txBox="1"/>
          <p:nvPr/>
        </p:nvSpPr>
        <p:spPr>
          <a:xfrm>
            <a:off x="3951795" y="1508086"/>
            <a:ext cx="4302391" cy="2739211"/>
          </a:xfrm>
          <a:prstGeom prst="rect">
            <a:avLst/>
          </a:prstGeom>
          <a:noFill/>
        </p:spPr>
        <p:txBody>
          <a:bodyPr wrap="square" rtlCol="0">
            <a:spAutoFit/>
          </a:bodyPr>
          <a:lstStyle/>
          <a:p>
            <a:endParaRPr lang="en-US" sz="1200" dirty="0"/>
          </a:p>
          <a:p>
            <a:r>
              <a:rPr lang="en-US" sz="1400" b="1" dirty="0"/>
              <a:t>Line Comment</a:t>
            </a:r>
          </a:p>
          <a:p>
            <a:endParaRPr lang="en-US" sz="1200" b="1" dirty="0"/>
          </a:p>
          <a:p>
            <a:r>
              <a:rPr lang="en-US" sz="1200" dirty="0"/>
              <a:t>-- Two dashes before every line comment out that single line</a:t>
            </a:r>
          </a:p>
          <a:p>
            <a:endParaRPr lang="en-US" sz="1200" b="1" dirty="0"/>
          </a:p>
          <a:p>
            <a:endParaRPr lang="en-US" sz="1200" b="1" dirty="0"/>
          </a:p>
          <a:p>
            <a:r>
              <a:rPr lang="en-US" sz="1400" b="1" dirty="0"/>
              <a:t>Block Comment</a:t>
            </a:r>
          </a:p>
          <a:p>
            <a:endParaRPr lang="en-US" sz="1200" b="1" dirty="0"/>
          </a:p>
          <a:p>
            <a:r>
              <a:rPr lang="en-US" sz="1200" dirty="0"/>
              <a:t>/*</a:t>
            </a:r>
          </a:p>
          <a:p>
            <a:r>
              <a:rPr lang="en-US" sz="1200" dirty="0"/>
              <a:t>Sometimes we need to have very lengthy descriptions that</a:t>
            </a:r>
          </a:p>
          <a:p>
            <a:r>
              <a:rPr lang="en-US" sz="1200" dirty="0"/>
              <a:t>Take up many lines.</a:t>
            </a:r>
          </a:p>
          <a:p>
            <a:endParaRPr lang="en-US" sz="1200" dirty="0"/>
          </a:p>
          <a:p>
            <a:r>
              <a:rPr lang="en-US" sz="1200" dirty="0"/>
              <a:t>So many lines that have dashes</a:t>
            </a:r>
          </a:p>
          <a:p>
            <a:r>
              <a:rPr lang="en-US" sz="1200" dirty="0"/>
              <a:t>*/</a:t>
            </a:r>
          </a:p>
        </p:txBody>
      </p:sp>
    </p:spTree>
    <p:extLst>
      <p:ext uri="{BB962C8B-B14F-4D97-AF65-F5344CB8AC3E}">
        <p14:creationId xmlns:p14="http://schemas.microsoft.com/office/powerpoint/2010/main" val="1040724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557A5-E4D7-D9E0-18A2-D384917DE8F6}"/>
              </a:ext>
            </a:extLst>
          </p:cNvPr>
          <p:cNvSpPr>
            <a:spLocks noGrp="1"/>
          </p:cNvSpPr>
          <p:nvPr>
            <p:ph type="title"/>
          </p:nvPr>
        </p:nvSpPr>
        <p:spPr/>
        <p:txBody>
          <a:bodyPr/>
          <a:lstStyle/>
          <a:p>
            <a:r>
              <a:rPr lang="en-US" dirty="0"/>
              <a:t>SQL Server Management Studio</a:t>
            </a:r>
          </a:p>
        </p:txBody>
      </p:sp>
      <p:sp>
        <p:nvSpPr>
          <p:cNvPr id="3" name="Text Placeholder 2">
            <a:extLst>
              <a:ext uri="{FF2B5EF4-FFF2-40B4-BE49-F238E27FC236}">
                <a16:creationId xmlns:a16="http://schemas.microsoft.com/office/drawing/2014/main" id="{F8ACC3CD-5948-436B-41F3-3F08C730AF5D}"/>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BE0DDABF-14A1-DB6A-764B-43B094088DCF}"/>
              </a:ext>
            </a:extLst>
          </p:cNvPr>
          <p:cNvSpPr>
            <a:spLocks noGrp="1"/>
          </p:cNvSpPr>
          <p:nvPr>
            <p:ph type="dt" sz="half" idx="10"/>
          </p:nvPr>
        </p:nvSpPr>
        <p:spPr/>
        <p:txBody>
          <a:bodyPr/>
          <a:lstStyle/>
          <a:p>
            <a:fld id="{2913C182-2752-4C8A-971A-A0E34A11F99A}" type="datetime1">
              <a:rPr lang="en-US" smtClean="0"/>
              <a:t>1/10/2026</a:t>
            </a:fld>
            <a:endParaRPr lang="en-US"/>
          </a:p>
        </p:txBody>
      </p:sp>
      <p:sp>
        <p:nvSpPr>
          <p:cNvPr id="5" name="Slide Number Placeholder 4">
            <a:extLst>
              <a:ext uri="{FF2B5EF4-FFF2-40B4-BE49-F238E27FC236}">
                <a16:creationId xmlns:a16="http://schemas.microsoft.com/office/drawing/2014/main" id="{FA876845-2AB8-D171-30CB-8B2826842737}"/>
              </a:ext>
            </a:extLst>
          </p:cNvPr>
          <p:cNvSpPr>
            <a:spLocks noGrp="1"/>
          </p:cNvSpPr>
          <p:nvPr>
            <p:ph type="sldNum" sz="quarter" idx="12"/>
          </p:nvPr>
        </p:nvSpPr>
        <p:spPr/>
        <p:txBody>
          <a:bodyPr/>
          <a:lstStyle/>
          <a:p>
            <a:fld id="{F6C56E59-C124-411E-B3E7-95D014FC7158}" type="slidenum">
              <a:rPr lang="en-US" smtClean="0"/>
              <a:pPr/>
              <a:t>26</a:t>
            </a:fld>
            <a:endParaRPr lang="en-US"/>
          </a:p>
        </p:txBody>
      </p:sp>
    </p:spTree>
    <p:extLst>
      <p:ext uri="{BB962C8B-B14F-4D97-AF65-F5344CB8AC3E}">
        <p14:creationId xmlns:p14="http://schemas.microsoft.com/office/powerpoint/2010/main" val="747445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E85B8-1FEA-4E38-F58A-C292B7244034}"/>
              </a:ext>
            </a:extLst>
          </p:cNvPr>
          <p:cNvSpPr>
            <a:spLocks noGrp="1"/>
          </p:cNvSpPr>
          <p:nvPr>
            <p:ph type="title"/>
          </p:nvPr>
        </p:nvSpPr>
        <p:spPr/>
        <p:txBody>
          <a:bodyPr>
            <a:normAutofit fontScale="90000"/>
          </a:bodyPr>
          <a:lstStyle/>
          <a:p>
            <a:r>
              <a:rPr lang="en-US" dirty="0"/>
              <a:t>How to Connect to Database Server</a:t>
            </a:r>
          </a:p>
        </p:txBody>
      </p:sp>
      <p:sp>
        <p:nvSpPr>
          <p:cNvPr id="3" name="Content Placeholder 2">
            <a:extLst>
              <a:ext uri="{FF2B5EF4-FFF2-40B4-BE49-F238E27FC236}">
                <a16:creationId xmlns:a16="http://schemas.microsoft.com/office/drawing/2014/main" id="{51667C5D-2C7A-F9B3-600D-0CBAEAE6002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4311843-C6EE-A65E-8BE4-AF5AF862106C}"/>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A104F015-D00E-F671-2758-AAC6DF9C2E8C}"/>
              </a:ext>
            </a:extLst>
          </p:cNvPr>
          <p:cNvSpPr>
            <a:spLocks noGrp="1"/>
          </p:cNvSpPr>
          <p:nvPr>
            <p:ph type="sldNum" sz="quarter" idx="12"/>
          </p:nvPr>
        </p:nvSpPr>
        <p:spPr/>
        <p:txBody>
          <a:bodyPr/>
          <a:lstStyle/>
          <a:p>
            <a:fld id="{F6C56E59-C124-411E-B3E7-95D014FC7158}" type="slidenum">
              <a:rPr lang="en-US" smtClean="0"/>
              <a:pPr/>
              <a:t>27</a:t>
            </a:fld>
            <a:endParaRPr lang="en-US"/>
          </a:p>
        </p:txBody>
      </p:sp>
      <p:pic>
        <p:nvPicPr>
          <p:cNvPr id="7" name="Picture 6" descr="A screenshot of a computer&#10;&#10;AI-generated content may be incorrect.">
            <a:extLst>
              <a:ext uri="{FF2B5EF4-FFF2-40B4-BE49-F238E27FC236}">
                <a16:creationId xmlns:a16="http://schemas.microsoft.com/office/drawing/2014/main" id="{DD5A176B-502E-9FE8-4C4E-49702FE0BA2A}"/>
              </a:ext>
            </a:extLst>
          </p:cNvPr>
          <p:cNvPicPr>
            <a:picLocks noChangeAspect="1"/>
          </p:cNvPicPr>
          <p:nvPr/>
        </p:nvPicPr>
        <p:blipFill>
          <a:blip r:embed="rId2"/>
          <a:stretch>
            <a:fillRect/>
          </a:stretch>
        </p:blipFill>
        <p:spPr>
          <a:xfrm>
            <a:off x="7579781" y="1702562"/>
            <a:ext cx="3612532" cy="391483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230AF1D-906A-E805-C101-912F74B4348A}"/>
              </a:ext>
            </a:extLst>
          </p:cNvPr>
          <p:cNvPicPr>
            <a:picLocks noChangeAspect="1"/>
          </p:cNvPicPr>
          <p:nvPr/>
        </p:nvPicPr>
        <p:blipFill>
          <a:blip r:embed="rId3"/>
          <a:stretch>
            <a:fillRect/>
          </a:stretch>
        </p:blipFill>
        <p:spPr>
          <a:xfrm>
            <a:off x="1223332" y="1839766"/>
            <a:ext cx="5029902" cy="3429479"/>
          </a:xfrm>
          <a:prstGeom prst="rect">
            <a:avLst/>
          </a:prstGeom>
        </p:spPr>
      </p:pic>
    </p:spTree>
    <p:extLst>
      <p:ext uri="{BB962C8B-B14F-4D97-AF65-F5344CB8AC3E}">
        <p14:creationId xmlns:p14="http://schemas.microsoft.com/office/powerpoint/2010/main" val="1358005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296D7-91FA-C9EB-9D5F-1CF188CFFCAB}"/>
              </a:ext>
            </a:extLst>
          </p:cNvPr>
          <p:cNvSpPr>
            <a:spLocks noGrp="1"/>
          </p:cNvSpPr>
          <p:nvPr>
            <p:ph type="title"/>
          </p:nvPr>
        </p:nvSpPr>
        <p:spPr/>
        <p:txBody>
          <a:bodyPr>
            <a:normAutofit fontScale="90000"/>
          </a:bodyPr>
          <a:lstStyle/>
          <a:p>
            <a:r>
              <a:rPr lang="en-US" dirty="0"/>
              <a:t>Navigating with SSMS</a:t>
            </a:r>
          </a:p>
        </p:txBody>
      </p:sp>
      <p:sp>
        <p:nvSpPr>
          <p:cNvPr id="3" name="Content Placeholder 2">
            <a:extLst>
              <a:ext uri="{FF2B5EF4-FFF2-40B4-BE49-F238E27FC236}">
                <a16:creationId xmlns:a16="http://schemas.microsoft.com/office/drawing/2014/main" id="{A3DCA16D-197A-5209-8ECC-793BDFBBFCB0}"/>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E04BC195-0923-9515-E01C-21FB8F765E60}"/>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B85444E6-306C-4349-1639-99DDCC25BF18}"/>
              </a:ext>
            </a:extLst>
          </p:cNvPr>
          <p:cNvSpPr>
            <a:spLocks noGrp="1"/>
          </p:cNvSpPr>
          <p:nvPr>
            <p:ph type="sldNum" sz="quarter" idx="12"/>
          </p:nvPr>
        </p:nvSpPr>
        <p:spPr/>
        <p:txBody>
          <a:bodyPr/>
          <a:lstStyle/>
          <a:p>
            <a:fld id="{F6C56E59-C124-411E-B3E7-95D014FC7158}" type="slidenum">
              <a:rPr lang="en-US" smtClean="0"/>
              <a:pPr/>
              <a:t>28</a:t>
            </a:fld>
            <a:endParaRPr lang="en-US"/>
          </a:p>
        </p:txBody>
      </p:sp>
      <p:pic>
        <p:nvPicPr>
          <p:cNvPr id="13" name="Picture 12" descr="A screenshot of a computer">
            <a:extLst>
              <a:ext uri="{FF2B5EF4-FFF2-40B4-BE49-F238E27FC236}">
                <a16:creationId xmlns:a16="http://schemas.microsoft.com/office/drawing/2014/main" id="{FCAAF4D8-A816-5493-C231-462E9B21F452}"/>
              </a:ext>
            </a:extLst>
          </p:cNvPr>
          <p:cNvPicPr>
            <a:picLocks noChangeAspect="1"/>
          </p:cNvPicPr>
          <p:nvPr/>
        </p:nvPicPr>
        <p:blipFill>
          <a:blip r:embed="rId2"/>
          <a:stretch>
            <a:fillRect/>
          </a:stretch>
        </p:blipFill>
        <p:spPr>
          <a:xfrm>
            <a:off x="2436520" y="1343627"/>
            <a:ext cx="7318959" cy="4632707"/>
          </a:xfrm>
          <a:prstGeom prst="rect">
            <a:avLst/>
          </a:prstGeom>
        </p:spPr>
      </p:pic>
    </p:spTree>
    <p:extLst>
      <p:ext uri="{BB962C8B-B14F-4D97-AF65-F5344CB8AC3E}">
        <p14:creationId xmlns:p14="http://schemas.microsoft.com/office/powerpoint/2010/main" val="3553295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7E73-ECCC-CC16-4AE6-734625CDA6CC}"/>
              </a:ext>
            </a:extLst>
          </p:cNvPr>
          <p:cNvSpPr>
            <a:spLocks noGrp="1"/>
          </p:cNvSpPr>
          <p:nvPr>
            <p:ph type="title"/>
          </p:nvPr>
        </p:nvSpPr>
        <p:spPr/>
        <p:txBody>
          <a:bodyPr>
            <a:normAutofit fontScale="90000"/>
          </a:bodyPr>
          <a:lstStyle/>
          <a:p>
            <a:r>
              <a:rPr lang="en-US" dirty="0"/>
              <a:t>Entity Relationship Diagrams (ERD)</a:t>
            </a:r>
          </a:p>
        </p:txBody>
      </p:sp>
      <p:sp>
        <p:nvSpPr>
          <p:cNvPr id="3" name="Content Placeholder 2">
            <a:extLst>
              <a:ext uri="{FF2B5EF4-FFF2-40B4-BE49-F238E27FC236}">
                <a16:creationId xmlns:a16="http://schemas.microsoft.com/office/drawing/2014/main" id="{D56F48DB-2DDE-CE4B-8AB0-EFA1854355C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12FCC14-8168-2DE1-5FDA-1E839EB0A7E2}"/>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D077FFF9-7365-DA85-3CA5-9BB74391F612}"/>
              </a:ext>
            </a:extLst>
          </p:cNvPr>
          <p:cNvSpPr>
            <a:spLocks noGrp="1"/>
          </p:cNvSpPr>
          <p:nvPr>
            <p:ph type="sldNum" sz="quarter" idx="12"/>
          </p:nvPr>
        </p:nvSpPr>
        <p:spPr/>
        <p:txBody>
          <a:bodyPr/>
          <a:lstStyle/>
          <a:p>
            <a:fld id="{F6C56E59-C124-411E-B3E7-95D014FC7158}" type="slidenum">
              <a:rPr lang="en-US" smtClean="0"/>
              <a:pPr/>
              <a:t>29</a:t>
            </a:fld>
            <a:endParaRPr lang="en-US"/>
          </a:p>
        </p:txBody>
      </p:sp>
      <p:pic>
        <p:nvPicPr>
          <p:cNvPr id="7" name="Picture 6" descr="A screenshot of a computer&#10;&#10;AI-generated content may be incorrect.">
            <a:extLst>
              <a:ext uri="{FF2B5EF4-FFF2-40B4-BE49-F238E27FC236}">
                <a16:creationId xmlns:a16="http://schemas.microsoft.com/office/drawing/2014/main" id="{0EE72E1E-DF46-537B-A972-41C4AB0F0376}"/>
              </a:ext>
            </a:extLst>
          </p:cNvPr>
          <p:cNvPicPr>
            <a:picLocks noChangeAspect="1"/>
          </p:cNvPicPr>
          <p:nvPr/>
        </p:nvPicPr>
        <p:blipFill>
          <a:blip r:embed="rId2"/>
          <a:stretch>
            <a:fillRect/>
          </a:stretch>
        </p:blipFill>
        <p:spPr>
          <a:xfrm>
            <a:off x="556740" y="1300975"/>
            <a:ext cx="7437976" cy="4718011"/>
          </a:xfrm>
          <a:prstGeom prst="rect">
            <a:avLst/>
          </a:prstGeom>
        </p:spPr>
      </p:pic>
      <p:sp>
        <p:nvSpPr>
          <p:cNvPr id="8" name="TextBox 7">
            <a:extLst>
              <a:ext uri="{FF2B5EF4-FFF2-40B4-BE49-F238E27FC236}">
                <a16:creationId xmlns:a16="http://schemas.microsoft.com/office/drawing/2014/main" id="{6BFF8ED2-7B09-2FA7-DA02-77ED0848F3E6}"/>
              </a:ext>
            </a:extLst>
          </p:cNvPr>
          <p:cNvSpPr txBox="1"/>
          <p:nvPr/>
        </p:nvSpPr>
        <p:spPr>
          <a:xfrm>
            <a:off x="8821686" y="2644623"/>
            <a:ext cx="2213867" cy="1200329"/>
          </a:xfrm>
          <a:prstGeom prst="rect">
            <a:avLst/>
          </a:prstGeom>
          <a:noFill/>
        </p:spPr>
        <p:txBody>
          <a:bodyPr wrap="square" rtlCol="0">
            <a:spAutoFit/>
          </a:bodyPr>
          <a:lstStyle/>
          <a:p>
            <a:r>
              <a:rPr lang="en-US" dirty="0"/>
              <a:t>Try it.  </a:t>
            </a:r>
          </a:p>
          <a:p>
            <a:endParaRPr lang="en-US" dirty="0"/>
          </a:p>
          <a:p>
            <a:r>
              <a:rPr lang="en-US" dirty="0"/>
              <a:t>Create your first diagram like this. </a:t>
            </a:r>
          </a:p>
        </p:txBody>
      </p:sp>
    </p:spTree>
    <p:extLst>
      <p:ext uri="{BB962C8B-B14F-4D97-AF65-F5344CB8AC3E}">
        <p14:creationId xmlns:p14="http://schemas.microsoft.com/office/powerpoint/2010/main" val="1413830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C3939-FD74-EBC5-0BBD-8CB66C95F2CA}"/>
              </a:ext>
            </a:extLst>
          </p:cNvPr>
          <p:cNvSpPr>
            <a:spLocks noGrp="1"/>
          </p:cNvSpPr>
          <p:nvPr>
            <p:ph type="title"/>
          </p:nvPr>
        </p:nvSpPr>
        <p:spPr/>
        <p:txBody>
          <a:bodyPr>
            <a:normAutofit fontScale="90000"/>
          </a:bodyPr>
          <a:lstStyle/>
          <a:p>
            <a:r>
              <a:rPr lang="en-US" dirty="0"/>
              <a:t>Column Definitions of A Table</a:t>
            </a:r>
          </a:p>
        </p:txBody>
      </p:sp>
      <p:sp>
        <p:nvSpPr>
          <p:cNvPr id="3" name="Content Placeholder 2">
            <a:extLst>
              <a:ext uri="{FF2B5EF4-FFF2-40B4-BE49-F238E27FC236}">
                <a16:creationId xmlns:a16="http://schemas.microsoft.com/office/drawing/2014/main" id="{0CDED00E-6392-7820-29B0-DE14F278CE64}"/>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1B9AEEB2-A095-4CD0-BEA1-FFB10F414FD6}"/>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D5BEB47-3D03-4304-7D0D-E501BDEFD38B}"/>
              </a:ext>
            </a:extLst>
          </p:cNvPr>
          <p:cNvSpPr>
            <a:spLocks noGrp="1"/>
          </p:cNvSpPr>
          <p:nvPr>
            <p:ph type="sldNum" sz="quarter" idx="12"/>
          </p:nvPr>
        </p:nvSpPr>
        <p:spPr/>
        <p:txBody>
          <a:bodyPr/>
          <a:lstStyle/>
          <a:p>
            <a:fld id="{F6C56E59-C124-411E-B3E7-95D014FC7158}" type="slidenum">
              <a:rPr lang="en-US" smtClean="0"/>
              <a:pPr/>
              <a:t>30</a:t>
            </a:fld>
            <a:endParaRPr lang="en-US"/>
          </a:p>
        </p:txBody>
      </p:sp>
      <p:pic>
        <p:nvPicPr>
          <p:cNvPr id="7" name="Picture 6" descr="A screenshot of a computer&#10;&#10;AI-generated content may be incorrect.">
            <a:extLst>
              <a:ext uri="{FF2B5EF4-FFF2-40B4-BE49-F238E27FC236}">
                <a16:creationId xmlns:a16="http://schemas.microsoft.com/office/drawing/2014/main" id="{85481184-584A-550F-4F8D-83528049FA34}"/>
              </a:ext>
            </a:extLst>
          </p:cNvPr>
          <p:cNvPicPr>
            <a:picLocks noChangeAspect="1"/>
          </p:cNvPicPr>
          <p:nvPr/>
        </p:nvPicPr>
        <p:blipFill>
          <a:blip r:embed="rId2"/>
          <a:stretch>
            <a:fillRect/>
          </a:stretch>
        </p:blipFill>
        <p:spPr>
          <a:xfrm>
            <a:off x="475571" y="1475333"/>
            <a:ext cx="6909583" cy="4369295"/>
          </a:xfrm>
          <a:prstGeom prst="rect">
            <a:avLst/>
          </a:prstGeom>
        </p:spPr>
      </p:pic>
      <p:sp>
        <p:nvSpPr>
          <p:cNvPr id="8" name="TextBox 7">
            <a:extLst>
              <a:ext uri="{FF2B5EF4-FFF2-40B4-BE49-F238E27FC236}">
                <a16:creationId xmlns:a16="http://schemas.microsoft.com/office/drawing/2014/main" id="{48BD1BBD-6138-4B60-A6CB-5E7233C0AD00}"/>
              </a:ext>
            </a:extLst>
          </p:cNvPr>
          <p:cNvSpPr txBox="1"/>
          <p:nvPr/>
        </p:nvSpPr>
        <p:spPr>
          <a:xfrm>
            <a:off x="7871013" y="1475332"/>
            <a:ext cx="3845416" cy="3447098"/>
          </a:xfrm>
          <a:prstGeom prst="rect">
            <a:avLst/>
          </a:prstGeom>
          <a:noFill/>
        </p:spPr>
        <p:txBody>
          <a:bodyPr wrap="square" rtlCol="0">
            <a:spAutoFit/>
          </a:bodyPr>
          <a:lstStyle/>
          <a:p>
            <a:r>
              <a:rPr lang="en-US" dirty="0"/>
              <a:t>Try it.  </a:t>
            </a:r>
          </a:p>
          <a:p>
            <a:endParaRPr lang="en-US" dirty="0"/>
          </a:p>
          <a:p>
            <a:r>
              <a:rPr lang="en-US" sz="1400" dirty="0"/>
              <a:t>1. Open the table designer for the table Stadium and look around.</a:t>
            </a:r>
          </a:p>
          <a:p>
            <a:endParaRPr lang="en-US" sz="1400" dirty="0"/>
          </a:p>
          <a:p>
            <a:r>
              <a:rPr lang="en-US" sz="1400" dirty="0"/>
              <a:t>2. Create a new table called “Coach” with fields:</a:t>
            </a:r>
          </a:p>
          <a:p>
            <a:r>
              <a:rPr lang="en-US" sz="1400" dirty="0"/>
              <a:t>	 Id</a:t>
            </a:r>
          </a:p>
          <a:p>
            <a:r>
              <a:rPr lang="en-US" sz="1400" dirty="0"/>
              <a:t>	FirstName</a:t>
            </a:r>
          </a:p>
          <a:p>
            <a:r>
              <a:rPr lang="en-US" sz="1400" dirty="0"/>
              <a:t>	LastName</a:t>
            </a:r>
          </a:p>
          <a:p>
            <a:r>
              <a:rPr lang="en-US" sz="1400" dirty="0"/>
              <a:t>	</a:t>
            </a:r>
            <a:r>
              <a:rPr lang="en-US" sz="1400" dirty="0" err="1"/>
              <a:t>JerseyNumber</a:t>
            </a:r>
            <a:endParaRPr lang="en-US" sz="1400" dirty="0"/>
          </a:p>
          <a:p>
            <a:r>
              <a:rPr lang="en-US" sz="1400" dirty="0"/>
              <a:t>	</a:t>
            </a:r>
            <a:r>
              <a:rPr lang="en-US" sz="1400" dirty="0" err="1"/>
              <a:t>ExperienceInYears</a:t>
            </a:r>
            <a:endParaRPr lang="en-US" sz="1400" dirty="0"/>
          </a:p>
          <a:p>
            <a:r>
              <a:rPr lang="en-US" sz="1400" dirty="0"/>
              <a:t>	</a:t>
            </a:r>
            <a:r>
              <a:rPr lang="en-US" sz="1400" dirty="0" err="1"/>
              <a:t>HomeCity</a:t>
            </a:r>
            <a:endParaRPr lang="en-US" sz="1400" dirty="0"/>
          </a:p>
          <a:p>
            <a:r>
              <a:rPr lang="en-US" sz="1400" dirty="0"/>
              <a:t>	</a:t>
            </a:r>
            <a:r>
              <a:rPr lang="en-US" sz="1400" dirty="0" err="1"/>
              <a:t>HomeCountry</a:t>
            </a:r>
            <a:endParaRPr lang="en-US" sz="1400" dirty="0"/>
          </a:p>
          <a:p>
            <a:r>
              <a:rPr lang="en-US" sz="1400" dirty="0"/>
              <a:t>	</a:t>
            </a:r>
            <a:r>
              <a:rPr lang="en-US" sz="1400" dirty="0" err="1"/>
              <a:t>CreateDate</a:t>
            </a:r>
            <a:endParaRPr lang="en-US" sz="1400" dirty="0"/>
          </a:p>
        </p:txBody>
      </p:sp>
    </p:spTree>
    <p:extLst>
      <p:ext uri="{BB962C8B-B14F-4D97-AF65-F5344CB8AC3E}">
        <p14:creationId xmlns:p14="http://schemas.microsoft.com/office/powerpoint/2010/main" val="1604995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7E8F1-52FB-A018-BD41-3B4B18C518E6}"/>
              </a:ext>
            </a:extLst>
          </p:cNvPr>
          <p:cNvSpPr>
            <a:spLocks noGrp="1"/>
          </p:cNvSpPr>
          <p:nvPr>
            <p:ph type="title"/>
          </p:nvPr>
        </p:nvSpPr>
        <p:spPr/>
        <p:txBody>
          <a:bodyPr>
            <a:normAutofit fontScale="90000"/>
          </a:bodyPr>
          <a:lstStyle/>
          <a:p>
            <a:r>
              <a:rPr lang="en-US" dirty="0"/>
              <a:t>One Way to Edit Data</a:t>
            </a:r>
          </a:p>
        </p:txBody>
      </p:sp>
      <p:sp>
        <p:nvSpPr>
          <p:cNvPr id="3" name="Content Placeholder 2">
            <a:extLst>
              <a:ext uri="{FF2B5EF4-FFF2-40B4-BE49-F238E27FC236}">
                <a16:creationId xmlns:a16="http://schemas.microsoft.com/office/drawing/2014/main" id="{F78E76AB-B115-B37E-1618-FB04FC174C79}"/>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D93F6486-AD78-93D5-CBA2-FA7178AAB2C8}"/>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F15FDE7F-39CC-E773-EB37-08D2B177CA85}"/>
              </a:ext>
            </a:extLst>
          </p:cNvPr>
          <p:cNvSpPr>
            <a:spLocks noGrp="1"/>
          </p:cNvSpPr>
          <p:nvPr>
            <p:ph type="sldNum" sz="quarter" idx="12"/>
          </p:nvPr>
        </p:nvSpPr>
        <p:spPr/>
        <p:txBody>
          <a:bodyPr/>
          <a:lstStyle/>
          <a:p>
            <a:fld id="{F6C56E59-C124-411E-B3E7-95D014FC7158}" type="slidenum">
              <a:rPr lang="en-US" smtClean="0"/>
              <a:pPr/>
              <a:t>31</a:t>
            </a:fld>
            <a:endParaRPr lang="en-US"/>
          </a:p>
        </p:txBody>
      </p:sp>
      <p:pic>
        <p:nvPicPr>
          <p:cNvPr id="7" name="Picture 6" descr="A screenshot of a computer&#10;&#10;AI-generated content may be incorrect.">
            <a:extLst>
              <a:ext uri="{FF2B5EF4-FFF2-40B4-BE49-F238E27FC236}">
                <a16:creationId xmlns:a16="http://schemas.microsoft.com/office/drawing/2014/main" id="{E8C9B481-AE0B-BA00-738F-FA64DA602FB8}"/>
              </a:ext>
            </a:extLst>
          </p:cNvPr>
          <p:cNvPicPr>
            <a:picLocks noChangeAspect="1"/>
          </p:cNvPicPr>
          <p:nvPr/>
        </p:nvPicPr>
        <p:blipFill>
          <a:blip r:embed="rId2"/>
          <a:stretch>
            <a:fillRect/>
          </a:stretch>
        </p:blipFill>
        <p:spPr>
          <a:xfrm>
            <a:off x="1517858" y="1327162"/>
            <a:ext cx="3457015" cy="4665638"/>
          </a:xfrm>
          <a:prstGeom prst="rect">
            <a:avLst/>
          </a:prstGeom>
        </p:spPr>
      </p:pic>
      <p:sp>
        <p:nvSpPr>
          <p:cNvPr id="8" name="TextBox 7">
            <a:extLst>
              <a:ext uri="{FF2B5EF4-FFF2-40B4-BE49-F238E27FC236}">
                <a16:creationId xmlns:a16="http://schemas.microsoft.com/office/drawing/2014/main" id="{D51A3524-CE27-6FC2-64F7-622B8AAC8946}"/>
              </a:ext>
            </a:extLst>
          </p:cNvPr>
          <p:cNvSpPr txBox="1"/>
          <p:nvPr/>
        </p:nvSpPr>
        <p:spPr>
          <a:xfrm>
            <a:off x="7144872" y="1860815"/>
            <a:ext cx="3845416" cy="1077218"/>
          </a:xfrm>
          <a:prstGeom prst="rect">
            <a:avLst/>
          </a:prstGeom>
          <a:noFill/>
        </p:spPr>
        <p:txBody>
          <a:bodyPr wrap="square" rtlCol="0">
            <a:spAutoFit/>
          </a:bodyPr>
          <a:lstStyle/>
          <a:p>
            <a:r>
              <a:rPr lang="en-US" dirty="0"/>
              <a:t>Advice.  </a:t>
            </a:r>
          </a:p>
          <a:p>
            <a:endParaRPr lang="en-US" dirty="0"/>
          </a:p>
          <a:p>
            <a:r>
              <a:rPr lang="en-US" sz="1400" dirty="0"/>
              <a:t>This is fine for starting out but do get used to updating data using SQL.</a:t>
            </a:r>
          </a:p>
        </p:txBody>
      </p:sp>
    </p:spTree>
    <p:extLst>
      <p:ext uri="{BB962C8B-B14F-4D97-AF65-F5344CB8AC3E}">
        <p14:creationId xmlns:p14="http://schemas.microsoft.com/office/powerpoint/2010/main" val="4289300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A042-5C7C-F3AE-FAB5-CF40DFCC9CDF}"/>
              </a:ext>
            </a:extLst>
          </p:cNvPr>
          <p:cNvSpPr>
            <a:spLocks noGrp="1"/>
          </p:cNvSpPr>
          <p:nvPr>
            <p:ph type="title"/>
          </p:nvPr>
        </p:nvSpPr>
        <p:spPr/>
        <p:txBody>
          <a:bodyPr>
            <a:normAutofit fontScale="90000"/>
          </a:bodyPr>
          <a:lstStyle/>
          <a:p>
            <a:r>
              <a:rPr lang="en-US" dirty="0"/>
              <a:t>Some Key Functions in SSMS</a:t>
            </a:r>
          </a:p>
        </p:txBody>
      </p:sp>
      <p:sp>
        <p:nvSpPr>
          <p:cNvPr id="3" name="Content Placeholder 2">
            <a:extLst>
              <a:ext uri="{FF2B5EF4-FFF2-40B4-BE49-F238E27FC236}">
                <a16:creationId xmlns:a16="http://schemas.microsoft.com/office/drawing/2014/main" id="{DD99D297-D3B9-41B7-55DB-E158DC79FCD2}"/>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7515B064-9803-0131-A094-5E016B3CA085}"/>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5BE928A0-D535-C9D7-56E2-AB818D04A90A}"/>
              </a:ext>
            </a:extLst>
          </p:cNvPr>
          <p:cNvSpPr>
            <a:spLocks noGrp="1"/>
          </p:cNvSpPr>
          <p:nvPr>
            <p:ph type="sldNum" sz="quarter" idx="12"/>
          </p:nvPr>
        </p:nvSpPr>
        <p:spPr/>
        <p:txBody>
          <a:bodyPr/>
          <a:lstStyle/>
          <a:p>
            <a:fld id="{F6C56E59-C124-411E-B3E7-95D014FC7158}" type="slidenum">
              <a:rPr lang="en-US" smtClean="0"/>
              <a:pPr/>
              <a:t>32</a:t>
            </a:fld>
            <a:endParaRPr lang="en-US"/>
          </a:p>
        </p:txBody>
      </p:sp>
      <p:pic>
        <p:nvPicPr>
          <p:cNvPr id="7" name="Picture 6" descr="A screenshot of a computer&#10;&#10;AI-generated content may be incorrect.">
            <a:extLst>
              <a:ext uri="{FF2B5EF4-FFF2-40B4-BE49-F238E27FC236}">
                <a16:creationId xmlns:a16="http://schemas.microsoft.com/office/drawing/2014/main" id="{2E522689-7747-D2CA-0972-7F50B65D0B29}"/>
              </a:ext>
            </a:extLst>
          </p:cNvPr>
          <p:cNvPicPr>
            <a:picLocks noChangeAspect="1"/>
          </p:cNvPicPr>
          <p:nvPr/>
        </p:nvPicPr>
        <p:blipFill>
          <a:blip r:embed="rId2"/>
          <a:stretch>
            <a:fillRect/>
          </a:stretch>
        </p:blipFill>
        <p:spPr>
          <a:xfrm>
            <a:off x="1070904" y="1692794"/>
            <a:ext cx="9440592" cy="3934374"/>
          </a:xfrm>
          <a:prstGeom prst="rect">
            <a:avLst/>
          </a:prstGeom>
        </p:spPr>
      </p:pic>
    </p:spTree>
    <p:extLst>
      <p:ext uri="{BB962C8B-B14F-4D97-AF65-F5344CB8AC3E}">
        <p14:creationId xmlns:p14="http://schemas.microsoft.com/office/powerpoint/2010/main" val="84711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E9C86-9AAC-FAC2-6D5F-F488E62608BF}"/>
              </a:ext>
            </a:extLst>
          </p:cNvPr>
          <p:cNvSpPr>
            <a:spLocks noGrp="1"/>
          </p:cNvSpPr>
          <p:nvPr>
            <p:ph type="title"/>
          </p:nvPr>
        </p:nvSpPr>
        <p:spPr/>
        <p:txBody>
          <a:bodyPr>
            <a:normAutofit fontScale="90000"/>
          </a:bodyPr>
          <a:lstStyle/>
          <a:p>
            <a:r>
              <a:rPr lang="en-US" dirty="0"/>
              <a:t>Error Types</a:t>
            </a:r>
          </a:p>
        </p:txBody>
      </p:sp>
      <p:sp>
        <p:nvSpPr>
          <p:cNvPr id="3" name="Content Placeholder 2">
            <a:extLst>
              <a:ext uri="{FF2B5EF4-FFF2-40B4-BE49-F238E27FC236}">
                <a16:creationId xmlns:a16="http://schemas.microsoft.com/office/drawing/2014/main" id="{3B94C875-14A5-3FC0-0C21-F1598319104C}"/>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A3B8C14A-9F64-2AF3-C4A6-0ADB0FBCFCE3}"/>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87AA449F-31B7-4ABA-1003-B7465BC3F3F9}"/>
              </a:ext>
            </a:extLst>
          </p:cNvPr>
          <p:cNvSpPr>
            <a:spLocks noGrp="1"/>
          </p:cNvSpPr>
          <p:nvPr>
            <p:ph type="sldNum" sz="quarter" idx="12"/>
          </p:nvPr>
        </p:nvSpPr>
        <p:spPr/>
        <p:txBody>
          <a:bodyPr/>
          <a:lstStyle/>
          <a:p>
            <a:fld id="{F6C56E59-C124-411E-B3E7-95D014FC7158}" type="slidenum">
              <a:rPr lang="en-US" smtClean="0"/>
              <a:pPr/>
              <a:t>33</a:t>
            </a:fld>
            <a:endParaRPr lang="en-US"/>
          </a:p>
        </p:txBody>
      </p:sp>
      <p:sp>
        <p:nvSpPr>
          <p:cNvPr id="6" name="TextBox 5">
            <a:extLst>
              <a:ext uri="{FF2B5EF4-FFF2-40B4-BE49-F238E27FC236}">
                <a16:creationId xmlns:a16="http://schemas.microsoft.com/office/drawing/2014/main" id="{8202AF4E-A810-13D0-0F5E-6B18231D2044}"/>
              </a:ext>
            </a:extLst>
          </p:cNvPr>
          <p:cNvSpPr txBox="1"/>
          <p:nvPr/>
        </p:nvSpPr>
        <p:spPr>
          <a:xfrm>
            <a:off x="482454" y="1193226"/>
            <a:ext cx="4302391" cy="2769989"/>
          </a:xfrm>
          <a:prstGeom prst="rect">
            <a:avLst/>
          </a:prstGeom>
          <a:noFill/>
        </p:spPr>
        <p:txBody>
          <a:bodyPr wrap="square" rtlCol="0">
            <a:spAutoFit/>
          </a:bodyPr>
          <a:lstStyle/>
          <a:p>
            <a:endParaRPr lang="en-US" sz="1200" dirty="0"/>
          </a:p>
          <a:p>
            <a:r>
              <a:rPr lang="en-US" b="1" dirty="0"/>
              <a:t>Design time errors</a:t>
            </a:r>
          </a:p>
          <a:p>
            <a:endParaRPr lang="en-US" b="1" dirty="0"/>
          </a:p>
          <a:p>
            <a:r>
              <a:rPr lang="en-US" dirty="0"/>
              <a:t>Are presented in the red </a:t>
            </a:r>
            <a:r>
              <a:rPr lang="en-US" dirty="0" err="1"/>
              <a:t>squigglies</a:t>
            </a:r>
            <a:endParaRPr lang="en-US" dirty="0"/>
          </a:p>
          <a:p>
            <a:endParaRPr lang="en-US" b="1" dirty="0"/>
          </a:p>
          <a:p>
            <a:endParaRPr lang="en-US" b="1" dirty="0"/>
          </a:p>
          <a:p>
            <a:endParaRPr lang="en-US" b="1" dirty="0"/>
          </a:p>
          <a:p>
            <a:r>
              <a:rPr lang="en-US" b="1" dirty="0"/>
              <a:t>Run-time errors</a:t>
            </a:r>
          </a:p>
          <a:p>
            <a:endParaRPr lang="en-US" b="1" dirty="0"/>
          </a:p>
          <a:p>
            <a:r>
              <a:rPr lang="en-US" dirty="0"/>
              <a:t>Appear in the result pane.</a:t>
            </a:r>
          </a:p>
        </p:txBody>
      </p:sp>
      <p:pic>
        <p:nvPicPr>
          <p:cNvPr id="8" name="Picture 7" descr="A screenshot of a computer">
            <a:extLst>
              <a:ext uri="{FF2B5EF4-FFF2-40B4-BE49-F238E27FC236}">
                <a16:creationId xmlns:a16="http://schemas.microsoft.com/office/drawing/2014/main" id="{0D6858E0-2773-ED13-835A-81AC6C07ADA1}"/>
              </a:ext>
            </a:extLst>
          </p:cNvPr>
          <p:cNvPicPr>
            <a:picLocks noChangeAspect="1"/>
          </p:cNvPicPr>
          <p:nvPr/>
        </p:nvPicPr>
        <p:blipFill>
          <a:blip r:embed="rId2"/>
          <a:stretch>
            <a:fillRect/>
          </a:stretch>
        </p:blipFill>
        <p:spPr>
          <a:xfrm>
            <a:off x="4720732" y="1443264"/>
            <a:ext cx="2686425" cy="76210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3DF0427-B680-BEF7-76F9-A8FA54EE1F0D}"/>
              </a:ext>
            </a:extLst>
          </p:cNvPr>
          <p:cNvPicPr>
            <a:picLocks noChangeAspect="1"/>
          </p:cNvPicPr>
          <p:nvPr/>
        </p:nvPicPr>
        <p:blipFill>
          <a:blip r:embed="rId3"/>
          <a:stretch>
            <a:fillRect/>
          </a:stretch>
        </p:blipFill>
        <p:spPr>
          <a:xfrm>
            <a:off x="1598103" y="4013441"/>
            <a:ext cx="5058191" cy="1888818"/>
          </a:xfrm>
          <a:prstGeom prst="rect">
            <a:avLst/>
          </a:prstGeom>
        </p:spPr>
      </p:pic>
      <p:sp>
        <p:nvSpPr>
          <p:cNvPr id="11" name="TextBox 10">
            <a:extLst>
              <a:ext uri="{FF2B5EF4-FFF2-40B4-BE49-F238E27FC236}">
                <a16:creationId xmlns:a16="http://schemas.microsoft.com/office/drawing/2014/main" id="{49199750-3D93-B00E-D482-B438F8EABE8D}"/>
              </a:ext>
            </a:extLst>
          </p:cNvPr>
          <p:cNvSpPr txBox="1"/>
          <p:nvPr/>
        </p:nvSpPr>
        <p:spPr>
          <a:xfrm>
            <a:off x="8189794" y="4548552"/>
            <a:ext cx="2418085" cy="646331"/>
          </a:xfrm>
          <a:prstGeom prst="rect">
            <a:avLst/>
          </a:prstGeom>
          <a:noFill/>
        </p:spPr>
        <p:txBody>
          <a:bodyPr wrap="square" rtlCol="0">
            <a:spAutoFit/>
          </a:bodyPr>
          <a:lstStyle/>
          <a:p>
            <a:r>
              <a:rPr lang="en-US" dirty="0"/>
              <a:t>Why did this happen?  </a:t>
            </a:r>
          </a:p>
          <a:p>
            <a:r>
              <a:rPr lang="en-US" dirty="0"/>
              <a:t>Any guesses?</a:t>
            </a:r>
          </a:p>
        </p:txBody>
      </p:sp>
      <p:cxnSp>
        <p:nvCxnSpPr>
          <p:cNvPr id="13" name="Straight Arrow Connector 12">
            <a:extLst>
              <a:ext uri="{FF2B5EF4-FFF2-40B4-BE49-F238E27FC236}">
                <a16:creationId xmlns:a16="http://schemas.microsoft.com/office/drawing/2014/main" id="{98F0F9DF-CD01-D050-5E21-5D22ED723995}"/>
              </a:ext>
            </a:extLst>
          </p:cNvPr>
          <p:cNvCxnSpPr/>
          <p:nvPr/>
        </p:nvCxnSpPr>
        <p:spPr>
          <a:xfrm flipH="1">
            <a:off x="7365937" y="4871717"/>
            <a:ext cx="822960" cy="810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13047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8A7F-F2BA-C991-522E-D256AC177241}"/>
              </a:ext>
            </a:extLst>
          </p:cNvPr>
          <p:cNvSpPr>
            <a:spLocks noGrp="1"/>
          </p:cNvSpPr>
          <p:nvPr>
            <p:ph type="title"/>
          </p:nvPr>
        </p:nvSpPr>
        <p:spPr/>
        <p:txBody>
          <a:bodyPr>
            <a:normAutofit fontScale="90000"/>
          </a:bodyPr>
          <a:lstStyle/>
          <a:p>
            <a:r>
              <a:rPr lang="en-US" dirty="0"/>
              <a:t>Saving Queries</a:t>
            </a:r>
          </a:p>
        </p:txBody>
      </p:sp>
      <p:sp>
        <p:nvSpPr>
          <p:cNvPr id="3" name="Content Placeholder 2">
            <a:extLst>
              <a:ext uri="{FF2B5EF4-FFF2-40B4-BE49-F238E27FC236}">
                <a16:creationId xmlns:a16="http://schemas.microsoft.com/office/drawing/2014/main" id="{1348BCE2-B711-435A-DDFA-59A4328C3AF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2365AA2-3721-6316-970A-6E2EC6C9898D}"/>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5B9D894D-DEDC-14CF-B246-38443E96C57E}"/>
              </a:ext>
            </a:extLst>
          </p:cNvPr>
          <p:cNvSpPr>
            <a:spLocks noGrp="1"/>
          </p:cNvSpPr>
          <p:nvPr>
            <p:ph type="sldNum" sz="quarter" idx="12"/>
          </p:nvPr>
        </p:nvSpPr>
        <p:spPr/>
        <p:txBody>
          <a:bodyPr/>
          <a:lstStyle/>
          <a:p>
            <a:fld id="{F6C56E59-C124-411E-B3E7-95D014FC7158}" type="slidenum">
              <a:rPr lang="en-US" smtClean="0"/>
              <a:pPr/>
              <a:t>34</a:t>
            </a:fld>
            <a:endParaRPr lang="en-US"/>
          </a:p>
        </p:txBody>
      </p:sp>
      <p:sp>
        <p:nvSpPr>
          <p:cNvPr id="6" name="TextBox 5">
            <a:extLst>
              <a:ext uri="{FF2B5EF4-FFF2-40B4-BE49-F238E27FC236}">
                <a16:creationId xmlns:a16="http://schemas.microsoft.com/office/drawing/2014/main" id="{CFE6E8D1-0CB6-4AFA-0F50-C97C610E115C}"/>
              </a:ext>
            </a:extLst>
          </p:cNvPr>
          <p:cNvSpPr txBox="1"/>
          <p:nvPr/>
        </p:nvSpPr>
        <p:spPr>
          <a:xfrm>
            <a:off x="2881551" y="1713799"/>
            <a:ext cx="6428897" cy="1815882"/>
          </a:xfrm>
          <a:prstGeom prst="rect">
            <a:avLst/>
          </a:prstGeom>
          <a:noFill/>
        </p:spPr>
        <p:txBody>
          <a:bodyPr wrap="square" rtlCol="0">
            <a:spAutoFit/>
          </a:bodyPr>
          <a:lstStyle/>
          <a:p>
            <a:r>
              <a:rPr lang="en-US" sz="1400" b="1" dirty="0"/>
              <a:t>CTRL+S</a:t>
            </a:r>
            <a:r>
              <a:rPr lang="en-US" sz="1400" dirty="0"/>
              <a:t> – saves the current file</a:t>
            </a:r>
          </a:p>
          <a:p>
            <a:endParaRPr lang="en-US" sz="1400" dirty="0"/>
          </a:p>
          <a:p>
            <a:r>
              <a:rPr lang="en-US" sz="1400" b="1" dirty="0"/>
              <a:t>CTRL+O</a:t>
            </a:r>
            <a:r>
              <a:rPr lang="en-US" sz="1400" dirty="0"/>
              <a:t> – opens a file</a:t>
            </a:r>
          </a:p>
          <a:p>
            <a:endParaRPr lang="en-US" sz="1400" dirty="0"/>
          </a:p>
          <a:p>
            <a:r>
              <a:rPr lang="en-US" sz="1400" b="1" dirty="0"/>
              <a:t>Q.</a:t>
            </a:r>
            <a:r>
              <a:rPr lang="en-US" sz="1400" dirty="0"/>
              <a:t> Where should we save these files?</a:t>
            </a:r>
          </a:p>
          <a:p>
            <a:r>
              <a:rPr lang="en-US" sz="1400" b="1" dirty="0"/>
              <a:t>A. </a:t>
            </a:r>
            <a:r>
              <a:rPr lang="en-US" sz="1400" dirty="0"/>
              <a:t>That will depend on your preferences.  I create a development folder called “c:\repos” and then create subfolders for each project underneath that.  Then I create a solution to make all your files visible from within SSMS.</a:t>
            </a:r>
          </a:p>
        </p:txBody>
      </p:sp>
      <p:pic>
        <p:nvPicPr>
          <p:cNvPr id="8" name="Picture 7" descr="A screenshot of a computer">
            <a:extLst>
              <a:ext uri="{FF2B5EF4-FFF2-40B4-BE49-F238E27FC236}">
                <a16:creationId xmlns:a16="http://schemas.microsoft.com/office/drawing/2014/main" id="{D8653B8B-664A-3340-B4C4-B26AC638AF0F}"/>
              </a:ext>
            </a:extLst>
          </p:cNvPr>
          <p:cNvPicPr>
            <a:picLocks noChangeAspect="1"/>
          </p:cNvPicPr>
          <p:nvPr/>
        </p:nvPicPr>
        <p:blipFill>
          <a:blip r:embed="rId2"/>
          <a:stretch>
            <a:fillRect/>
          </a:stretch>
        </p:blipFill>
        <p:spPr>
          <a:xfrm>
            <a:off x="663674" y="4027220"/>
            <a:ext cx="2581178" cy="1652203"/>
          </a:xfrm>
          <a:prstGeom prst="rect">
            <a:avLst/>
          </a:prstGeom>
        </p:spPr>
      </p:pic>
      <p:pic>
        <p:nvPicPr>
          <p:cNvPr id="10" name="Picture 9" descr="A screenshot of a computer">
            <a:extLst>
              <a:ext uri="{FF2B5EF4-FFF2-40B4-BE49-F238E27FC236}">
                <a16:creationId xmlns:a16="http://schemas.microsoft.com/office/drawing/2014/main" id="{1907BB10-349C-06AD-3D14-7AE742279ABF}"/>
              </a:ext>
            </a:extLst>
          </p:cNvPr>
          <p:cNvPicPr>
            <a:picLocks noChangeAspect="1"/>
          </p:cNvPicPr>
          <p:nvPr/>
        </p:nvPicPr>
        <p:blipFill>
          <a:blip r:embed="rId3"/>
          <a:stretch>
            <a:fillRect/>
          </a:stretch>
        </p:blipFill>
        <p:spPr>
          <a:xfrm>
            <a:off x="3884291" y="4027220"/>
            <a:ext cx="1754509" cy="1764769"/>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BA72EEC7-BB99-69C0-9B4F-EB1F527B30A3}"/>
              </a:ext>
            </a:extLst>
          </p:cNvPr>
          <p:cNvPicPr>
            <a:picLocks noChangeAspect="1"/>
          </p:cNvPicPr>
          <p:nvPr/>
        </p:nvPicPr>
        <p:blipFill>
          <a:blip r:embed="rId4"/>
          <a:stretch>
            <a:fillRect/>
          </a:stretch>
        </p:blipFill>
        <p:spPr>
          <a:xfrm>
            <a:off x="6553202" y="4100480"/>
            <a:ext cx="3831655" cy="1770805"/>
          </a:xfrm>
          <a:prstGeom prst="rect">
            <a:avLst/>
          </a:prstGeom>
        </p:spPr>
      </p:pic>
    </p:spTree>
    <p:extLst>
      <p:ext uri="{BB962C8B-B14F-4D97-AF65-F5344CB8AC3E}">
        <p14:creationId xmlns:p14="http://schemas.microsoft.com/office/powerpoint/2010/main" val="2032225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3AEB7-E694-577E-37A4-038F214FE3E3}"/>
              </a:ext>
            </a:extLst>
          </p:cNvPr>
          <p:cNvSpPr>
            <a:spLocks noGrp="1"/>
          </p:cNvSpPr>
          <p:nvPr>
            <p:ph type="title"/>
          </p:nvPr>
        </p:nvSpPr>
        <p:spPr/>
        <p:txBody>
          <a:bodyPr>
            <a:normAutofit fontScale="90000"/>
          </a:bodyPr>
          <a:lstStyle/>
          <a:p>
            <a:r>
              <a:rPr lang="en-US" dirty="0"/>
              <a:t>How to get more help</a:t>
            </a:r>
          </a:p>
        </p:txBody>
      </p:sp>
      <p:sp>
        <p:nvSpPr>
          <p:cNvPr id="3" name="Content Placeholder 2">
            <a:extLst>
              <a:ext uri="{FF2B5EF4-FFF2-40B4-BE49-F238E27FC236}">
                <a16:creationId xmlns:a16="http://schemas.microsoft.com/office/drawing/2014/main" id="{5F786096-73D1-05E6-22D8-E1C6DFB3B93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D162729-541F-1A61-3CD4-A80B5CA3637A}"/>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A7224339-142C-D8FC-54D4-BB6CA11C39AF}"/>
              </a:ext>
            </a:extLst>
          </p:cNvPr>
          <p:cNvSpPr>
            <a:spLocks noGrp="1"/>
          </p:cNvSpPr>
          <p:nvPr>
            <p:ph type="sldNum" sz="quarter" idx="12"/>
          </p:nvPr>
        </p:nvSpPr>
        <p:spPr/>
        <p:txBody>
          <a:bodyPr/>
          <a:lstStyle/>
          <a:p>
            <a:fld id="{F6C56E59-C124-411E-B3E7-95D014FC7158}" type="slidenum">
              <a:rPr lang="en-US" smtClean="0"/>
              <a:pPr/>
              <a:t>35</a:t>
            </a:fld>
            <a:endParaRPr lang="en-US"/>
          </a:p>
        </p:txBody>
      </p:sp>
      <p:sp>
        <p:nvSpPr>
          <p:cNvPr id="6" name="TextBox 5">
            <a:extLst>
              <a:ext uri="{FF2B5EF4-FFF2-40B4-BE49-F238E27FC236}">
                <a16:creationId xmlns:a16="http://schemas.microsoft.com/office/drawing/2014/main" id="{1AEF549D-E6DE-06EE-D859-4ECA1BC7CC73}"/>
              </a:ext>
            </a:extLst>
          </p:cNvPr>
          <p:cNvSpPr txBox="1"/>
          <p:nvPr/>
        </p:nvSpPr>
        <p:spPr>
          <a:xfrm>
            <a:off x="428666" y="1722144"/>
            <a:ext cx="7783005" cy="369332"/>
          </a:xfrm>
          <a:prstGeom prst="rect">
            <a:avLst/>
          </a:prstGeom>
          <a:noFill/>
        </p:spPr>
        <p:txBody>
          <a:bodyPr wrap="square" rtlCol="0">
            <a:spAutoFit/>
          </a:bodyPr>
          <a:lstStyle/>
          <a:p>
            <a:r>
              <a:rPr lang="en-US" dirty="0"/>
              <a:t>https://learn.microsoft.com/en-us/sql/sql-server</a:t>
            </a:r>
          </a:p>
        </p:txBody>
      </p:sp>
      <p:pic>
        <p:nvPicPr>
          <p:cNvPr id="9" name="Picture 8" descr="A screenshot of a computer">
            <a:extLst>
              <a:ext uri="{FF2B5EF4-FFF2-40B4-BE49-F238E27FC236}">
                <a16:creationId xmlns:a16="http://schemas.microsoft.com/office/drawing/2014/main" id="{78762C71-2656-ED5D-5C2C-DDAD30486310}"/>
              </a:ext>
            </a:extLst>
          </p:cNvPr>
          <p:cNvPicPr>
            <a:picLocks noChangeAspect="1"/>
          </p:cNvPicPr>
          <p:nvPr/>
        </p:nvPicPr>
        <p:blipFill>
          <a:blip r:embed="rId2"/>
          <a:stretch>
            <a:fillRect/>
          </a:stretch>
        </p:blipFill>
        <p:spPr>
          <a:xfrm>
            <a:off x="2330565" y="2228510"/>
            <a:ext cx="7530869" cy="3605270"/>
          </a:xfrm>
          <a:prstGeom prst="rect">
            <a:avLst/>
          </a:prstGeom>
        </p:spPr>
      </p:pic>
    </p:spTree>
    <p:extLst>
      <p:ext uri="{BB962C8B-B14F-4D97-AF65-F5344CB8AC3E}">
        <p14:creationId xmlns:p14="http://schemas.microsoft.com/office/powerpoint/2010/main" val="2109828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392F-964E-328C-9E18-3F0D9ECB4C5B}"/>
              </a:ext>
            </a:extLst>
          </p:cNvPr>
          <p:cNvSpPr>
            <a:spLocks noGrp="1"/>
          </p:cNvSpPr>
          <p:nvPr>
            <p:ph type="title"/>
          </p:nvPr>
        </p:nvSpPr>
        <p:spPr/>
        <p:txBody>
          <a:bodyPr/>
          <a:lstStyle/>
          <a:p>
            <a:r>
              <a:rPr lang="en-US" dirty="0"/>
              <a:t>More </a:t>
            </a:r>
            <a:r>
              <a:rPr lang="en-US"/>
              <a:t>on Retrieving </a:t>
            </a:r>
            <a:r>
              <a:rPr lang="en-US" dirty="0"/>
              <a:t>Data from a Single Table</a:t>
            </a:r>
          </a:p>
        </p:txBody>
      </p:sp>
      <p:sp>
        <p:nvSpPr>
          <p:cNvPr id="3" name="Text Placeholder 2">
            <a:extLst>
              <a:ext uri="{FF2B5EF4-FFF2-40B4-BE49-F238E27FC236}">
                <a16:creationId xmlns:a16="http://schemas.microsoft.com/office/drawing/2014/main" id="{61578CCA-37CD-D01E-D091-D2C68723697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25D2A78-2E57-25E5-67F5-9466A626692C}"/>
              </a:ext>
            </a:extLst>
          </p:cNvPr>
          <p:cNvSpPr>
            <a:spLocks noGrp="1"/>
          </p:cNvSpPr>
          <p:nvPr>
            <p:ph type="dt" sz="half" idx="10"/>
          </p:nvPr>
        </p:nvSpPr>
        <p:spPr/>
        <p:txBody>
          <a:bodyPr/>
          <a:lstStyle/>
          <a:p>
            <a:fld id="{2913C182-2752-4C8A-971A-A0E34A11F99A}" type="datetime1">
              <a:rPr lang="en-US" smtClean="0"/>
              <a:t>1/10/2026</a:t>
            </a:fld>
            <a:endParaRPr lang="en-US"/>
          </a:p>
        </p:txBody>
      </p:sp>
      <p:sp>
        <p:nvSpPr>
          <p:cNvPr id="5" name="Slide Number Placeholder 4">
            <a:extLst>
              <a:ext uri="{FF2B5EF4-FFF2-40B4-BE49-F238E27FC236}">
                <a16:creationId xmlns:a16="http://schemas.microsoft.com/office/drawing/2014/main" id="{C0D8523E-3A3B-AACE-9885-AD4126C8BCC1}"/>
              </a:ext>
            </a:extLst>
          </p:cNvPr>
          <p:cNvSpPr>
            <a:spLocks noGrp="1"/>
          </p:cNvSpPr>
          <p:nvPr>
            <p:ph type="sldNum" sz="quarter" idx="12"/>
          </p:nvPr>
        </p:nvSpPr>
        <p:spPr/>
        <p:txBody>
          <a:bodyPr/>
          <a:lstStyle/>
          <a:p>
            <a:fld id="{F6C56E59-C124-411E-B3E7-95D014FC7158}" type="slidenum">
              <a:rPr lang="en-US" smtClean="0"/>
              <a:pPr/>
              <a:t>36</a:t>
            </a:fld>
            <a:endParaRPr lang="en-US"/>
          </a:p>
        </p:txBody>
      </p:sp>
    </p:spTree>
    <p:extLst>
      <p:ext uri="{BB962C8B-B14F-4D97-AF65-F5344CB8AC3E}">
        <p14:creationId xmlns:p14="http://schemas.microsoft.com/office/powerpoint/2010/main" val="3680008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DB9BC-95DD-E841-504B-DCCD84A9E4E4}"/>
              </a:ext>
            </a:extLst>
          </p:cNvPr>
          <p:cNvSpPr>
            <a:spLocks noGrp="1"/>
          </p:cNvSpPr>
          <p:nvPr>
            <p:ph type="title"/>
          </p:nvPr>
        </p:nvSpPr>
        <p:spPr/>
        <p:txBody>
          <a:bodyPr>
            <a:normAutofit fontScale="90000"/>
          </a:bodyPr>
          <a:lstStyle/>
          <a:p>
            <a:r>
              <a:rPr lang="en-US" dirty="0"/>
              <a:t>Basic Select</a:t>
            </a:r>
          </a:p>
        </p:txBody>
      </p:sp>
      <p:sp>
        <p:nvSpPr>
          <p:cNvPr id="3" name="Content Placeholder 2">
            <a:extLst>
              <a:ext uri="{FF2B5EF4-FFF2-40B4-BE49-F238E27FC236}">
                <a16:creationId xmlns:a16="http://schemas.microsoft.com/office/drawing/2014/main" id="{431F8F96-5611-85C8-B9A0-54B924D4A99F}"/>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45ECA47-E429-3107-3024-000AA1F616F0}"/>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C308524-06AC-3BD9-6922-791193EB09D3}"/>
              </a:ext>
            </a:extLst>
          </p:cNvPr>
          <p:cNvSpPr>
            <a:spLocks noGrp="1"/>
          </p:cNvSpPr>
          <p:nvPr>
            <p:ph type="sldNum" sz="quarter" idx="12"/>
          </p:nvPr>
        </p:nvSpPr>
        <p:spPr/>
        <p:txBody>
          <a:bodyPr/>
          <a:lstStyle/>
          <a:p>
            <a:fld id="{F6C56E59-C124-411E-B3E7-95D014FC7158}" type="slidenum">
              <a:rPr lang="en-US" smtClean="0"/>
              <a:pPr/>
              <a:t>37</a:t>
            </a:fld>
            <a:endParaRPr lang="en-US"/>
          </a:p>
        </p:txBody>
      </p:sp>
      <p:sp>
        <p:nvSpPr>
          <p:cNvPr id="8" name="TextBox 7">
            <a:extLst>
              <a:ext uri="{FF2B5EF4-FFF2-40B4-BE49-F238E27FC236}">
                <a16:creationId xmlns:a16="http://schemas.microsoft.com/office/drawing/2014/main" id="{FD2D6487-A25F-D918-8553-E26A7BF308A5}"/>
              </a:ext>
            </a:extLst>
          </p:cNvPr>
          <p:cNvSpPr txBox="1"/>
          <p:nvPr/>
        </p:nvSpPr>
        <p:spPr>
          <a:xfrm>
            <a:off x="486280" y="1561612"/>
            <a:ext cx="4297261" cy="1846659"/>
          </a:xfrm>
          <a:prstGeom prst="rect">
            <a:avLst/>
          </a:prstGeom>
          <a:noFill/>
        </p:spPr>
        <p:txBody>
          <a:bodyPr wrap="square" rtlCol="0">
            <a:spAutoFit/>
          </a:bodyPr>
          <a:lstStyle/>
          <a:p>
            <a:r>
              <a:rPr lang="en-US" b="1" dirty="0"/>
              <a:t>Clauses:</a:t>
            </a:r>
          </a:p>
          <a:p>
            <a:endParaRPr lang="en-US" sz="1200" b="1" dirty="0"/>
          </a:p>
          <a:p>
            <a:r>
              <a:rPr lang="en-US" sz="1200" b="1" dirty="0"/>
              <a:t>SELECT</a:t>
            </a:r>
            <a:r>
              <a:rPr lang="en-US" sz="1200" dirty="0"/>
              <a:t> – specifies what fields to return</a:t>
            </a:r>
          </a:p>
          <a:p>
            <a:endParaRPr lang="en-US" sz="1200" dirty="0"/>
          </a:p>
          <a:p>
            <a:r>
              <a:rPr lang="en-US" sz="1200" b="1" dirty="0"/>
              <a:t>FROM</a:t>
            </a:r>
            <a:r>
              <a:rPr lang="en-US" sz="1200" dirty="0"/>
              <a:t> – specifies the base table to return the data from</a:t>
            </a:r>
          </a:p>
          <a:p>
            <a:endParaRPr lang="en-US" sz="1200" dirty="0"/>
          </a:p>
          <a:p>
            <a:r>
              <a:rPr lang="en-US" sz="1200" b="1" dirty="0"/>
              <a:t>WHERE</a:t>
            </a:r>
            <a:r>
              <a:rPr lang="en-US" sz="1200" dirty="0"/>
              <a:t> – define criteria used to filter from available table rows</a:t>
            </a:r>
          </a:p>
          <a:p>
            <a:endParaRPr lang="en-US" sz="1200" dirty="0"/>
          </a:p>
          <a:p>
            <a:r>
              <a:rPr lang="en-US" sz="1200" b="1" dirty="0"/>
              <a:t>ORDER BY</a:t>
            </a:r>
            <a:r>
              <a:rPr lang="en-US" sz="1200" dirty="0"/>
              <a:t> – used to sort the results</a:t>
            </a:r>
          </a:p>
        </p:txBody>
      </p:sp>
      <p:sp>
        <p:nvSpPr>
          <p:cNvPr id="9" name="TextBox 8">
            <a:extLst>
              <a:ext uri="{FF2B5EF4-FFF2-40B4-BE49-F238E27FC236}">
                <a16:creationId xmlns:a16="http://schemas.microsoft.com/office/drawing/2014/main" id="{66806EA1-FBA9-7907-547B-B2AAE7E21713}"/>
              </a:ext>
            </a:extLst>
          </p:cNvPr>
          <p:cNvSpPr txBox="1"/>
          <p:nvPr/>
        </p:nvSpPr>
        <p:spPr>
          <a:xfrm>
            <a:off x="5484303" y="1561612"/>
            <a:ext cx="5794414" cy="3139321"/>
          </a:xfrm>
          <a:prstGeom prst="rect">
            <a:avLst/>
          </a:prstGeom>
          <a:noFill/>
        </p:spPr>
        <p:txBody>
          <a:bodyPr wrap="square" rtlCol="0">
            <a:spAutoFit/>
          </a:bodyPr>
          <a:lstStyle/>
          <a:p>
            <a:r>
              <a:rPr lang="en-US" b="1" dirty="0"/>
              <a:t>Examples:</a:t>
            </a:r>
          </a:p>
          <a:p>
            <a:endParaRPr lang="en-US" sz="1200" b="1" dirty="0"/>
          </a:p>
          <a:p>
            <a:r>
              <a:rPr lang="en-US" sz="1200" b="1" dirty="0"/>
              <a:t>SELECT</a:t>
            </a:r>
            <a:r>
              <a:rPr lang="en-US" sz="1200" dirty="0"/>
              <a:t> * </a:t>
            </a:r>
            <a:r>
              <a:rPr lang="en-US" sz="1200" b="1" dirty="0"/>
              <a:t>FROM</a:t>
            </a:r>
            <a:r>
              <a:rPr lang="en-US" sz="1200" dirty="0"/>
              <a:t> Teams</a:t>
            </a:r>
          </a:p>
          <a:p>
            <a:endParaRPr lang="en-US" sz="1200" dirty="0"/>
          </a:p>
          <a:p>
            <a:r>
              <a:rPr lang="en-US" sz="1200" b="1" dirty="0"/>
              <a:t>SELECT</a:t>
            </a:r>
            <a:r>
              <a:rPr lang="en-US" sz="1200" dirty="0"/>
              <a:t> Name, City, Country </a:t>
            </a:r>
            <a:r>
              <a:rPr lang="en-US" sz="1200" b="1" dirty="0"/>
              <a:t>FROM</a:t>
            </a:r>
            <a:r>
              <a:rPr lang="en-US" sz="1200" dirty="0"/>
              <a:t> Teams</a:t>
            </a:r>
          </a:p>
          <a:p>
            <a:endParaRPr lang="en-US" sz="1200" dirty="0"/>
          </a:p>
          <a:p>
            <a:r>
              <a:rPr lang="en-US" sz="1200" b="1" dirty="0"/>
              <a:t>SELECT</a:t>
            </a:r>
            <a:r>
              <a:rPr lang="en-US" sz="1200" dirty="0"/>
              <a:t> </a:t>
            </a:r>
            <a:r>
              <a:rPr lang="en-US" sz="1200" dirty="0" err="1"/>
              <a:t>PlayerId</a:t>
            </a:r>
            <a:r>
              <a:rPr lang="en-US" sz="1200" dirty="0"/>
              <a:t>, </a:t>
            </a:r>
          </a:p>
          <a:p>
            <a:r>
              <a:rPr lang="en-US" sz="1200" dirty="0"/>
              <a:t>	   </a:t>
            </a:r>
            <a:r>
              <a:rPr lang="en-US" sz="1200" dirty="0" err="1"/>
              <a:t>PlayersEliminated</a:t>
            </a:r>
            <a:r>
              <a:rPr lang="en-US" sz="1200" dirty="0"/>
              <a:t> / </a:t>
            </a:r>
            <a:r>
              <a:rPr lang="en-US" sz="1200" dirty="0" err="1"/>
              <a:t>GamesPlayed</a:t>
            </a:r>
            <a:r>
              <a:rPr lang="en-US" sz="1200" dirty="0"/>
              <a:t> </a:t>
            </a:r>
            <a:r>
              <a:rPr lang="en-US" sz="1200" b="1" dirty="0"/>
              <a:t>AS</a:t>
            </a:r>
            <a:r>
              <a:rPr lang="en-US" sz="1200" dirty="0"/>
              <a:t> </a:t>
            </a:r>
            <a:r>
              <a:rPr lang="en-US" sz="1200" dirty="0" err="1"/>
              <a:t>EliminationsPerGame</a:t>
            </a:r>
            <a:r>
              <a:rPr lang="en-US" sz="1200" dirty="0"/>
              <a:t> </a:t>
            </a:r>
          </a:p>
          <a:p>
            <a:r>
              <a:rPr lang="en-US" sz="1200" b="1" dirty="0"/>
              <a:t>FROM </a:t>
            </a:r>
            <a:r>
              <a:rPr lang="en-US" sz="1200" dirty="0" err="1"/>
              <a:t>PlayerOverallStatistics</a:t>
            </a:r>
            <a:endParaRPr lang="en-US" sz="1200" dirty="0"/>
          </a:p>
          <a:p>
            <a:endParaRPr lang="en-US" sz="1200" dirty="0"/>
          </a:p>
          <a:p>
            <a:r>
              <a:rPr lang="en-US" sz="1200" b="1" dirty="0"/>
              <a:t>SELECT</a:t>
            </a:r>
            <a:r>
              <a:rPr lang="en-US" sz="1200" dirty="0"/>
              <a:t> * </a:t>
            </a:r>
            <a:r>
              <a:rPr lang="en-US" sz="1200" b="1" dirty="0"/>
              <a:t>FROM</a:t>
            </a:r>
            <a:r>
              <a:rPr lang="en-US" sz="1200" dirty="0"/>
              <a:t> Match </a:t>
            </a:r>
            <a:r>
              <a:rPr lang="en-US" sz="1200" b="1" dirty="0"/>
              <a:t>WHERE</a:t>
            </a:r>
            <a:r>
              <a:rPr lang="en-US" sz="1200" dirty="0"/>
              <a:t> </a:t>
            </a:r>
            <a:r>
              <a:rPr lang="en-US" sz="1200" dirty="0" err="1"/>
              <a:t>MatchDate</a:t>
            </a:r>
            <a:r>
              <a:rPr lang="en-US" sz="1200" dirty="0"/>
              <a:t> </a:t>
            </a:r>
            <a:r>
              <a:rPr lang="en-US" sz="1200" b="1" dirty="0"/>
              <a:t>BETWEEN</a:t>
            </a:r>
            <a:r>
              <a:rPr lang="en-US" sz="1200" dirty="0"/>
              <a:t> '2025-09-04’ </a:t>
            </a:r>
            <a:r>
              <a:rPr lang="en-US" sz="1200" b="1" dirty="0"/>
              <a:t>AND</a:t>
            </a:r>
            <a:r>
              <a:rPr lang="en-US" sz="1200" dirty="0"/>
              <a:t> '2025-09-07’</a:t>
            </a:r>
          </a:p>
          <a:p>
            <a:endParaRPr lang="en-US" sz="1200" dirty="0"/>
          </a:p>
          <a:p>
            <a:r>
              <a:rPr lang="en-US" sz="1200" b="1" dirty="0"/>
              <a:t>SELECT</a:t>
            </a:r>
            <a:r>
              <a:rPr lang="en-US" sz="1200" dirty="0"/>
              <a:t> </a:t>
            </a:r>
            <a:r>
              <a:rPr lang="en-US" sz="1200" dirty="0" err="1"/>
              <a:t>PlayerId</a:t>
            </a:r>
            <a:r>
              <a:rPr lang="en-US" sz="1200" dirty="0"/>
              <a:t>, </a:t>
            </a:r>
          </a:p>
          <a:p>
            <a:r>
              <a:rPr lang="en-US" sz="1200" dirty="0"/>
              <a:t>	   </a:t>
            </a:r>
            <a:r>
              <a:rPr lang="en-US" sz="1200" dirty="0" err="1"/>
              <a:t>PlayersEliminated</a:t>
            </a:r>
            <a:r>
              <a:rPr lang="en-US" sz="1200" dirty="0"/>
              <a:t> / </a:t>
            </a:r>
            <a:r>
              <a:rPr lang="en-US" sz="1200" dirty="0" err="1"/>
              <a:t>GamesPlayed</a:t>
            </a:r>
            <a:r>
              <a:rPr lang="en-US" sz="1200" dirty="0"/>
              <a:t> </a:t>
            </a:r>
            <a:r>
              <a:rPr lang="en-US" sz="1200" b="1" dirty="0"/>
              <a:t>AS</a:t>
            </a:r>
            <a:r>
              <a:rPr lang="en-US" sz="1200" dirty="0"/>
              <a:t> </a:t>
            </a:r>
            <a:r>
              <a:rPr lang="en-US" sz="1200" dirty="0" err="1"/>
              <a:t>EliminationsPerGame</a:t>
            </a:r>
            <a:r>
              <a:rPr lang="en-US" sz="1200" dirty="0"/>
              <a:t> , *</a:t>
            </a:r>
          </a:p>
          <a:p>
            <a:r>
              <a:rPr lang="en-US" sz="1200" b="1" dirty="0"/>
              <a:t>FROM</a:t>
            </a:r>
            <a:r>
              <a:rPr lang="en-US" sz="1200" dirty="0"/>
              <a:t> </a:t>
            </a:r>
            <a:r>
              <a:rPr lang="en-US" sz="1200" dirty="0" err="1"/>
              <a:t>PlayerOverallStatistics</a:t>
            </a:r>
            <a:endParaRPr lang="en-US" sz="1200" dirty="0"/>
          </a:p>
          <a:p>
            <a:r>
              <a:rPr lang="en-US" sz="1200" b="1" dirty="0"/>
              <a:t>WHERE</a:t>
            </a:r>
            <a:r>
              <a:rPr lang="en-US" sz="1200" dirty="0"/>
              <a:t> </a:t>
            </a:r>
            <a:r>
              <a:rPr lang="en-US" sz="1200" dirty="0" err="1"/>
              <a:t>FoulsCommitted</a:t>
            </a:r>
            <a:r>
              <a:rPr lang="en-US" sz="1200" dirty="0"/>
              <a:t> &gt; 10</a:t>
            </a:r>
          </a:p>
        </p:txBody>
      </p:sp>
      <p:sp>
        <p:nvSpPr>
          <p:cNvPr id="10" name="TextBox 9">
            <a:extLst>
              <a:ext uri="{FF2B5EF4-FFF2-40B4-BE49-F238E27FC236}">
                <a16:creationId xmlns:a16="http://schemas.microsoft.com/office/drawing/2014/main" id="{7A7CE082-EDD7-04D5-7086-6CC8B20A9406}"/>
              </a:ext>
            </a:extLst>
          </p:cNvPr>
          <p:cNvSpPr txBox="1"/>
          <p:nvPr/>
        </p:nvSpPr>
        <p:spPr>
          <a:xfrm>
            <a:off x="486280" y="5092576"/>
            <a:ext cx="4214963" cy="1292662"/>
          </a:xfrm>
          <a:prstGeom prst="rect">
            <a:avLst/>
          </a:prstGeom>
          <a:noFill/>
        </p:spPr>
        <p:txBody>
          <a:bodyPr wrap="square" rtlCol="0">
            <a:spAutoFit/>
          </a:bodyPr>
          <a:lstStyle/>
          <a:p>
            <a:r>
              <a:rPr lang="en-US" b="1" dirty="0"/>
              <a:t>Guidelines:</a:t>
            </a:r>
          </a:p>
          <a:p>
            <a:endParaRPr lang="en-US" sz="1200" b="1" dirty="0"/>
          </a:p>
          <a:p>
            <a:r>
              <a:rPr lang="en-US" sz="1200" dirty="0"/>
              <a:t>Avoid * for performance reasons</a:t>
            </a:r>
          </a:p>
          <a:p>
            <a:r>
              <a:rPr lang="en-US" sz="1200" dirty="0"/>
              <a:t>Concatenation of fields are referred to as </a:t>
            </a:r>
            <a:r>
              <a:rPr lang="en-US" sz="1200" b="1" dirty="0"/>
              <a:t>expressions</a:t>
            </a:r>
          </a:p>
          <a:p>
            <a:endParaRPr lang="en-US" sz="1200" b="1" dirty="0"/>
          </a:p>
          <a:p>
            <a:endParaRPr lang="en-US" sz="1200" b="1" dirty="0"/>
          </a:p>
        </p:txBody>
      </p:sp>
      <p:sp>
        <p:nvSpPr>
          <p:cNvPr id="11" name="TextBox 10">
            <a:extLst>
              <a:ext uri="{FF2B5EF4-FFF2-40B4-BE49-F238E27FC236}">
                <a16:creationId xmlns:a16="http://schemas.microsoft.com/office/drawing/2014/main" id="{DDF24838-E202-4485-E23A-DFB2F1A275FA}"/>
              </a:ext>
            </a:extLst>
          </p:cNvPr>
          <p:cNvSpPr txBox="1"/>
          <p:nvPr/>
        </p:nvSpPr>
        <p:spPr>
          <a:xfrm>
            <a:off x="486280" y="3595531"/>
            <a:ext cx="4297261" cy="738664"/>
          </a:xfrm>
          <a:prstGeom prst="rect">
            <a:avLst/>
          </a:prstGeom>
          <a:noFill/>
        </p:spPr>
        <p:txBody>
          <a:bodyPr wrap="square" rtlCol="0">
            <a:spAutoFit/>
          </a:bodyPr>
          <a:lstStyle/>
          <a:p>
            <a:r>
              <a:rPr lang="en-US" b="1" dirty="0"/>
              <a:t>New Keywords:</a:t>
            </a:r>
          </a:p>
          <a:p>
            <a:endParaRPr lang="en-US" sz="1200" b="1" dirty="0"/>
          </a:p>
          <a:p>
            <a:r>
              <a:rPr lang="en-US" sz="1200" b="1" dirty="0"/>
              <a:t>BETWEEN</a:t>
            </a:r>
            <a:r>
              <a:rPr lang="en-US" sz="1200" dirty="0"/>
              <a:t> – supports range queries</a:t>
            </a:r>
          </a:p>
        </p:txBody>
      </p:sp>
    </p:spTree>
    <p:extLst>
      <p:ext uri="{BB962C8B-B14F-4D97-AF65-F5344CB8AC3E}">
        <p14:creationId xmlns:p14="http://schemas.microsoft.com/office/powerpoint/2010/main" val="3561412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CB4B-B52D-1AD3-B573-2B7FD00CBBA7}"/>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F56B1A52-D81C-B33A-62F2-365E9529303F}"/>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90F4C0CF-05C6-7E83-FAE2-75A1254034E5}"/>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DE0593F9-ADD5-D3D0-34E2-0379DDD36419}"/>
              </a:ext>
            </a:extLst>
          </p:cNvPr>
          <p:cNvSpPr>
            <a:spLocks noGrp="1"/>
          </p:cNvSpPr>
          <p:nvPr>
            <p:ph type="sldNum" sz="quarter" idx="12"/>
          </p:nvPr>
        </p:nvSpPr>
        <p:spPr/>
        <p:txBody>
          <a:bodyPr/>
          <a:lstStyle/>
          <a:p>
            <a:fld id="{F6C56E59-C124-411E-B3E7-95D014FC7158}" type="slidenum">
              <a:rPr lang="en-US" smtClean="0"/>
              <a:pPr/>
              <a:t>38</a:t>
            </a:fld>
            <a:endParaRPr lang="en-US"/>
          </a:p>
        </p:txBody>
      </p:sp>
      <p:sp>
        <p:nvSpPr>
          <p:cNvPr id="6" name="TextBox 5">
            <a:extLst>
              <a:ext uri="{FF2B5EF4-FFF2-40B4-BE49-F238E27FC236}">
                <a16:creationId xmlns:a16="http://schemas.microsoft.com/office/drawing/2014/main" id="{A307AAE3-28AC-8EE0-9E77-BBDED9B42D8C}"/>
              </a:ext>
            </a:extLst>
          </p:cNvPr>
          <p:cNvSpPr txBox="1"/>
          <p:nvPr/>
        </p:nvSpPr>
        <p:spPr>
          <a:xfrm>
            <a:off x="3952788" y="2182653"/>
            <a:ext cx="4300406" cy="1477328"/>
          </a:xfrm>
          <a:prstGeom prst="rect">
            <a:avLst/>
          </a:prstGeom>
          <a:noFill/>
        </p:spPr>
        <p:txBody>
          <a:bodyPr wrap="square" rtlCol="0">
            <a:spAutoFit/>
          </a:bodyPr>
          <a:lstStyle/>
          <a:p>
            <a:r>
              <a:rPr lang="en-US" dirty="0"/>
              <a:t>Try it.  </a:t>
            </a:r>
          </a:p>
          <a:p>
            <a:endParaRPr lang="en-US" dirty="0"/>
          </a:p>
          <a:p>
            <a:r>
              <a:rPr lang="en-US" dirty="0"/>
              <a:t>Write a query that retrieves the FirstName, LastName, and Position for every player in the Player table</a:t>
            </a:r>
          </a:p>
        </p:txBody>
      </p:sp>
    </p:spTree>
    <p:extLst>
      <p:ext uri="{BB962C8B-B14F-4D97-AF65-F5344CB8AC3E}">
        <p14:creationId xmlns:p14="http://schemas.microsoft.com/office/powerpoint/2010/main" val="8841712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B6FE3-7505-2A73-0D4A-01CFFC768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0A26A-3EB6-81A1-C818-BA2AFA9CFC32}"/>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02227B8F-13D6-E489-FA5D-8D44A899789E}"/>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FF35666A-59F0-19DB-FCFC-F67A3DBF1E47}"/>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80D528ED-F0F3-F7D8-B39E-B9D2C77ED6D4}"/>
              </a:ext>
            </a:extLst>
          </p:cNvPr>
          <p:cNvSpPr>
            <a:spLocks noGrp="1"/>
          </p:cNvSpPr>
          <p:nvPr>
            <p:ph type="sldNum" sz="quarter" idx="12"/>
          </p:nvPr>
        </p:nvSpPr>
        <p:spPr/>
        <p:txBody>
          <a:bodyPr/>
          <a:lstStyle/>
          <a:p>
            <a:fld id="{F6C56E59-C124-411E-B3E7-95D014FC7158}" type="slidenum">
              <a:rPr lang="en-US" smtClean="0"/>
              <a:pPr/>
              <a:t>39</a:t>
            </a:fld>
            <a:endParaRPr lang="en-US"/>
          </a:p>
        </p:txBody>
      </p:sp>
      <p:sp>
        <p:nvSpPr>
          <p:cNvPr id="6" name="TextBox 5">
            <a:extLst>
              <a:ext uri="{FF2B5EF4-FFF2-40B4-BE49-F238E27FC236}">
                <a16:creationId xmlns:a16="http://schemas.microsoft.com/office/drawing/2014/main" id="{134A09B7-A691-8F1E-D59D-EAD16A4F3791}"/>
              </a:ext>
            </a:extLst>
          </p:cNvPr>
          <p:cNvSpPr txBox="1"/>
          <p:nvPr/>
        </p:nvSpPr>
        <p:spPr>
          <a:xfrm>
            <a:off x="3952788" y="2269503"/>
            <a:ext cx="4300406" cy="1477328"/>
          </a:xfrm>
          <a:prstGeom prst="rect">
            <a:avLst/>
          </a:prstGeom>
          <a:noFill/>
        </p:spPr>
        <p:txBody>
          <a:bodyPr wrap="square" rtlCol="0">
            <a:spAutoFit/>
          </a:bodyPr>
          <a:lstStyle/>
          <a:p>
            <a:r>
              <a:rPr lang="en-US" dirty="0"/>
              <a:t>Try it.  </a:t>
            </a:r>
          </a:p>
          <a:p>
            <a:endParaRPr lang="en-US" dirty="0"/>
          </a:p>
          <a:p>
            <a:r>
              <a:rPr lang="en-US" dirty="0"/>
              <a:t>List the Name and Capacity of all stadiums in the Stadium table that have a Capacity greater than or equal to </a:t>
            </a:r>
            <a:r>
              <a:rPr lang="en-US" b="1" dirty="0"/>
              <a:t>50,000</a:t>
            </a:r>
            <a:r>
              <a:rPr lang="en-US" dirty="0"/>
              <a:t>.</a:t>
            </a:r>
          </a:p>
        </p:txBody>
      </p:sp>
    </p:spTree>
    <p:extLst>
      <p:ext uri="{BB962C8B-B14F-4D97-AF65-F5344CB8AC3E}">
        <p14:creationId xmlns:p14="http://schemas.microsoft.com/office/powerpoint/2010/main" val="3865792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B8C0-1C89-F313-CD99-167FE94B71AF}"/>
              </a:ext>
            </a:extLst>
          </p:cNvPr>
          <p:cNvSpPr>
            <a:spLocks noGrp="1"/>
          </p:cNvSpPr>
          <p:nvPr>
            <p:ph type="title"/>
          </p:nvPr>
        </p:nvSpPr>
        <p:spPr/>
        <p:txBody>
          <a:bodyPr>
            <a:normAutofit fontScale="90000"/>
          </a:bodyPr>
          <a:lstStyle/>
          <a:p>
            <a:r>
              <a:rPr lang="en-US" dirty="0"/>
              <a:t>Expanded SELECT Syntax</a:t>
            </a:r>
          </a:p>
        </p:txBody>
      </p:sp>
      <p:sp>
        <p:nvSpPr>
          <p:cNvPr id="3" name="Content Placeholder 2">
            <a:extLst>
              <a:ext uri="{FF2B5EF4-FFF2-40B4-BE49-F238E27FC236}">
                <a16:creationId xmlns:a16="http://schemas.microsoft.com/office/drawing/2014/main" id="{4D16F239-E8D4-343B-CDD8-4A8F93E8E81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462FA4A-B8E3-5CF2-1F81-97F865FA757D}"/>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BB297D65-5193-58A0-4B0F-C7E60DAA81C6}"/>
              </a:ext>
            </a:extLst>
          </p:cNvPr>
          <p:cNvSpPr>
            <a:spLocks noGrp="1"/>
          </p:cNvSpPr>
          <p:nvPr>
            <p:ph type="sldNum" sz="quarter" idx="12"/>
          </p:nvPr>
        </p:nvSpPr>
        <p:spPr/>
        <p:txBody>
          <a:bodyPr/>
          <a:lstStyle/>
          <a:p>
            <a:fld id="{F6C56E59-C124-411E-B3E7-95D014FC7158}" type="slidenum">
              <a:rPr lang="en-US" smtClean="0"/>
              <a:pPr/>
              <a:t>40</a:t>
            </a:fld>
            <a:endParaRPr lang="en-US"/>
          </a:p>
        </p:txBody>
      </p:sp>
      <p:sp>
        <p:nvSpPr>
          <p:cNvPr id="6" name="TextBox 5">
            <a:extLst>
              <a:ext uri="{FF2B5EF4-FFF2-40B4-BE49-F238E27FC236}">
                <a16:creationId xmlns:a16="http://schemas.microsoft.com/office/drawing/2014/main" id="{25C6514C-BCD3-4B37-5FE6-CA6CB48B6E6B}"/>
              </a:ext>
            </a:extLst>
          </p:cNvPr>
          <p:cNvSpPr txBox="1"/>
          <p:nvPr/>
        </p:nvSpPr>
        <p:spPr>
          <a:xfrm>
            <a:off x="486280" y="1268624"/>
            <a:ext cx="4297261" cy="1200329"/>
          </a:xfrm>
          <a:prstGeom prst="rect">
            <a:avLst/>
          </a:prstGeom>
          <a:noFill/>
        </p:spPr>
        <p:txBody>
          <a:bodyPr wrap="square" rtlCol="0">
            <a:spAutoFit/>
          </a:bodyPr>
          <a:lstStyle/>
          <a:p>
            <a:r>
              <a:rPr lang="en-US" b="1" dirty="0"/>
              <a:t>Clauses:</a:t>
            </a:r>
          </a:p>
          <a:p>
            <a:endParaRPr lang="en-US" b="1" dirty="0"/>
          </a:p>
          <a:p>
            <a:r>
              <a:rPr lang="en-US" sz="1200" b="1" dirty="0"/>
              <a:t>SELECT [ALLIDISTINCT] [TOP n [PERCENT] [WITH TIES]]</a:t>
            </a:r>
          </a:p>
          <a:p>
            <a:r>
              <a:rPr lang="en-US" sz="1200" dirty="0" err="1"/>
              <a:t>column_specification</a:t>
            </a:r>
            <a:r>
              <a:rPr lang="en-US" sz="1200" dirty="0"/>
              <a:t> </a:t>
            </a:r>
            <a:r>
              <a:rPr lang="en-US" sz="1200" b="1" dirty="0"/>
              <a:t>[[AS] </a:t>
            </a:r>
            <a:r>
              <a:rPr lang="en-US" sz="1200" dirty="0" err="1"/>
              <a:t>result_column</a:t>
            </a:r>
            <a:r>
              <a:rPr lang="en-US" sz="1200" b="1" dirty="0"/>
              <a:t>]</a:t>
            </a:r>
          </a:p>
          <a:p>
            <a:r>
              <a:rPr lang="en-US" sz="1200" b="1" dirty="0"/>
              <a:t>[, </a:t>
            </a:r>
            <a:r>
              <a:rPr lang="en-US" sz="1200" dirty="0" err="1"/>
              <a:t>column_specification</a:t>
            </a:r>
            <a:r>
              <a:rPr lang="en-US" sz="1200" b="1" dirty="0"/>
              <a:t> _[ [AS] </a:t>
            </a:r>
            <a:r>
              <a:rPr lang="en-US" sz="1200" dirty="0" err="1"/>
              <a:t>result_column</a:t>
            </a:r>
            <a:r>
              <a:rPr lang="en-US" sz="1200" b="1" dirty="0"/>
              <a:t>]]</a:t>
            </a:r>
          </a:p>
        </p:txBody>
      </p:sp>
      <p:sp>
        <p:nvSpPr>
          <p:cNvPr id="7" name="TextBox 6">
            <a:extLst>
              <a:ext uri="{FF2B5EF4-FFF2-40B4-BE49-F238E27FC236}">
                <a16:creationId xmlns:a16="http://schemas.microsoft.com/office/drawing/2014/main" id="{F67DFF5F-8F82-AD2F-0475-E427FCE293B3}"/>
              </a:ext>
            </a:extLst>
          </p:cNvPr>
          <p:cNvSpPr txBox="1"/>
          <p:nvPr/>
        </p:nvSpPr>
        <p:spPr>
          <a:xfrm>
            <a:off x="5484303" y="1268624"/>
            <a:ext cx="5794414" cy="3508653"/>
          </a:xfrm>
          <a:prstGeom prst="rect">
            <a:avLst/>
          </a:prstGeom>
          <a:noFill/>
        </p:spPr>
        <p:txBody>
          <a:bodyPr wrap="square" rtlCol="0">
            <a:spAutoFit/>
          </a:bodyPr>
          <a:lstStyle/>
          <a:p>
            <a:r>
              <a:rPr lang="en-US" b="1" dirty="0"/>
              <a:t>Examples:</a:t>
            </a:r>
          </a:p>
          <a:p>
            <a:endParaRPr lang="en-US" sz="1200" b="1" dirty="0"/>
          </a:p>
          <a:p>
            <a:r>
              <a:rPr lang="en-US" sz="1200" b="1" dirty="0"/>
              <a:t>SELECT</a:t>
            </a:r>
            <a:r>
              <a:rPr lang="en-US" sz="1200" dirty="0"/>
              <a:t> </a:t>
            </a:r>
            <a:r>
              <a:rPr lang="en-US" sz="1200" b="1" dirty="0"/>
              <a:t>DISTINCT</a:t>
            </a:r>
            <a:r>
              <a:rPr lang="en-US" sz="1200" dirty="0"/>
              <a:t> Name, City + ‘, ‘ + Country as [Home Location] </a:t>
            </a:r>
            <a:r>
              <a:rPr lang="en-US" sz="1200" b="1" dirty="0"/>
              <a:t>FROM</a:t>
            </a:r>
            <a:r>
              <a:rPr lang="en-US" sz="1200" dirty="0"/>
              <a:t> Teams</a:t>
            </a:r>
          </a:p>
          <a:p>
            <a:endParaRPr lang="en-US" sz="1200" dirty="0"/>
          </a:p>
          <a:p>
            <a:r>
              <a:rPr lang="en-US" sz="1200" b="1" dirty="0"/>
              <a:t>SELECT</a:t>
            </a:r>
            <a:r>
              <a:rPr lang="en-US" sz="1200" dirty="0"/>
              <a:t> </a:t>
            </a:r>
            <a:r>
              <a:rPr lang="en-US" sz="1200" dirty="0" err="1"/>
              <a:t>PlayerId</a:t>
            </a:r>
            <a:r>
              <a:rPr lang="en-US" sz="1200" dirty="0"/>
              <a:t>, </a:t>
            </a:r>
          </a:p>
          <a:p>
            <a:r>
              <a:rPr lang="en-US" sz="1200" dirty="0"/>
              <a:t>                  </a:t>
            </a:r>
            <a:r>
              <a:rPr lang="en-US" sz="1200" dirty="0" err="1"/>
              <a:t>PlayersEliminated</a:t>
            </a:r>
            <a:r>
              <a:rPr lang="en-US" sz="1200" dirty="0"/>
              <a:t> / </a:t>
            </a:r>
            <a:r>
              <a:rPr lang="en-US" sz="1200" dirty="0" err="1"/>
              <a:t>GamesPlayed</a:t>
            </a:r>
            <a:endParaRPr lang="en-US" sz="1200" dirty="0"/>
          </a:p>
          <a:p>
            <a:r>
              <a:rPr lang="en-US" sz="1200" b="1" dirty="0"/>
              <a:t>FROM </a:t>
            </a:r>
            <a:r>
              <a:rPr lang="en-US" sz="1200" dirty="0" err="1"/>
              <a:t>PlayerOverallStatistics</a:t>
            </a:r>
            <a:endParaRPr lang="en-US" sz="1200" dirty="0"/>
          </a:p>
          <a:p>
            <a:endParaRPr lang="en-US" sz="1200" dirty="0"/>
          </a:p>
          <a:p>
            <a:r>
              <a:rPr lang="en-US" sz="1200" dirty="0"/>
              <a:t>-- Get top 5 teams by championship count, including ties</a:t>
            </a:r>
          </a:p>
          <a:p>
            <a:r>
              <a:rPr lang="en-US" sz="1200" dirty="0"/>
              <a:t>SELECT TOP 5 </a:t>
            </a:r>
            <a:r>
              <a:rPr lang="en-US" sz="1200" b="1" dirty="0"/>
              <a:t>WITH TIES</a:t>
            </a:r>
          </a:p>
          <a:p>
            <a:r>
              <a:rPr lang="en-US" sz="1200" dirty="0"/>
              <a:t>   	Name,</a:t>
            </a:r>
          </a:p>
          <a:p>
            <a:r>
              <a:rPr lang="en-US" sz="1200" dirty="0"/>
              <a:t>	</a:t>
            </a:r>
            <a:r>
              <a:rPr lang="en-US" sz="1200" dirty="0" err="1"/>
              <a:t>ChampionshipCount</a:t>
            </a:r>
            <a:endParaRPr lang="en-US" sz="1200" dirty="0"/>
          </a:p>
          <a:p>
            <a:r>
              <a:rPr lang="en-US" sz="1200" dirty="0"/>
              <a:t>FROM </a:t>
            </a:r>
            <a:r>
              <a:rPr lang="en-US" sz="1200" dirty="0" err="1"/>
              <a:t>dbo.Team</a:t>
            </a:r>
            <a:endParaRPr lang="en-US" sz="1200" dirty="0"/>
          </a:p>
          <a:p>
            <a:r>
              <a:rPr lang="en-US" sz="1200" dirty="0"/>
              <a:t>ORDER BY </a:t>
            </a:r>
            <a:r>
              <a:rPr lang="en-US" sz="1200" dirty="0" err="1"/>
              <a:t>ChampionshipCount</a:t>
            </a:r>
            <a:r>
              <a:rPr lang="en-US" sz="1200" dirty="0"/>
              <a:t> DESC;</a:t>
            </a:r>
          </a:p>
          <a:p>
            <a:endParaRPr lang="en-US" sz="1200" dirty="0"/>
          </a:p>
          <a:p>
            <a:r>
              <a:rPr lang="en-US" sz="1200" dirty="0"/>
              <a:t>SELECT TOP 10 </a:t>
            </a:r>
            <a:r>
              <a:rPr lang="en-US" sz="1200" b="1" dirty="0"/>
              <a:t>PERCENT</a:t>
            </a:r>
            <a:r>
              <a:rPr lang="en-US" sz="1200" dirty="0"/>
              <a:t> Name, </a:t>
            </a:r>
            <a:r>
              <a:rPr lang="en-US" sz="1200" dirty="0" err="1"/>
              <a:t>ChampionshipCount</a:t>
            </a:r>
            <a:endParaRPr lang="en-US" sz="1200" dirty="0"/>
          </a:p>
          <a:p>
            <a:r>
              <a:rPr lang="en-US" sz="1200" dirty="0"/>
              <a:t>FROM </a:t>
            </a:r>
            <a:r>
              <a:rPr lang="en-US" sz="1200" dirty="0" err="1"/>
              <a:t>dbo.Team</a:t>
            </a:r>
            <a:endParaRPr lang="en-US" sz="1200" dirty="0"/>
          </a:p>
          <a:p>
            <a:r>
              <a:rPr lang="en-US" sz="1200" dirty="0"/>
              <a:t>ORDER BY </a:t>
            </a:r>
            <a:r>
              <a:rPr lang="en-US" sz="1200" dirty="0" err="1"/>
              <a:t>ChampionshipCount</a:t>
            </a:r>
            <a:r>
              <a:rPr lang="en-US" sz="1200" dirty="0"/>
              <a:t> DESC;</a:t>
            </a:r>
          </a:p>
        </p:txBody>
      </p:sp>
      <p:sp>
        <p:nvSpPr>
          <p:cNvPr id="8" name="TextBox 7">
            <a:extLst>
              <a:ext uri="{FF2B5EF4-FFF2-40B4-BE49-F238E27FC236}">
                <a16:creationId xmlns:a16="http://schemas.microsoft.com/office/drawing/2014/main" id="{A6D0D97B-ED25-8DA0-F95F-754FBDB1FA1F}"/>
              </a:ext>
            </a:extLst>
          </p:cNvPr>
          <p:cNvSpPr txBox="1"/>
          <p:nvPr/>
        </p:nvSpPr>
        <p:spPr>
          <a:xfrm>
            <a:off x="486280" y="5009238"/>
            <a:ext cx="4214963" cy="923330"/>
          </a:xfrm>
          <a:prstGeom prst="rect">
            <a:avLst/>
          </a:prstGeom>
          <a:noFill/>
        </p:spPr>
        <p:txBody>
          <a:bodyPr wrap="square" rtlCol="0">
            <a:spAutoFit/>
          </a:bodyPr>
          <a:lstStyle/>
          <a:p>
            <a:r>
              <a:rPr lang="en-US" b="1" dirty="0"/>
              <a:t>Guidelines:</a:t>
            </a:r>
          </a:p>
          <a:p>
            <a:endParaRPr lang="en-US" sz="1200" b="1" dirty="0"/>
          </a:p>
          <a:p>
            <a:r>
              <a:rPr lang="en-US" sz="1200" dirty="0"/>
              <a:t>Avoid * for performance reasons</a:t>
            </a:r>
          </a:p>
          <a:p>
            <a:r>
              <a:rPr lang="en-US" sz="1200" dirty="0"/>
              <a:t>Concatenation of fields are referred to as </a:t>
            </a:r>
            <a:r>
              <a:rPr lang="en-US" sz="1200" b="1" dirty="0"/>
              <a:t>expressions</a:t>
            </a:r>
          </a:p>
        </p:txBody>
      </p:sp>
      <p:sp>
        <p:nvSpPr>
          <p:cNvPr id="9" name="TextBox 8">
            <a:extLst>
              <a:ext uri="{FF2B5EF4-FFF2-40B4-BE49-F238E27FC236}">
                <a16:creationId xmlns:a16="http://schemas.microsoft.com/office/drawing/2014/main" id="{23D2B02A-5191-B510-4D3F-E288F7CB14F1}"/>
              </a:ext>
            </a:extLst>
          </p:cNvPr>
          <p:cNvSpPr txBox="1"/>
          <p:nvPr/>
        </p:nvSpPr>
        <p:spPr>
          <a:xfrm>
            <a:off x="486280" y="2605987"/>
            <a:ext cx="4555017" cy="2215991"/>
          </a:xfrm>
          <a:prstGeom prst="rect">
            <a:avLst/>
          </a:prstGeom>
          <a:noFill/>
        </p:spPr>
        <p:txBody>
          <a:bodyPr wrap="square" rtlCol="0">
            <a:spAutoFit/>
          </a:bodyPr>
          <a:lstStyle/>
          <a:p>
            <a:r>
              <a:rPr lang="en-US" b="1" dirty="0"/>
              <a:t>New Keywords:</a:t>
            </a:r>
          </a:p>
          <a:p>
            <a:endParaRPr lang="en-US" sz="1200" b="1" dirty="0"/>
          </a:p>
          <a:p>
            <a:r>
              <a:rPr lang="en-US" sz="1200" b="1" dirty="0"/>
              <a:t>ALL</a:t>
            </a:r>
            <a:r>
              <a:rPr lang="en-US" sz="1200" dirty="0"/>
              <a:t> – never used as it is the default behavior</a:t>
            </a:r>
          </a:p>
          <a:p>
            <a:r>
              <a:rPr lang="en-US" sz="1200" b="1" dirty="0"/>
              <a:t>DISTINCT</a:t>
            </a:r>
            <a:r>
              <a:rPr lang="en-US" sz="1200" dirty="0"/>
              <a:t> – removes duplicate rows from a query result, returning only unique values</a:t>
            </a:r>
          </a:p>
          <a:p>
            <a:r>
              <a:rPr lang="en-US" sz="1200" b="1" dirty="0"/>
              <a:t>TOP</a:t>
            </a:r>
            <a:r>
              <a:rPr lang="en-US" sz="1200" dirty="0"/>
              <a:t> – specifies the number of rows to return</a:t>
            </a:r>
          </a:p>
          <a:p>
            <a:r>
              <a:rPr lang="en-US" sz="1200" b="1" dirty="0"/>
              <a:t>PERCENT</a:t>
            </a:r>
            <a:r>
              <a:rPr lang="en-US" sz="1200" dirty="0"/>
              <a:t> – specifies the percent of table rows to return</a:t>
            </a:r>
          </a:p>
          <a:p>
            <a:r>
              <a:rPr lang="en-US" sz="1200" b="1" dirty="0"/>
              <a:t>WITH TIES</a:t>
            </a:r>
            <a:r>
              <a:rPr lang="en-US" sz="1200" dirty="0"/>
              <a:t> - used with the TOP clause to include additional rows that have the same value in the ORDER BY column(s) as the last row in the result set.</a:t>
            </a:r>
            <a:endParaRPr lang="en-US" sz="1200" b="1" dirty="0"/>
          </a:p>
          <a:p>
            <a:r>
              <a:rPr lang="en-US" sz="1200" b="1" dirty="0"/>
              <a:t>AS</a:t>
            </a:r>
            <a:r>
              <a:rPr lang="en-US" sz="1200" dirty="0"/>
              <a:t> – used for aliasing column names</a:t>
            </a:r>
          </a:p>
        </p:txBody>
      </p:sp>
      <p:sp>
        <p:nvSpPr>
          <p:cNvPr id="10" name="TextBox 9">
            <a:extLst>
              <a:ext uri="{FF2B5EF4-FFF2-40B4-BE49-F238E27FC236}">
                <a16:creationId xmlns:a16="http://schemas.microsoft.com/office/drawing/2014/main" id="{8C8C36D5-EC48-3863-A569-EC1350F312C7}"/>
              </a:ext>
            </a:extLst>
          </p:cNvPr>
          <p:cNvSpPr txBox="1"/>
          <p:nvPr/>
        </p:nvSpPr>
        <p:spPr>
          <a:xfrm>
            <a:off x="5484303" y="4777277"/>
            <a:ext cx="4214963" cy="1292662"/>
          </a:xfrm>
          <a:prstGeom prst="rect">
            <a:avLst/>
          </a:prstGeom>
          <a:noFill/>
        </p:spPr>
        <p:txBody>
          <a:bodyPr wrap="square" rtlCol="0">
            <a:spAutoFit/>
          </a:bodyPr>
          <a:lstStyle/>
          <a:p>
            <a:r>
              <a:rPr lang="en-US" b="1" dirty="0"/>
              <a:t>New Functions:</a:t>
            </a:r>
          </a:p>
          <a:p>
            <a:endParaRPr lang="en-US" sz="1200" b="1" dirty="0"/>
          </a:p>
          <a:p>
            <a:r>
              <a:rPr lang="en-US" sz="1200" b="1" dirty="0"/>
              <a:t>GETDATE()</a:t>
            </a:r>
            <a:r>
              <a:rPr lang="en-US" sz="1200" dirty="0"/>
              <a:t> – gets the current date in the </a:t>
            </a:r>
            <a:r>
              <a:rPr lang="en-US" sz="1200" dirty="0" err="1"/>
              <a:t>timezone</a:t>
            </a:r>
            <a:r>
              <a:rPr lang="en-US" sz="1200" dirty="0"/>
              <a:t> the server results.  </a:t>
            </a:r>
          </a:p>
          <a:p>
            <a:r>
              <a:rPr lang="en-US" sz="1200" b="1" dirty="0"/>
              <a:t>GETUTCDATE()</a:t>
            </a:r>
            <a:r>
              <a:rPr lang="en-US" sz="1200" dirty="0"/>
              <a:t> – gets the current time from Greenwich England.  Also known as UTC or Coordinated Universal Time.</a:t>
            </a:r>
            <a:endParaRPr lang="en-US" sz="1200" b="1" dirty="0"/>
          </a:p>
        </p:txBody>
      </p:sp>
    </p:spTree>
    <p:extLst>
      <p:ext uri="{BB962C8B-B14F-4D97-AF65-F5344CB8AC3E}">
        <p14:creationId xmlns:p14="http://schemas.microsoft.com/office/powerpoint/2010/main" val="3576714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38C9D-E957-8EDD-40F0-C427B4EA9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F9262-3D56-ED56-25A5-3C9773D0BA22}"/>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D6431530-DA01-66CF-A4FA-8C766A697216}"/>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AA6D3316-D00F-85A6-1AE2-C521654601A6}"/>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91C64F55-F7B7-1200-829B-309B6DCBD86E}"/>
              </a:ext>
            </a:extLst>
          </p:cNvPr>
          <p:cNvSpPr>
            <a:spLocks noGrp="1"/>
          </p:cNvSpPr>
          <p:nvPr>
            <p:ph type="sldNum" sz="quarter" idx="12"/>
          </p:nvPr>
        </p:nvSpPr>
        <p:spPr/>
        <p:txBody>
          <a:bodyPr/>
          <a:lstStyle/>
          <a:p>
            <a:fld id="{F6C56E59-C124-411E-B3E7-95D014FC7158}" type="slidenum">
              <a:rPr lang="en-US" smtClean="0"/>
              <a:pPr/>
              <a:t>41</a:t>
            </a:fld>
            <a:endParaRPr lang="en-US"/>
          </a:p>
        </p:txBody>
      </p:sp>
      <p:sp>
        <p:nvSpPr>
          <p:cNvPr id="6" name="TextBox 5">
            <a:extLst>
              <a:ext uri="{FF2B5EF4-FFF2-40B4-BE49-F238E27FC236}">
                <a16:creationId xmlns:a16="http://schemas.microsoft.com/office/drawing/2014/main" id="{FF927309-C399-BF32-3FC2-FFAF8C125DBD}"/>
              </a:ext>
            </a:extLst>
          </p:cNvPr>
          <p:cNvSpPr txBox="1"/>
          <p:nvPr/>
        </p:nvSpPr>
        <p:spPr>
          <a:xfrm>
            <a:off x="3952788" y="2028872"/>
            <a:ext cx="4300406" cy="2031325"/>
          </a:xfrm>
          <a:prstGeom prst="rect">
            <a:avLst/>
          </a:prstGeom>
          <a:noFill/>
        </p:spPr>
        <p:txBody>
          <a:bodyPr wrap="square" rtlCol="0">
            <a:spAutoFit/>
          </a:bodyPr>
          <a:lstStyle/>
          <a:p>
            <a:r>
              <a:rPr lang="en-US" dirty="0"/>
              <a:t>Try it.  </a:t>
            </a:r>
          </a:p>
          <a:p>
            <a:endParaRPr lang="en-US" dirty="0"/>
          </a:p>
          <a:p>
            <a:r>
              <a:rPr lang="en-US" dirty="0"/>
              <a:t>Find the </a:t>
            </a:r>
            <a:r>
              <a:rPr lang="en-US" b="1" dirty="0"/>
              <a:t>top 5</a:t>
            </a:r>
            <a:r>
              <a:rPr lang="en-US" dirty="0"/>
              <a:t> teams with the most championships. Retrieve the Name and </a:t>
            </a:r>
            <a:r>
              <a:rPr lang="en-US" dirty="0" err="1"/>
              <a:t>ChampionshipCount</a:t>
            </a:r>
            <a:r>
              <a:rPr lang="en-US" dirty="0"/>
              <a:t>, and sort the results from the highest number of championships to the lowest.</a:t>
            </a:r>
          </a:p>
        </p:txBody>
      </p:sp>
    </p:spTree>
    <p:extLst>
      <p:ext uri="{BB962C8B-B14F-4D97-AF65-F5344CB8AC3E}">
        <p14:creationId xmlns:p14="http://schemas.microsoft.com/office/powerpoint/2010/main" val="3915819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EE6B-332E-8EC2-FB33-04B31158F5B1}"/>
              </a:ext>
            </a:extLst>
          </p:cNvPr>
          <p:cNvSpPr>
            <a:spLocks noGrp="1"/>
          </p:cNvSpPr>
          <p:nvPr>
            <p:ph type="title"/>
          </p:nvPr>
        </p:nvSpPr>
        <p:spPr/>
        <p:txBody>
          <a:bodyPr>
            <a:normAutofit fontScale="90000"/>
          </a:bodyPr>
          <a:lstStyle/>
          <a:p>
            <a:r>
              <a:rPr lang="en-US" dirty="0" err="1"/>
              <a:t>Arithmatic</a:t>
            </a:r>
            <a:r>
              <a:rPr lang="en-US" dirty="0"/>
              <a:t> Details</a:t>
            </a:r>
          </a:p>
        </p:txBody>
      </p:sp>
      <p:sp>
        <p:nvSpPr>
          <p:cNvPr id="3" name="Content Placeholder 2">
            <a:extLst>
              <a:ext uri="{FF2B5EF4-FFF2-40B4-BE49-F238E27FC236}">
                <a16:creationId xmlns:a16="http://schemas.microsoft.com/office/drawing/2014/main" id="{FD1C85B2-7B61-5671-353F-6222AC2B6106}"/>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2328BB7C-1C2F-B7C4-E228-DD7257B770AB}"/>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6D4EFE09-9F97-A3BD-EC66-52EA43DB4C33}"/>
              </a:ext>
            </a:extLst>
          </p:cNvPr>
          <p:cNvSpPr>
            <a:spLocks noGrp="1"/>
          </p:cNvSpPr>
          <p:nvPr>
            <p:ph type="sldNum" sz="quarter" idx="12"/>
          </p:nvPr>
        </p:nvSpPr>
        <p:spPr/>
        <p:txBody>
          <a:bodyPr/>
          <a:lstStyle/>
          <a:p>
            <a:fld id="{F6C56E59-C124-411E-B3E7-95D014FC7158}" type="slidenum">
              <a:rPr lang="en-US" smtClean="0"/>
              <a:pPr/>
              <a:t>42</a:t>
            </a:fld>
            <a:endParaRPr lang="en-US"/>
          </a:p>
        </p:txBody>
      </p:sp>
      <p:sp>
        <p:nvSpPr>
          <p:cNvPr id="6" name="TextBox 5">
            <a:extLst>
              <a:ext uri="{FF2B5EF4-FFF2-40B4-BE49-F238E27FC236}">
                <a16:creationId xmlns:a16="http://schemas.microsoft.com/office/drawing/2014/main" id="{4E29F43C-FC8B-3815-CFF8-096563402E91}"/>
              </a:ext>
            </a:extLst>
          </p:cNvPr>
          <p:cNvSpPr txBox="1"/>
          <p:nvPr/>
        </p:nvSpPr>
        <p:spPr>
          <a:xfrm>
            <a:off x="486280" y="1561612"/>
            <a:ext cx="4297261" cy="1938992"/>
          </a:xfrm>
          <a:prstGeom prst="rect">
            <a:avLst/>
          </a:prstGeom>
          <a:noFill/>
        </p:spPr>
        <p:txBody>
          <a:bodyPr wrap="square" rtlCol="0">
            <a:spAutoFit/>
          </a:bodyPr>
          <a:lstStyle/>
          <a:p>
            <a:r>
              <a:rPr lang="en-US" b="1" dirty="0"/>
              <a:t>Operators in order of precedence:</a:t>
            </a:r>
          </a:p>
          <a:p>
            <a:endParaRPr lang="en-US" b="1" dirty="0"/>
          </a:p>
          <a:p>
            <a:r>
              <a:rPr lang="en-US" sz="1200" b="1" dirty="0"/>
              <a:t>*       Multiplication</a:t>
            </a:r>
          </a:p>
          <a:p>
            <a:r>
              <a:rPr lang="en-US" sz="1200" b="1" dirty="0"/>
              <a:t>/       Division</a:t>
            </a:r>
          </a:p>
          <a:p>
            <a:r>
              <a:rPr lang="en-US" sz="1200" b="1" dirty="0"/>
              <a:t>%     Modulo (Remainder)</a:t>
            </a:r>
          </a:p>
          <a:p>
            <a:r>
              <a:rPr lang="en-US" sz="1200" b="1" dirty="0"/>
              <a:t>+       Addition</a:t>
            </a:r>
          </a:p>
          <a:p>
            <a:r>
              <a:rPr lang="en-US" sz="1200" b="1" dirty="0"/>
              <a:t>-        Subtraction</a:t>
            </a:r>
          </a:p>
          <a:p>
            <a:endParaRPr lang="en-US" sz="1200" dirty="0"/>
          </a:p>
          <a:p>
            <a:r>
              <a:rPr lang="en-US" sz="1200" dirty="0"/>
              <a:t>Parentheses matter</a:t>
            </a:r>
          </a:p>
        </p:txBody>
      </p:sp>
      <p:sp>
        <p:nvSpPr>
          <p:cNvPr id="7" name="TextBox 6">
            <a:extLst>
              <a:ext uri="{FF2B5EF4-FFF2-40B4-BE49-F238E27FC236}">
                <a16:creationId xmlns:a16="http://schemas.microsoft.com/office/drawing/2014/main" id="{4A2A4850-2432-F42F-575E-2DF3C3FAA85B}"/>
              </a:ext>
            </a:extLst>
          </p:cNvPr>
          <p:cNvSpPr txBox="1"/>
          <p:nvPr/>
        </p:nvSpPr>
        <p:spPr>
          <a:xfrm>
            <a:off x="5484303" y="1561612"/>
            <a:ext cx="4297261" cy="2677656"/>
          </a:xfrm>
          <a:prstGeom prst="rect">
            <a:avLst/>
          </a:prstGeom>
          <a:noFill/>
        </p:spPr>
        <p:txBody>
          <a:bodyPr wrap="square" rtlCol="0">
            <a:spAutoFit/>
          </a:bodyPr>
          <a:lstStyle/>
          <a:p>
            <a:r>
              <a:rPr lang="en-US" b="1" dirty="0"/>
              <a:t>Examples:</a:t>
            </a:r>
          </a:p>
          <a:p>
            <a:endParaRPr lang="en-US" b="1" dirty="0"/>
          </a:p>
          <a:p>
            <a:r>
              <a:rPr lang="en-US" sz="1200" b="1" dirty="0"/>
              <a:t>SELECT</a:t>
            </a:r>
            <a:r>
              <a:rPr lang="en-US" sz="1200" dirty="0"/>
              <a:t> </a:t>
            </a:r>
            <a:r>
              <a:rPr lang="en-US" sz="1200" dirty="0" err="1"/>
              <a:t>InvoiceID</a:t>
            </a:r>
            <a:r>
              <a:rPr lang="en-US" sz="1200" dirty="0"/>
              <a:t>,</a:t>
            </a:r>
          </a:p>
          <a:p>
            <a:pPr lvl="1"/>
            <a:r>
              <a:rPr lang="en-US" sz="1200" dirty="0"/>
              <a:t>    </a:t>
            </a:r>
            <a:r>
              <a:rPr lang="en-US" sz="1200" dirty="0" err="1"/>
              <a:t>InvoiceID</a:t>
            </a:r>
            <a:r>
              <a:rPr lang="en-US" sz="1200" dirty="0"/>
              <a:t> + 7 * 3 AS </a:t>
            </a:r>
            <a:r>
              <a:rPr lang="en-US" sz="1200" dirty="0" err="1"/>
              <a:t>OrderOfPrecedence</a:t>
            </a:r>
            <a:r>
              <a:rPr lang="en-US" sz="1200" dirty="0"/>
              <a:t>,</a:t>
            </a:r>
          </a:p>
          <a:p>
            <a:pPr lvl="1"/>
            <a:r>
              <a:rPr lang="en-US" sz="1200" dirty="0"/>
              <a:t>    (</a:t>
            </a:r>
            <a:r>
              <a:rPr lang="en-US" sz="1200" dirty="0" err="1"/>
              <a:t>InvoiceID</a:t>
            </a:r>
            <a:r>
              <a:rPr lang="en-US" sz="1200" dirty="0"/>
              <a:t> + 7} * 3 AS </a:t>
            </a:r>
            <a:r>
              <a:rPr lang="en-US" sz="1200" dirty="0" err="1"/>
              <a:t>AddFirst</a:t>
            </a:r>
            <a:endParaRPr lang="en-US" sz="1200" dirty="0"/>
          </a:p>
          <a:p>
            <a:r>
              <a:rPr lang="en-US" sz="1200" b="1" dirty="0"/>
              <a:t>FROM</a:t>
            </a:r>
            <a:r>
              <a:rPr lang="en-US" sz="1200" dirty="0"/>
              <a:t> Invoices</a:t>
            </a:r>
          </a:p>
          <a:p>
            <a:r>
              <a:rPr lang="en-US" sz="1200" b="1" dirty="0"/>
              <a:t>ORDER BY </a:t>
            </a:r>
            <a:r>
              <a:rPr lang="en-US" sz="1200" dirty="0" err="1"/>
              <a:t>InvoiceID</a:t>
            </a:r>
            <a:endParaRPr lang="en-US" sz="1200" dirty="0"/>
          </a:p>
          <a:p>
            <a:endParaRPr lang="en-US" sz="1200" b="1" dirty="0"/>
          </a:p>
          <a:p>
            <a:r>
              <a:rPr lang="en-US" sz="1200" b="1" dirty="0"/>
              <a:t>SELECT</a:t>
            </a:r>
            <a:r>
              <a:rPr lang="en-US" sz="1200" dirty="0"/>
              <a:t> </a:t>
            </a:r>
            <a:r>
              <a:rPr lang="en-US" sz="1200" dirty="0" err="1"/>
              <a:t>InvoiceID</a:t>
            </a:r>
            <a:r>
              <a:rPr lang="en-US" sz="1200" dirty="0"/>
              <a:t>,</a:t>
            </a:r>
          </a:p>
          <a:p>
            <a:pPr lvl="1"/>
            <a:r>
              <a:rPr lang="en-US" sz="1200" dirty="0"/>
              <a:t>   </a:t>
            </a:r>
            <a:r>
              <a:rPr lang="en-US" sz="1200" dirty="0" err="1"/>
              <a:t>InvoiceID</a:t>
            </a:r>
            <a:r>
              <a:rPr lang="en-US" sz="1200" dirty="0"/>
              <a:t> / 10 AS Quotient,</a:t>
            </a:r>
          </a:p>
          <a:p>
            <a:pPr lvl="1"/>
            <a:r>
              <a:rPr lang="en-US" sz="1200" dirty="0"/>
              <a:t>   </a:t>
            </a:r>
            <a:r>
              <a:rPr lang="en-US" sz="1200" dirty="0" err="1"/>
              <a:t>InvoiceID</a:t>
            </a:r>
            <a:r>
              <a:rPr lang="en-US" sz="1200" dirty="0"/>
              <a:t> % 10 AS Remainder</a:t>
            </a:r>
          </a:p>
          <a:p>
            <a:r>
              <a:rPr lang="en-US" sz="1200" b="1" dirty="0"/>
              <a:t>FROM</a:t>
            </a:r>
            <a:r>
              <a:rPr lang="en-US" sz="1200" dirty="0"/>
              <a:t> Invoices</a:t>
            </a:r>
          </a:p>
          <a:p>
            <a:r>
              <a:rPr lang="en-US" sz="1200" b="1" dirty="0"/>
              <a:t>ORDER BY </a:t>
            </a:r>
            <a:r>
              <a:rPr lang="en-US" sz="1200" dirty="0" err="1"/>
              <a:t>InvoiceID</a:t>
            </a:r>
            <a:r>
              <a:rPr lang="en-US" sz="1200" dirty="0"/>
              <a:t>;</a:t>
            </a:r>
          </a:p>
        </p:txBody>
      </p:sp>
    </p:spTree>
    <p:extLst>
      <p:ext uri="{BB962C8B-B14F-4D97-AF65-F5344CB8AC3E}">
        <p14:creationId xmlns:p14="http://schemas.microsoft.com/office/powerpoint/2010/main" val="1814724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9243-A774-7BFF-AD85-5436D6661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B5AF9-8EEB-FE0E-7ECE-DDC453542A5F}"/>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6DDADF04-A955-4CE8-FB68-BEE5F47E4F84}"/>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6A6B5967-3140-F961-D4EF-788EC461A5A4}"/>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7BB9C891-5CFE-AF3B-020B-1235A28CD481}"/>
              </a:ext>
            </a:extLst>
          </p:cNvPr>
          <p:cNvSpPr>
            <a:spLocks noGrp="1"/>
          </p:cNvSpPr>
          <p:nvPr>
            <p:ph type="sldNum" sz="quarter" idx="12"/>
          </p:nvPr>
        </p:nvSpPr>
        <p:spPr/>
        <p:txBody>
          <a:bodyPr/>
          <a:lstStyle/>
          <a:p>
            <a:fld id="{F6C56E59-C124-411E-B3E7-95D014FC7158}" type="slidenum">
              <a:rPr lang="en-US" smtClean="0"/>
              <a:pPr/>
              <a:t>43</a:t>
            </a:fld>
            <a:endParaRPr lang="en-US"/>
          </a:p>
        </p:txBody>
      </p:sp>
      <p:sp>
        <p:nvSpPr>
          <p:cNvPr id="6" name="TextBox 5">
            <a:extLst>
              <a:ext uri="{FF2B5EF4-FFF2-40B4-BE49-F238E27FC236}">
                <a16:creationId xmlns:a16="http://schemas.microsoft.com/office/drawing/2014/main" id="{5FC5B13D-F65A-CD15-8594-5F69A3C6A97E}"/>
              </a:ext>
            </a:extLst>
          </p:cNvPr>
          <p:cNvSpPr txBox="1"/>
          <p:nvPr/>
        </p:nvSpPr>
        <p:spPr>
          <a:xfrm>
            <a:off x="3952788" y="2076998"/>
            <a:ext cx="4300406" cy="2308324"/>
          </a:xfrm>
          <a:prstGeom prst="rect">
            <a:avLst/>
          </a:prstGeom>
          <a:noFill/>
        </p:spPr>
        <p:txBody>
          <a:bodyPr wrap="square" rtlCol="0">
            <a:spAutoFit/>
          </a:bodyPr>
          <a:lstStyle/>
          <a:p>
            <a:r>
              <a:rPr lang="en-US" dirty="0"/>
              <a:t>Try it.  </a:t>
            </a:r>
          </a:p>
          <a:p>
            <a:endParaRPr lang="en-US" dirty="0"/>
          </a:p>
          <a:p>
            <a:r>
              <a:rPr lang="en-US" dirty="0"/>
              <a:t>For each stadium, calculate the annual profit by subtracting the </a:t>
            </a:r>
            <a:r>
              <a:rPr lang="en-US" dirty="0" err="1"/>
              <a:t>AnnualOperatingCost</a:t>
            </a:r>
            <a:r>
              <a:rPr lang="en-US" dirty="0"/>
              <a:t> from the </a:t>
            </a:r>
            <a:r>
              <a:rPr lang="en-US" dirty="0" err="1"/>
              <a:t>AnnualRevenue</a:t>
            </a:r>
            <a:r>
              <a:rPr lang="en-US" dirty="0"/>
              <a:t>. Name the new column </a:t>
            </a:r>
            <a:r>
              <a:rPr lang="en-US" dirty="0" err="1"/>
              <a:t>AnnualProfit</a:t>
            </a:r>
            <a:r>
              <a:rPr lang="en-US" dirty="0"/>
              <a:t>. Include the stadium Name in your results.</a:t>
            </a:r>
          </a:p>
        </p:txBody>
      </p:sp>
    </p:spTree>
    <p:extLst>
      <p:ext uri="{BB962C8B-B14F-4D97-AF65-F5344CB8AC3E}">
        <p14:creationId xmlns:p14="http://schemas.microsoft.com/office/powerpoint/2010/main" val="3819660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FA7B-C96A-BECC-4375-11C84E9204C7}"/>
              </a:ext>
            </a:extLst>
          </p:cNvPr>
          <p:cNvSpPr>
            <a:spLocks noGrp="1"/>
          </p:cNvSpPr>
          <p:nvPr>
            <p:ph type="title"/>
          </p:nvPr>
        </p:nvSpPr>
        <p:spPr/>
        <p:txBody>
          <a:bodyPr>
            <a:normAutofit fontScale="90000"/>
          </a:bodyPr>
          <a:lstStyle/>
          <a:p>
            <a:r>
              <a:rPr lang="en-US" dirty="0"/>
              <a:t>Functions	</a:t>
            </a:r>
          </a:p>
        </p:txBody>
      </p:sp>
      <p:sp>
        <p:nvSpPr>
          <p:cNvPr id="3" name="Content Placeholder 2">
            <a:extLst>
              <a:ext uri="{FF2B5EF4-FFF2-40B4-BE49-F238E27FC236}">
                <a16:creationId xmlns:a16="http://schemas.microsoft.com/office/drawing/2014/main" id="{F50EBB88-BFDF-4F69-DE3B-05556B542435}"/>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3EFE1DD-39E7-3CD2-1C6E-663A9D7CBE19}"/>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42CC84D5-DA0E-F03D-8D9D-F22E30415F09}"/>
              </a:ext>
            </a:extLst>
          </p:cNvPr>
          <p:cNvSpPr>
            <a:spLocks noGrp="1"/>
          </p:cNvSpPr>
          <p:nvPr>
            <p:ph type="sldNum" sz="quarter" idx="12"/>
          </p:nvPr>
        </p:nvSpPr>
        <p:spPr/>
        <p:txBody>
          <a:bodyPr/>
          <a:lstStyle/>
          <a:p>
            <a:fld id="{F6C56E59-C124-411E-B3E7-95D014FC7158}" type="slidenum">
              <a:rPr lang="en-US" smtClean="0"/>
              <a:pPr/>
              <a:t>44</a:t>
            </a:fld>
            <a:endParaRPr lang="en-US"/>
          </a:p>
        </p:txBody>
      </p:sp>
      <p:sp>
        <p:nvSpPr>
          <p:cNvPr id="6" name="TextBox 5">
            <a:extLst>
              <a:ext uri="{FF2B5EF4-FFF2-40B4-BE49-F238E27FC236}">
                <a16:creationId xmlns:a16="http://schemas.microsoft.com/office/drawing/2014/main" id="{DB941413-9E90-E5F3-B87F-0C4B09EC0AC5}"/>
              </a:ext>
            </a:extLst>
          </p:cNvPr>
          <p:cNvSpPr txBox="1"/>
          <p:nvPr/>
        </p:nvSpPr>
        <p:spPr>
          <a:xfrm>
            <a:off x="494231" y="1561612"/>
            <a:ext cx="4297261" cy="2308324"/>
          </a:xfrm>
          <a:prstGeom prst="rect">
            <a:avLst/>
          </a:prstGeom>
          <a:noFill/>
        </p:spPr>
        <p:txBody>
          <a:bodyPr wrap="square" rtlCol="0">
            <a:spAutoFit/>
          </a:bodyPr>
          <a:lstStyle/>
          <a:p>
            <a:r>
              <a:rPr lang="en-US" sz="1200" b="1" dirty="0"/>
              <a:t>LEFT </a:t>
            </a:r>
            <a:r>
              <a:rPr lang="en-US" sz="1200" dirty="0"/>
              <a:t>– get the leftmost portion of a string</a:t>
            </a:r>
          </a:p>
          <a:p>
            <a:endParaRPr lang="en-US" sz="1200" b="1" dirty="0"/>
          </a:p>
          <a:p>
            <a:r>
              <a:rPr lang="en-US" sz="1200" b="1" dirty="0"/>
              <a:t>CONVERT</a:t>
            </a:r>
            <a:r>
              <a:rPr lang="en-US" sz="1200" dirty="0"/>
              <a:t> – changes a value of one data type into another data type</a:t>
            </a:r>
          </a:p>
          <a:p>
            <a:endParaRPr lang="en-US" sz="1200" b="1" dirty="0"/>
          </a:p>
          <a:p>
            <a:r>
              <a:rPr lang="en-US" sz="1200" b="1" dirty="0"/>
              <a:t>GETDATE</a:t>
            </a:r>
            <a:r>
              <a:rPr lang="en-US" sz="1200" dirty="0"/>
              <a:t> -</a:t>
            </a:r>
            <a:r>
              <a:rPr lang="en-US" sz="1200" b="1" dirty="0"/>
              <a:t> </a:t>
            </a:r>
            <a:r>
              <a:rPr lang="en-US" sz="1200" dirty="0"/>
              <a:t> gets the current date in the </a:t>
            </a:r>
            <a:r>
              <a:rPr lang="en-US" sz="1200" dirty="0" err="1"/>
              <a:t>timezone</a:t>
            </a:r>
            <a:r>
              <a:rPr lang="en-US" sz="1200" dirty="0"/>
              <a:t> the server results.  </a:t>
            </a:r>
            <a:endParaRPr lang="en-US" sz="1200" b="1" dirty="0"/>
          </a:p>
          <a:p>
            <a:endParaRPr lang="en-US" sz="1200" b="1" dirty="0"/>
          </a:p>
          <a:p>
            <a:r>
              <a:rPr lang="en-US" sz="1200" b="1" dirty="0"/>
              <a:t>DATEDIFF</a:t>
            </a:r>
            <a:r>
              <a:rPr lang="en-US" sz="1200" dirty="0"/>
              <a:t> – determines the difference between two dates using the unit of measure specified</a:t>
            </a:r>
          </a:p>
          <a:p>
            <a:endParaRPr lang="en-US" sz="1200" b="1" dirty="0"/>
          </a:p>
          <a:p>
            <a:endParaRPr lang="en-US" sz="1200" b="1" dirty="0"/>
          </a:p>
        </p:txBody>
      </p:sp>
      <p:sp>
        <p:nvSpPr>
          <p:cNvPr id="7" name="TextBox 6">
            <a:extLst>
              <a:ext uri="{FF2B5EF4-FFF2-40B4-BE49-F238E27FC236}">
                <a16:creationId xmlns:a16="http://schemas.microsoft.com/office/drawing/2014/main" id="{F6E51C1B-C412-F0F6-8B25-A78F4A09AEC5}"/>
              </a:ext>
            </a:extLst>
          </p:cNvPr>
          <p:cNvSpPr txBox="1"/>
          <p:nvPr/>
        </p:nvSpPr>
        <p:spPr>
          <a:xfrm>
            <a:off x="5807028" y="1561612"/>
            <a:ext cx="5300944" cy="3139321"/>
          </a:xfrm>
          <a:prstGeom prst="rect">
            <a:avLst/>
          </a:prstGeom>
          <a:noFill/>
        </p:spPr>
        <p:txBody>
          <a:bodyPr wrap="square" rtlCol="0">
            <a:spAutoFit/>
          </a:bodyPr>
          <a:lstStyle/>
          <a:p>
            <a:r>
              <a:rPr lang="en-US" dirty="0"/>
              <a:t>Example:</a:t>
            </a:r>
          </a:p>
          <a:p>
            <a:endParaRPr lang="en-US" sz="1200" dirty="0"/>
          </a:p>
          <a:p>
            <a:r>
              <a:rPr lang="en-US" sz="1200" dirty="0"/>
              <a:t>SELECT Id,</a:t>
            </a:r>
          </a:p>
          <a:p>
            <a:r>
              <a:rPr lang="en-US" sz="1200" dirty="0"/>
              <a:t>                 FirstName,</a:t>
            </a:r>
          </a:p>
          <a:p>
            <a:r>
              <a:rPr lang="en-US" sz="1200" dirty="0"/>
              <a:t>                 LastName,</a:t>
            </a:r>
          </a:p>
          <a:p>
            <a:r>
              <a:rPr lang="en-US" sz="1200" dirty="0"/>
              <a:t>                 </a:t>
            </a:r>
            <a:r>
              <a:rPr lang="en-US" sz="1200" b="1" dirty="0"/>
              <a:t>LEFT</a:t>
            </a:r>
            <a:r>
              <a:rPr lang="en-US" sz="1200" dirty="0"/>
              <a:t>(FirstName, 1) AS </a:t>
            </a:r>
            <a:r>
              <a:rPr lang="en-US" sz="1200" dirty="0" err="1"/>
              <a:t>FirstInitial</a:t>
            </a:r>
            <a:r>
              <a:rPr lang="en-US" sz="1200" dirty="0"/>
              <a:t>,</a:t>
            </a:r>
          </a:p>
          <a:p>
            <a:r>
              <a:rPr lang="en-US" sz="1200" dirty="0"/>
              <a:t>                 LEFT(LastName, 3) AS </a:t>
            </a:r>
            <a:r>
              <a:rPr lang="en-US" sz="1200" dirty="0" err="1"/>
              <a:t>LastNamePrefix</a:t>
            </a:r>
            <a:r>
              <a:rPr lang="en-US" sz="1200" dirty="0"/>
              <a:t>,</a:t>
            </a:r>
          </a:p>
          <a:p>
            <a:r>
              <a:rPr lang="en-US" sz="1200" dirty="0"/>
              <a:t>                 </a:t>
            </a:r>
            <a:r>
              <a:rPr lang="en-US" sz="1200" dirty="0" err="1"/>
              <a:t>BirthDate</a:t>
            </a:r>
            <a:r>
              <a:rPr lang="en-US" sz="1200" dirty="0"/>
              <a:t>,</a:t>
            </a:r>
          </a:p>
          <a:p>
            <a:r>
              <a:rPr lang="en-US" sz="1200" dirty="0"/>
              <a:t>                 </a:t>
            </a:r>
            <a:r>
              <a:rPr lang="en-US" sz="1200" b="1" dirty="0"/>
              <a:t>GETDATE</a:t>
            </a:r>
            <a:r>
              <a:rPr lang="en-US" sz="1200" dirty="0"/>
              <a:t>() AS </a:t>
            </a:r>
            <a:r>
              <a:rPr lang="en-US" sz="1200" dirty="0" err="1"/>
              <a:t>CurrentDateTime</a:t>
            </a:r>
            <a:r>
              <a:rPr lang="en-US" sz="1200" dirty="0"/>
              <a:t>,</a:t>
            </a:r>
          </a:p>
          <a:p>
            <a:r>
              <a:rPr lang="en-US" sz="1200" dirty="0"/>
              <a:t>                 </a:t>
            </a:r>
            <a:r>
              <a:rPr lang="en-US" sz="1200" b="1" dirty="0"/>
              <a:t>DATEDIFF</a:t>
            </a:r>
            <a:r>
              <a:rPr lang="en-US" sz="1200" dirty="0"/>
              <a:t>(YEAR, </a:t>
            </a:r>
            <a:r>
              <a:rPr lang="en-US" sz="1200" dirty="0" err="1"/>
              <a:t>BirthDate</a:t>
            </a:r>
            <a:r>
              <a:rPr lang="en-US" sz="1200" dirty="0"/>
              <a:t>, GETDATE()) AS </a:t>
            </a:r>
            <a:r>
              <a:rPr lang="en-US" sz="1200" dirty="0" err="1"/>
              <a:t>ApproximateAge</a:t>
            </a:r>
            <a:r>
              <a:rPr lang="en-US" sz="1200" dirty="0"/>
              <a:t>,</a:t>
            </a:r>
          </a:p>
          <a:p>
            <a:r>
              <a:rPr lang="en-US" sz="1200" dirty="0"/>
              <a:t>                 </a:t>
            </a:r>
            <a:r>
              <a:rPr lang="en-US" sz="1200" b="1" dirty="0"/>
              <a:t>DATEDIFF</a:t>
            </a:r>
            <a:r>
              <a:rPr lang="en-US" sz="1200" dirty="0"/>
              <a:t>(DAY, </a:t>
            </a:r>
            <a:r>
              <a:rPr lang="en-US" sz="1200" dirty="0" err="1"/>
              <a:t>BirthDate</a:t>
            </a:r>
            <a:r>
              <a:rPr lang="en-US" sz="1200" dirty="0"/>
              <a:t>, GETDATE()) AS </a:t>
            </a:r>
            <a:r>
              <a:rPr lang="en-US" sz="1200" dirty="0" err="1"/>
              <a:t>DaysOld</a:t>
            </a:r>
            <a:r>
              <a:rPr lang="en-US" sz="1200" dirty="0"/>
              <a:t>,</a:t>
            </a:r>
          </a:p>
          <a:p>
            <a:r>
              <a:rPr lang="en-US" sz="1200" dirty="0"/>
              <a:t>                 </a:t>
            </a:r>
            <a:r>
              <a:rPr lang="en-US" sz="1200" b="1" dirty="0"/>
              <a:t>DATEDIFF</a:t>
            </a:r>
            <a:r>
              <a:rPr lang="en-US" sz="1200" dirty="0"/>
              <a:t>(MONTH, </a:t>
            </a:r>
            <a:r>
              <a:rPr lang="en-US" sz="1200" dirty="0" err="1"/>
              <a:t>BirthDate</a:t>
            </a:r>
            <a:r>
              <a:rPr lang="en-US" sz="1200" dirty="0"/>
              <a:t>, GETDATE()) AS </a:t>
            </a:r>
            <a:r>
              <a:rPr lang="en-US" sz="1200" dirty="0" err="1"/>
              <a:t>MonthsOld</a:t>
            </a:r>
            <a:endParaRPr lang="en-US" sz="1200" dirty="0"/>
          </a:p>
          <a:p>
            <a:r>
              <a:rPr lang="en-US" sz="1200" dirty="0"/>
              <a:t>FROM </a:t>
            </a:r>
            <a:r>
              <a:rPr lang="en-US" sz="1200" dirty="0" err="1"/>
              <a:t>dbo.Player</a:t>
            </a:r>
            <a:endParaRPr lang="en-US" sz="1200" dirty="0"/>
          </a:p>
          <a:p>
            <a:r>
              <a:rPr lang="en-US" sz="1200" dirty="0"/>
              <a:t>WHERE </a:t>
            </a:r>
            <a:r>
              <a:rPr lang="en-US" sz="1200" dirty="0" err="1"/>
              <a:t>TeamId</a:t>
            </a:r>
            <a:r>
              <a:rPr lang="en-US" sz="1200" dirty="0"/>
              <a:t> = 1</a:t>
            </a:r>
          </a:p>
          <a:p>
            <a:r>
              <a:rPr lang="en-US" sz="1200" dirty="0"/>
              <a:t>ORDER BY </a:t>
            </a:r>
            <a:r>
              <a:rPr lang="en-US" sz="1200" dirty="0" err="1"/>
              <a:t>BirthDate</a:t>
            </a:r>
            <a:r>
              <a:rPr lang="en-US" sz="1200" dirty="0"/>
              <a:t>;</a:t>
            </a:r>
          </a:p>
          <a:p>
            <a:endParaRPr lang="en-US" sz="1200" b="1" dirty="0"/>
          </a:p>
        </p:txBody>
      </p:sp>
    </p:spTree>
    <p:extLst>
      <p:ext uri="{BB962C8B-B14F-4D97-AF65-F5344CB8AC3E}">
        <p14:creationId xmlns:p14="http://schemas.microsoft.com/office/powerpoint/2010/main" val="2460082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CB3C-B352-782E-7B44-3BEB8D960394}"/>
              </a:ext>
            </a:extLst>
          </p:cNvPr>
          <p:cNvSpPr>
            <a:spLocks noGrp="1"/>
          </p:cNvSpPr>
          <p:nvPr>
            <p:ph type="title"/>
          </p:nvPr>
        </p:nvSpPr>
        <p:spPr/>
        <p:txBody>
          <a:bodyPr>
            <a:normAutofit fontScale="90000"/>
          </a:bodyPr>
          <a:lstStyle/>
          <a:p>
            <a:r>
              <a:rPr lang="en-US" dirty="0"/>
              <a:t>Basic WHERE Clause</a:t>
            </a:r>
          </a:p>
        </p:txBody>
      </p:sp>
      <p:sp>
        <p:nvSpPr>
          <p:cNvPr id="3" name="Content Placeholder 2">
            <a:extLst>
              <a:ext uri="{FF2B5EF4-FFF2-40B4-BE49-F238E27FC236}">
                <a16:creationId xmlns:a16="http://schemas.microsoft.com/office/drawing/2014/main" id="{64FED6E5-A0A8-02E2-0415-9B0EEA0DD586}"/>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B020F69-39DA-54F5-FD39-E4BD0A7F2EA5}"/>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D2E886AE-075E-3EAF-3BEF-C3D9830B4965}"/>
              </a:ext>
            </a:extLst>
          </p:cNvPr>
          <p:cNvSpPr>
            <a:spLocks noGrp="1"/>
          </p:cNvSpPr>
          <p:nvPr>
            <p:ph type="sldNum" sz="quarter" idx="12"/>
          </p:nvPr>
        </p:nvSpPr>
        <p:spPr/>
        <p:txBody>
          <a:bodyPr/>
          <a:lstStyle/>
          <a:p>
            <a:fld id="{F6C56E59-C124-411E-B3E7-95D014FC7158}" type="slidenum">
              <a:rPr lang="en-US" smtClean="0"/>
              <a:pPr/>
              <a:t>45</a:t>
            </a:fld>
            <a:endParaRPr lang="en-US"/>
          </a:p>
        </p:txBody>
      </p:sp>
      <p:sp>
        <p:nvSpPr>
          <p:cNvPr id="6" name="TextBox 5">
            <a:extLst>
              <a:ext uri="{FF2B5EF4-FFF2-40B4-BE49-F238E27FC236}">
                <a16:creationId xmlns:a16="http://schemas.microsoft.com/office/drawing/2014/main" id="{379D8A59-70FF-1CDD-CC0E-1BA114B75585}"/>
              </a:ext>
            </a:extLst>
          </p:cNvPr>
          <p:cNvSpPr txBox="1"/>
          <p:nvPr/>
        </p:nvSpPr>
        <p:spPr>
          <a:xfrm>
            <a:off x="494231" y="1561612"/>
            <a:ext cx="4297261" cy="1846659"/>
          </a:xfrm>
          <a:prstGeom prst="rect">
            <a:avLst/>
          </a:prstGeom>
          <a:noFill/>
        </p:spPr>
        <p:txBody>
          <a:bodyPr wrap="square" rtlCol="0">
            <a:spAutoFit/>
          </a:bodyPr>
          <a:lstStyle/>
          <a:p>
            <a:r>
              <a:rPr lang="en-US" b="1" dirty="0"/>
              <a:t>Comparison Operators</a:t>
            </a:r>
          </a:p>
          <a:p>
            <a:endParaRPr lang="en-US" sz="1200" b="1" dirty="0"/>
          </a:p>
          <a:p>
            <a:r>
              <a:rPr lang="en-US" sz="1200" dirty="0"/>
              <a:t>=       Equal</a:t>
            </a:r>
          </a:p>
          <a:p>
            <a:r>
              <a:rPr lang="en-US" sz="1200" dirty="0"/>
              <a:t>&gt;       Greater than</a:t>
            </a:r>
          </a:p>
          <a:p>
            <a:r>
              <a:rPr lang="en-US" sz="1200" dirty="0"/>
              <a:t>&lt;       Less than</a:t>
            </a:r>
          </a:p>
          <a:p>
            <a:r>
              <a:rPr lang="en-US" sz="1200" dirty="0"/>
              <a:t>&lt;=     Less than or equal to</a:t>
            </a:r>
          </a:p>
          <a:p>
            <a:r>
              <a:rPr lang="en-US" sz="1200" dirty="0"/>
              <a:t>&gt;=     Greater than or equal to</a:t>
            </a:r>
          </a:p>
          <a:p>
            <a:r>
              <a:rPr lang="en-US" sz="1200" dirty="0"/>
              <a:t>&lt;&gt;     Not equal</a:t>
            </a:r>
          </a:p>
          <a:p>
            <a:endParaRPr lang="en-US" sz="1200" b="1" dirty="0"/>
          </a:p>
        </p:txBody>
      </p:sp>
      <p:sp>
        <p:nvSpPr>
          <p:cNvPr id="7" name="TextBox 6">
            <a:extLst>
              <a:ext uri="{FF2B5EF4-FFF2-40B4-BE49-F238E27FC236}">
                <a16:creationId xmlns:a16="http://schemas.microsoft.com/office/drawing/2014/main" id="{45DBF341-65E0-534D-D5CA-A0679417763F}"/>
              </a:ext>
            </a:extLst>
          </p:cNvPr>
          <p:cNvSpPr txBox="1"/>
          <p:nvPr/>
        </p:nvSpPr>
        <p:spPr>
          <a:xfrm>
            <a:off x="5807028" y="1561612"/>
            <a:ext cx="5300944" cy="2954655"/>
          </a:xfrm>
          <a:prstGeom prst="rect">
            <a:avLst/>
          </a:prstGeom>
          <a:noFill/>
        </p:spPr>
        <p:txBody>
          <a:bodyPr wrap="square" rtlCol="0">
            <a:spAutoFit/>
          </a:bodyPr>
          <a:lstStyle/>
          <a:p>
            <a:r>
              <a:rPr lang="en-US" dirty="0"/>
              <a:t>Examples:</a:t>
            </a:r>
          </a:p>
          <a:p>
            <a:endParaRPr lang="en-US" sz="1200" dirty="0"/>
          </a:p>
          <a:p>
            <a:r>
              <a:rPr lang="en-US" sz="1200" dirty="0"/>
              <a:t>WHERE  Country = ‘US’</a:t>
            </a:r>
          </a:p>
          <a:p>
            <a:endParaRPr lang="en-US" sz="1200" dirty="0"/>
          </a:p>
          <a:p>
            <a:r>
              <a:rPr lang="en-US" sz="1200" dirty="0"/>
              <a:t>Profitable stadiums</a:t>
            </a:r>
          </a:p>
          <a:p>
            <a:r>
              <a:rPr lang="en-US" sz="1200" dirty="0"/>
              <a:t>WHERE </a:t>
            </a:r>
            <a:r>
              <a:rPr lang="en-US" sz="1200" dirty="0" err="1"/>
              <a:t>AnnualRevenue</a:t>
            </a:r>
            <a:r>
              <a:rPr lang="en-US" sz="1200" dirty="0"/>
              <a:t> - </a:t>
            </a:r>
            <a:r>
              <a:rPr lang="en-US" sz="1200" dirty="0" err="1"/>
              <a:t>AnnualOperatingCost</a:t>
            </a:r>
            <a:r>
              <a:rPr lang="en-US" sz="1200" dirty="0"/>
              <a:t> &gt; 0</a:t>
            </a:r>
          </a:p>
          <a:p>
            <a:endParaRPr lang="en-US" sz="1200" dirty="0"/>
          </a:p>
          <a:p>
            <a:r>
              <a:rPr lang="en-US" sz="1200" dirty="0"/>
              <a:t>Teams with names from A to L</a:t>
            </a:r>
          </a:p>
          <a:p>
            <a:r>
              <a:rPr lang="en-US" sz="1200" dirty="0"/>
              <a:t>WHERE Name &lt; 'M’</a:t>
            </a:r>
          </a:p>
          <a:p>
            <a:endParaRPr lang="en-US" sz="1200" dirty="0"/>
          </a:p>
          <a:p>
            <a:r>
              <a:rPr lang="en-US" sz="1200" dirty="0"/>
              <a:t>Stadium on or before a specified date,</a:t>
            </a:r>
          </a:p>
          <a:p>
            <a:r>
              <a:rPr lang="en-US" sz="1200" dirty="0"/>
              <a:t>WHERE </a:t>
            </a:r>
            <a:r>
              <a:rPr lang="en-US" sz="1200" dirty="0" err="1"/>
              <a:t>OpenedDate</a:t>
            </a:r>
            <a:r>
              <a:rPr lang="en-US" sz="1200" dirty="0"/>
              <a:t> &lt;= '2003-03-20’</a:t>
            </a:r>
          </a:p>
          <a:p>
            <a:endParaRPr lang="en-US" sz="1200" dirty="0"/>
          </a:p>
          <a:p>
            <a:r>
              <a:rPr lang="en-US" sz="1200" dirty="0"/>
              <a:t>Team with Championship titles</a:t>
            </a:r>
          </a:p>
          <a:p>
            <a:r>
              <a:rPr lang="en-US" sz="1200" dirty="0"/>
              <a:t>WHERE </a:t>
            </a:r>
            <a:r>
              <a:rPr lang="en-US" sz="1200" dirty="0" err="1"/>
              <a:t>ChampionshipCount</a:t>
            </a:r>
            <a:r>
              <a:rPr lang="en-US" sz="1200" dirty="0"/>
              <a:t> &lt;&gt; 0</a:t>
            </a:r>
          </a:p>
        </p:txBody>
      </p:sp>
    </p:spTree>
    <p:extLst>
      <p:ext uri="{BB962C8B-B14F-4D97-AF65-F5344CB8AC3E}">
        <p14:creationId xmlns:p14="http://schemas.microsoft.com/office/powerpoint/2010/main" val="3040482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124FA-E3EC-E0C3-C4A0-C12CA16EC741}"/>
              </a:ext>
            </a:extLst>
          </p:cNvPr>
          <p:cNvSpPr>
            <a:spLocks noGrp="1"/>
          </p:cNvSpPr>
          <p:nvPr>
            <p:ph type="title"/>
          </p:nvPr>
        </p:nvSpPr>
        <p:spPr/>
        <p:txBody>
          <a:bodyPr>
            <a:normAutofit fontScale="90000"/>
          </a:bodyPr>
          <a:lstStyle/>
          <a:p>
            <a:r>
              <a:rPr lang="en-US" dirty="0"/>
              <a:t>Basic WHERE Clause</a:t>
            </a:r>
          </a:p>
        </p:txBody>
      </p:sp>
      <p:sp>
        <p:nvSpPr>
          <p:cNvPr id="3" name="Content Placeholder 2">
            <a:extLst>
              <a:ext uri="{FF2B5EF4-FFF2-40B4-BE49-F238E27FC236}">
                <a16:creationId xmlns:a16="http://schemas.microsoft.com/office/drawing/2014/main" id="{0F0DE86F-2B15-1112-ADFF-A61FEC52B8BD}"/>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E0DA7E6-8BF3-AA1A-4538-C5CAF9713BEC}"/>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58C87BED-3E59-F119-049A-E98B5E0B1159}"/>
              </a:ext>
            </a:extLst>
          </p:cNvPr>
          <p:cNvSpPr>
            <a:spLocks noGrp="1"/>
          </p:cNvSpPr>
          <p:nvPr>
            <p:ph type="sldNum" sz="quarter" idx="12"/>
          </p:nvPr>
        </p:nvSpPr>
        <p:spPr/>
        <p:txBody>
          <a:bodyPr/>
          <a:lstStyle/>
          <a:p>
            <a:fld id="{F6C56E59-C124-411E-B3E7-95D014FC7158}" type="slidenum">
              <a:rPr lang="en-US" smtClean="0"/>
              <a:pPr/>
              <a:t>46</a:t>
            </a:fld>
            <a:endParaRPr lang="en-US"/>
          </a:p>
        </p:txBody>
      </p:sp>
      <p:sp>
        <p:nvSpPr>
          <p:cNvPr id="6" name="TextBox 5">
            <a:extLst>
              <a:ext uri="{FF2B5EF4-FFF2-40B4-BE49-F238E27FC236}">
                <a16:creationId xmlns:a16="http://schemas.microsoft.com/office/drawing/2014/main" id="{C5209094-0AAC-FB2A-CAE6-DD2CA2CE92DD}"/>
              </a:ext>
            </a:extLst>
          </p:cNvPr>
          <p:cNvSpPr txBox="1"/>
          <p:nvPr/>
        </p:nvSpPr>
        <p:spPr>
          <a:xfrm>
            <a:off x="494231" y="1561612"/>
            <a:ext cx="4297261" cy="1477328"/>
          </a:xfrm>
          <a:prstGeom prst="rect">
            <a:avLst/>
          </a:prstGeom>
          <a:noFill/>
        </p:spPr>
        <p:txBody>
          <a:bodyPr wrap="square" rtlCol="0">
            <a:spAutoFit/>
          </a:bodyPr>
          <a:lstStyle/>
          <a:p>
            <a:r>
              <a:rPr lang="en-US" b="1" dirty="0"/>
              <a:t>Keywords</a:t>
            </a:r>
          </a:p>
          <a:p>
            <a:endParaRPr lang="en-US" sz="1200" b="1" dirty="0"/>
          </a:p>
          <a:p>
            <a:r>
              <a:rPr lang="en-US" sz="1200" b="1" dirty="0"/>
              <a:t>AND</a:t>
            </a:r>
          </a:p>
          <a:p>
            <a:r>
              <a:rPr lang="en-US" sz="1200" b="1" dirty="0"/>
              <a:t>OR</a:t>
            </a:r>
          </a:p>
          <a:p>
            <a:r>
              <a:rPr lang="en-US" sz="1200" b="1" dirty="0"/>
              <a:t>NOT</a:t>
            </a:r>
          </a:p>
          <a:p>
            <a:r>
              <a:rPr lang="en-US" sz="1200" dirty="0"/>
              <a:t>Parentheses </a:t>
            </a:r>
          </a:p>
          <a:p>
            <a:endParaRPr lang="en-US" sz="1200" b="1" dirty="0"/>
          </a:p>
        </p:txBody>
      </p:sp>
      <p:sp>
        <p:nvSpPr>
          <p:cNvPr id="7" name="TextBox 6">
            <a:extLst>
              <a:ext uri="{FF2B5EF4-FFF2-40B4-BE49-F238E27FC236}">
                <a16:creationId xmlns:a16="http://schemas.microsoft.com/office/drawing/2014/main" id="{DF90FF25-CE2B-7454-B357-5A37395A8534}"/>
              </a:ext>
            </a:extLst>
          </p:cNvPr>
          <p:cNvSpPr txBox="1"/>
          <p:nvPr/>
        </p:nvSpPr>
        <p:spPr>
          <a:xfrm>
            <a:off x="5814979" y="1418489"/>
            <a:ext cx="5300944" cy="4431983"/>
          </a:xfrm>
          <a:prstGeom prst="rect">
            <a:avLst/>
          </a:prstGeom>
          <a:noFill/>
        </p:spPr>
        <p:txBody>
          <a:bodyPr wrap="square" rtlCol="0">
            <a:spAutoFit/>
          </a:bodyPr>
          <a:lstStyle/>
          <a:p>
            <a:r>
              <a:rPr lang="en-US" dirty="0"/>
              <a:t>Examples:</a:t>
            </a:r>
          </a:p>
          <a:p>
            <a:endParaRPr lang="en-US" sz="1200" dirty="0"/>
          </a:p>
          <a:p>
            <a:r>
              <a:rPr lang="en-US" sz="1200" dirty="0"/>
              <a:t>-- Team from US and coach Samira Cole, or coach name Ellen Park in any country.  Common mistake.</a:t>
            </a:r>
          </a:p>
          <a:p>
            <a:r>
              <a:rPr lang="en-US" sz="1200" dirty="0"/>
              <a:t>SELECT * FROM Team</a:t>
            </a:r>
          </a:p>
          <a:p>
            <a:r>
              <a:rPr lang="en-US" sz="1200" dirty="0"/>
              <a:t>WHERE Country = 'US' AND</a:t>
            </a:r>
          </a:p>
          <a:p>
            <a:r>
              <a:rPr lang="en-US" sz="1200" dirty="0"/>
              <a:t>                 </a:t>
            </a:r>
            <a:r>
              <a:rPr lang="en-US" sz="1200" dirty="0" err="1"/>
              <a:t>CoachName</a:t>
            </a:r>
            <a:r>
              <a:rPr lang="en-US" sz="1200" dirty="0"/>
              <a:t> = 'Samira Cole' OR</a:t>
            </a:r>
          </a:p>
          <a:p>
            <a:r>
              <a:rPr lang="en-US" sz="1200" dirty="0"/>
              <a:t>                 </a:t>
            </a:r>
            <a:r>
              <a:rPr lang="en-US" sz="1200" dirty="0" err="1"/>
              <a:t>CoachName</a:t>
            </a:r>
            <a:r>
              <a:rPr lang="en-US" sz="1200" dirty="0"/>
              <a:t> = 'Ellen Park’</a:t>
            </a:r>
          </a:p>
          <a:p>
            <a:endParaRPr lang="en-US" sz="1200" dirty="0"/>
          </a:p>
          <a:p>
            <a:r>
              <a:rPr lang="en-US" sz="1200" dirty="0"/>
              <a:t>-- Team from US and coach Samira Cole or Ellen Park.  Common mistake corrected.</a:t>
            </a:r>
          </a:p>
          <a:p>
            <a:r>
              <a:rPr lang="en-US" sz="1200" dirty="0"/>
              <a:t>SELECT * FROM Team</a:t>
            </a:r>
          </a:p>
          <a:p>
            <a:r>
              <a:rPr lang="en-US" sz="1200" dirty="0"/>
              <a:t>WHERE Country = 'US' AND</a:t>
            </a:r>
          </a:p>
          <a:p>
            <a:r>
              <a:rPr lang="en-US" sz="1200" dirty="0"/>
              <a:t>                 (</a:t>
            </a:r>
            <a:r>
              <a:rPr lang="en-US" sz="1200" dirty="0" err="1"/>
              <a:t>CoachName</a:t>
            </a:r>
            <a:r>
              <a:rPr lang="en-US" sz="1200" dirty="0"/>
              <a:t> = 'Samira Cole' OR</a:t>
            </a:r>
          </a:p>
          <a:p>
            <a:r>
              <a:rPr lang="en-US" sz="1200" dirty="0"/>
              <a:t>                 </a:t>
            </a:r>
            <a:r>
              <a:rPr lang="en-US" sz="1200" dirty="0" err="1"/>
              <a:t>CoachName</a:t>
            </a:r>
            <a:r>
              <a:rPr lang="en-US" sz="1200" dirty="0"/>
              <a:t> = 'Ellen Park’)</a:t>
            </a:r>
          </a:p>
          <a:p>
            <a:endParaRPr lang="en-US" sz="1200" dirty="0"/>
          </a:p>
          <a:p>
            <a:r>
              <a:rPr lang="en-US" sz="1200" dirty="0"/>
              <a:t>-- Team from US but not coached by Samira Cole or Ellen Park.  Common mistake corrected.</a:t>
            </a:r>
          </a:p>
          <a:p>
            <a:r>
              <a:rPr lang="en-US" sz="1200" dirty="0"/>
              <a:t>SELECT * FROM Team</a:t>
            </a:r>
          </a:p>
          <a:p>
            <a:r>
              <a:rPr lang="en-US" sz="1200" dirty="0"/>
              <a:t>WHERE Country = 'US' AND</a:t>
            </a:r>
          </a:p>
          <a:p>
            <a:r>
              <a:rPr lang="en-US" sz="1200" dirty="0"/>
              <a:t>                 NOT (</a:t>
            </a:r>
            <a:r>
              <a:rPr lang="en-US" sz="1200" dirty="0" err="1"/>
              <a:t>CoachName</a:t>
            </a:r>
            <a:r>
              <a:rPr lang="en-US" sz="1200" dirty="0"/>
              <a:t> = 'Samira Cole' OR</a:t>
            </a:r>
          </a:p>
          <a:p>
            <a:r>
              <a:rPr lang="en-US" sz="1200" dirty="0"/>
              <a:t>                 </a:t>
            </a:r>
            <a:r>
              <a:rPr lang="en-US" sz="1200" dirty="0" err="1"/>
              <a:t>CoachName</a:t>
            </a:r>
            <a:r>
              <a:rPr lang="en-US" sz="1200" dirty="0"/>
              <a:t> = 'Ellen Park’)</a:t>
            </a:r>
          </a:p>
          <a:p>
            <a:endParaRPr lang="en-US" sz="1200" dirty="0"/>
          </a:p>
        </p:txBody>
      </p:sp>
    </p:spTree>
    <p:extLst>
      <p:ext uri="{BB962C8B-B14F-4D97-AF65-F5344CB8AC3E}">
        <p14:creationId xmlns:p14="http://schemas.microsoft.com/office/powerpoint/2010/main" val="115581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6E9B8-0027-EFAE-3514-13EEF6E8A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0AD1A-AE21-AE17-BCC2-F83CEA568766}"/>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4FA18790-6AB2-0E78-EDD6-1A3F68CBE1C1}"/>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B2775B9C-AC3E-1D6B-5F92-4423B629C88E}"/>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39BEB33C-62FA-0BF6-8B04-E0CEC7370C43}"/>
              </a:ext>
            </a:extLst>
          </p:cNvPr>
          <p:cNvSpPr>
            <a:spLocks noGrp="1"/>
          </p:cNvSpPr>
          <p:nvPr>
            <p:ph type="sldNum" sz="quarter" idx="12"/>
          </p:nvPr>
        </p:nvSpPr>
        <p:spPr/>
        <p:txBody>
          <a:bodyPr/>
          <a:lstStyle/>
          <a:p>
            <a:fld id="{F6C56E59-C124-411E-B3E7-95D014FC7158}" type="slidenum">
              <a:rPr lang="en-US" smtClean="0"/>
              <a:pPr/>
              <a:t>47</a:t>
            </a:fld>
            <a:endParaRPr lang="en-US"/>
          </a:p>
        </p:txBody>
      </p:sp>
      <p:sp>
        <p:nvSpPr>
          <p:cNvPr id="6" name="TextBox 5">
            <a:extLst>
              <a:ext uri="{FF2B5EF4-FFF2-40B4-BE49-F238E27FC236}">
                <a16:creationId xmlns:a16="http://schemas.microsoft.com/office/drawing/2014/main" id="{260F61E6-B493-D6C5-9057-06E47686CB74}"/>
              </a:ext>
            </a:extLst>
          </p:cNvPr>
          <p:cNvSpPr txBox="1"/>
          <p:nvPr/>
        </p:nvSpPr>
        <p:spPr>
          <a:xfrm>
            <a:off x="3952788" y="1980745"/>
            <a:ext cx="4300406" cy="2308324"/>
          </a:xfrm>
          <a:prstGeom prst="rect">
            <a:avLst/>
          </a:prstGeom>
          <a:noFill/>
        </p:spPr>
        <p:txBody>
          <a:bodyPr wrap="square" rtlCol="0">
            <a:spAutoFit/>
          </a:bodyPr>
          <a:lstStyle/>
          <a:p>
            <a:r>
              <a:rPr lang="en-US" dirty="0"/>
              <a:t>Try it.  </a:t>
            </a:r>
          </a:p>
          <a:p>
            <a:endParaRPr lang="en-US" dirty="0"/>
          </a:p>
          <a:p>
            <a:r>
              <a:rPr lang="en-US" dirty="0"/>
              <a:t>Create a result set that shows a single column named </a:t>
            </a:r>
            <a:r>
              <a:rPr lang="en-US" dirty="0" err="1"/>
              <a:t>PlayerDetails</a:t>
            </a:r>
            <a:r>
              <a:rPr lang="en-US" dirty="0"/>
              <a:t>. This column should combine the FirstName and LastName with a space in between (e.g., "John Doe"). Only include players whose Nationality is </a:t>
            </a:r>
            <a:r>
              <a:rPr lang="en-US" b="1" dirty="0"/>
              <a:t>'US'</a:t>
            </a:r>
            <a:r>
              <a:rPr lang="en-US" dirty="0"/>
              <a:t>.</a:t>
            </a:r>
          </a:p>
        </p:txBody>
      </p:sp>
    </p:spTree>
    <p:extLst>
      <p:ext uri="{BB962C8B-B14F-4D97-AF65-F5344CB8AC3E}">
        <p14:creationId xmlns:p14="http://schemas.microsoft.com/office/powerpoint/2010/main" val="1057922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B26FE-6B1C-82A7-D3B7-1BC01CB77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0D2B1-6519-46C2-23DC-7AD2149285FD}"/>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9E6D3CDF-C2E8-93DC-8A40-8F93C8AB89D2}"/>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55B148AF-B359-5267-A6A6-D7082106B7C3}"/>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6AD7CFA0-3A04-2537-1028-EFACE5171461}"/>
              </a:ext>
            </a:extLst>
          </p:cNvPr>
          <p:cNvSpPr>
            <a:spLocks noGrp="1"/>
          </p:cNvSpPr>
          <p:nvPr>
            <p:ph type="sldNum" sz="quarter" idx="12"/>
          </p:nvPr>
        </p:nvSpPr>
        <p:spPr/>
        <p:txBody>
          <a:bodyPr/>
          <a:lstStyle/>
          <a:p>
            <a:fld id="{F6C56E59-C124-411E-B3E7-95D014FC7158}" type="slidenum">
              <a:rPr lang="en-US" smtClean="0"/>
              <a:pPr/>
              <a:t>48</a:t>
            </a:fld>
            <a:endParaRPr lang="en-US"/>
          </a:p>
        </p:txBody>
      </p:sp>
      <p:sp>
        <p:nvSpPr>
          <p:cNvPr id="6" name="TextBox 5">
            <a:extLst>
              <a:ext uri="{FF2B5EF4-FFF2-40B4-BE49-F238E27FC236}">
                <a16:creationId xmlns:a16="http://schemas.microsoft.com/office/drawing/2014/main" id="{A842D507-DE32-4877-4C0F-69DA212C2AAA}"/>
              </a:ext>
            </a:extLst>
          </p:cNvPr>
          <p:cNvSpPr txBox="1"/>
          <p:nvPr/>
        </p:nvSpPr>
        <p:spPr>
          <a:xfrm>
            <a:off x="3952788" y="2125124"/>
            <a:ext cx="4300406" cy="1754326"/>
          </a:xfrm>
          <a:prstGeom prst="rect">
            <a:avLst/>
          </a:prstGeom>
          <a:noFill/>
        </p:spPr>
        <p:txBody>
          <a:bodyPr wrap="square" rtlCol="0">
            <a:spAutoFit/>
          </a:bodyPr>
          <a:lstStyle/>
          <a:p>
            <a:r>
              <a:rPr lang="en-US" dirty="0"/>
              <a:t>Try it.  </a:t>
            </a:r>
          </a:p>
          <a:p>
            <a:endParaRPr lang="en-US" dirty="0"/>
          </a:p>
          <a:p>
            <a:r>
              <a:rPr lang="en-US" dirty="0"/>
              <a:t>Retrieve the Name and </a:t>
            </a:r>
            <a:r>
              <a:rPr lang="en-US" dirty="0" err="1"/>
              <a:t>CoachName</a:t>
            </a:r>
            <a:r>
              <a:rPr lang="en-US" dirty="0"/>
              <a:t> of all teams from the Team table that are located in the </a:t>
            </a:r>
            <a:r>
              <a:rPr lang="en-US" b="1" dirty="0"/>
              <a:t>'US'</a:t>
            </a:r>
            <a:r>
              <a:rPr lang="en-US" dirty="0"/>
              <a:t> and have won </a:t>
            </a:r>
            <a:r>
              <a:rPr lang="en-US" b="1" dirty="0"/>
              <a:t>more than 2</a:t>
            </a:r>
            <a:r>
              <a:rPr lang="en-US" dirty="0"/>
              <a:t> championships.</a:t>
            </a:r>
          </a:p>
        </p:txBody>
      </p:sp>
    </p:spTree>
    <p:extLst>
      <p:ext uri="{BB962C8B-B14F-4D97-AF65-F5344CB8AC3E}">
        <p14:creationId xmlns:p14="http://schemas.microsoft.com/office/powerpoint/2010/main" val="1349527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6CC9C-A1DC-F509-E156-2420180A9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591D3-5353-2C83-371B-A9EF73673EDC}"/>
              </a:ext>
            </a:extLst>
          </p:cNvPr>
          <p:cNvSpPr>
            <a:spLocks noGrp="1"/>
          </p:cNvSpPr>
          <p:nvPr>
            <p:ph type="title"/>
          </p:nvPr>
        </p:nvSpPr>
        <p:spPr/>
        <p:txBody>
          <a:bodyPr>
            <a:normAutofit fontScale="90000"/>
          </a:bodyPr>
          <a:lstStyle/>
          <a:p>
            <a:r>
              <a:rPr lang="en-US" dirty="0"/>
              <a:t>Basic WHERE Clause</a:t>
            </a:r>
          </a:p>
        </p:txBody>
      </p:sp>
      <p:sp>
        <p:nvSpPr>
          <p:cNvPr id="3" name="Content Placeholder 2">
            <a:extLst>
              <a:ext uri="{FF2B5EF4-FFF2-40B4-BE49-F238E27FC236}">
                <a16:creationId xmlns:a16="http://schemas.microsoft.com/office/drawing/2014/main" id="{ADA7B000-C011-E29C-D79D-D22C96C378B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5EDE64B-EFB8-13CA-B594-5146E1A6C59D}"/>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1BAC4D3-5647-52F5-A7F6-04094B8D52E8}"/>
              </a:ext>
            </a:extLst>
          </p:cNvPr>
          <p:cNvSpPr>
            <a:spLocks noGrp="1"/>
          </p:cNvSpPr>
          <p:nvPr>
            <p:ph type="sldNum" sz="quarter" idx="12"/>
          </p:nvPr>
        </p:nvSpPr>
        <p:spPr/>
        <p:txBody>
          <a:bodyPr/>
          <a:lstStyle/>
          <a:p>
            <a:fld id="{F6C56E59-C124-411E-B3E7-95D014FC7158}" type="slidenum">
              <a:rPr lang="en-US" smtClean="0"/>
              <a:pPr/>
              <a:t>49</a:t>
            </a:fld>
            <a:endParaRPr lang="en-US"/>
          </a:p>
        </p:txBody>
      </p:sp>
      <p:sp>
        <p:nvSpPr>
          <p:cNvPr id="6" name="TextBox 5">
            <a:extLst>
              <a:ext uri="{FF2B5EF4-FFF2-40B4-BE49-F238E27FC236}">
                <a16:creationId xmlns:a16="http://schemas.microsoft.com/office/drawing/2014/main" id="{1AA1D3DA-28F6-D5DA-4053-76C604049C12}"/>
              </a:ext>
            </a:extLst>
          </p:cNvPr>
          <p:cNvSpPr txBox="1"/>
          <p:nvPr/>
        </p:nvSpPr>
        <p:spPr>
          <a:xfrm>
            <a:off x="494231" y="1561612"/>
            <a:ext cx="4523042" cy="1477328"/>
          </a:xfrm>
          <a:prstGeom prst="rect">
            <a:avLst/>
          </a:prstGeom>
          <a:noFill/>
        </p:spPr>
        <p:txBody>
          <a:bodyPr wrap="square" rtlCol="0">
            <a:spAutoFit/>
          </a:bodyPr>
          <a:lstStyle/>
          <a:p>
            <a:r>
              <a:rPr lang="en-US" b="1" dirty="0"/>
              <a:t>Keywords</a:t>
            </a:r>
          </a:p>
          <a:p>
            <a:endParaRPr lang="en-US" sz="1200" b="1" dirty="0"/>
          </a:p>
          <a:p>
            <a:r>
              <a:rPr lang="en-US" sz="1200" b="1" dirty="0"/>
              <a:t>IN</a:t>
            </a:r>
            <a:r>
              <a:rPr lang="en-US" sz="1200" dirty="0"/>
              <a:t> - allows you to specify multiple values in a WHERE condition, checking if a column's value matches any value in a list.</a:t>
            </a:r>
          </a:p>
          <a:p>
            <a:endParaRPr lang="en-US" sz="1200" dirty="0"/>
          </a:p>
          <a:p>
            <a:r>
              <a:rPr lang="en-US" sz="1200" b="1" dirty="0"/>
              <a:t>BETWEEN</a:t>
            </a:r>
            <a:r>
              <a:rPr lang="en-US" sz="1200" dirty="0"/>
              <a:t> - filters results to include values within a specified range (inclusive of both endpoints)</a:t>
            </a:r>
          </a:p>
        </p:txBody>
      </p:sp>
      <p:sp>
        <p:nvSpPr>
          <p:cNvPr id="7" name="TextBox 6">
            <a:extLst>
              <a:ext uri="{FF2B5EF4-FFF2-40B4-BE49-F238E27FC236}">
                <a16:creationId xmlns:a16="http://schemas.microsoft.com/office/drawing/2014/main" id="{26BB6E21-662E-7610-FE2E-50CCE58FA19A}"/>
              </a:ext>
            </a:extLst>
          </p:cNvPr>
          <p:cNvSpPr txBox="1"/>
          <p:nvPr/>
        </p:nvSpPr>
        <p:spPr>
          <a:xfrm>
            <a:off x="5814979" y="1418489"/>
            <a:ext cx="5300944" cy="1846659"/>
          </a:xfrm>
          <a:prstGeom prst="rect">
            <a:avLst/>
          </a:prstGeom>
          <a:noFill/>
        </p:spPr>
        <p:txBody>
          <a:bodyPr wrap="square" rtlCol="0">
            <a:spAutoFit/>
          </a:bodyPr>
          <a:lstStyle/>
          <a:p>
            <a:r>
              <a:rPr lang="en-US" dirty="0"/>
              <a:t>Examples:</a:t>
            </a:r>
          </a:p>
          <a:p>
            <a:endParaRPr lang="en-US" sz="1200" dirty="0"/>
          </a:p>
          <a:p>
            <a:r>
              <a:rPr lang="en-US" sz="1200" dirty="0"/>
              <a:t>-- Team from US or Japan</a:t>
            </a:r>
          </a:p>
          <a:p>
            <a:r>
              <a:rPr lang="en-US" sz="1200" dirty="0"/>
              <a:t>SELECT * FROM Team</a:t>
            </a:r>
          </a:p>
          <a:p>
            <a:r>
              <a:rPr lang="en-US" sz="1200" dirty="0"/>
              <a:t>WHERE Country </a:t>
            </a:r>
            <a:r>
              <a:rPr lang="en-US" sz="1200" b="1" dirty="0"/>
              <a:t>IN ('US', 'JP’)</a:t>
            </a:r>
          </a:p>
          <a:p>
            <a:endParaRPr lang="en-US" sz="1200" dirty="0"/>
          </a:p>
          <a:p>
            <a:r>
              <a:rPr lang="en-US" sz="1200" dirty="0"/>
              <a:t>SELECT </a:t>
            </a:r>
            <a:r>
              <a:rPr lang="en-US" sz="1200" dirty="0" err="1"/>
              <a:t>MatchDate</a:t>
            </a:r>
            <a:r>
              <a:rPr lang="en-US" sz="1200" dirty="0"/>
              <a:t>, </a:t>
            </a:r>
            <a:r>
              <a:rPr lang="en-US" sz="1200" dirty="0" err="1"/>
              <a:t>HomeTeamId</a:t>
            </a:r>
            <a:r>
              <a:rPr lang="en-US" sz="1200" dirty="0"/>
              <a:t>, </a:t>
            </a:r>
            <a:r>
              <a:rPr lang="en-US" sz="1200" dirty="0" err="1"/>
              <a:t>AwayTeamId</a:t>
            </a:r>
            <a:endParaRPr lang="en-US" sz="1200" dirty="0"/>
          </a:p>
          <a:p>
            <a:r>
              <a:rPr lang="en-US" sz="1200" dirty="0"/>
              <a:t>FROM </a:t>
            </a:r>
            <a:r>
              <a:rPr lang="en-US" sz="1200" dirty="0" err="1"/>
              <a:t>dbo.Match</a:t>
            </a:r>
            <a:endParaRPr lang="en-US" sz="1200" dirty="0"/>
          </a:p>
          <a:p>
            <a:r>
              <a:rPr lang="en-US" sz="1200" dirty="0"/>
              <a:t>WHERE </a:t>
            </a:r>
            <a:r>
              <a:rPr lang="en-US" sz="1200" dirty="0" err="1"/>
              <a:t>MatchDate</a:t>
            </a:r>
            <a:r>
              <a:rPr lang="en-US" sz="1200" dirty="0"/>
              <a:t> </a:t>
            </a:r>
            <a:r>
              <a:rPr lang="en-US" sz="1200" b="1" dirty="0"/>
              <a:t>BETWEEN</a:t>
            </a:r>
            <a:r>
              <a:rPr lang="en-US" sz="1200" dirty="0"/>
              <a:t> '2025-09-01' </a:t>
            </a:r>
            <a:r>
              <a:rPr lang="en-US" sz="1200" b="1" dirty="0"/>
              <a:t>AND</a:t>
            </a:r>
            <a:r>
              <a:rPr lang="en-US" sz="1200" dirty="0"/>
              <a:t> '2025-09-30’;</a:t>
            </a:r>
          </a:p>
        </p:txBody>
      </p:sp>
      <p:sp>
        <p:nvSpPr>
          <p:cNvPr id="8" name="TextBox 7">
            <a:extLst>
              <a:ext uri="{FF2B5EF4-FFF2-40B4-BE49-F238E27FC236}">
                <a16:creationId xmlns:a16="http://schemas.microsoft.com/office/drawing/2014/main" id="{AEFCBDCB-13B2-EC5E-5196-9AF55211A22B}"/>
              </a:ext>
            </a:extLst>
          </p:cNvPr>
          <p:cNvSpPr txBox="1"/>
          <p:nvPr/>
        </p:nvSpPr>
        <p:spPr>
          <a:xfrm>
            <a:off x="494231" y="3952607"/>
            <a:ext cx="4523042" cy="2031325"/>
          </a:xfrm>
          <a:prstGeom prst="rect">
            <a:avLst/>
          </a:prstGeom>
          <a:noFill/>
        </p:spPr>
        <p:txBody>
          <a:bodyPr wrap="square" rtlCol="0">
            <a:spAutoFit/>
          </a:bodyPr>
          <a:lstStyle/>
          <a:p>
            <a:r>
              <a:rPr lang="en-US" b="1" dirty="0"/>
              <a:t>Guidelines:</a:t>
            </a:r>
          </a:p>
          <a:p>
            <a:endParaRPr lang="en-US" sz="1200" b="1" dirty="0"/>
          </a:p>
          <a:p>
            <a:r>
              <a:rPr lang="en-US" sz="1200" dirty="0"/>
              <a:t>Be aware that using BETWEEN with Dates can have a challenge in that the end date will not include times.  For instance, in the example to the right a Match with a </a:t>
            </a:r>
            <a:r>
              <a:rPr lang="en-US" sz="1200" dirty="0" err="1"/>
              <a:t>MatchDate</a:t>
            </a:r>
            <a:r>
              <a:rPr lang="en-US" sz="1200" dirty="0"/>
              <a:t> of 9/30/2025 03:00:00 PM will not be contained within the date range.  If you want to include that time then you have a couple of options.  You can use the next date, ‘2025-10-01’, which is basically midnight.  Or you can include time in the range.  That would look like ‘2025-09-30 23:59:59.999’</a:t>
            </a:r>
            <a:endParaRPr lang="en-US" sz="1200" b="1" dirty="0"/>
          </a:p>
        </p:txBody>
      </p:sp>
    </p:spTree>
    <p:extLst>
      <p:ext uri="{BB962C8B-B14F-4D97-AF65-F5344CB8AC3E}">
        <p14:creationId xmlns:p14="http://schemas.microsoft.com/office/powerpoint/2010/main" val="1043557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4B169-9F9B-48AC-E1B4-734DD62EC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AF175-863F-B319-958D-28870C99B528}"/>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A3BD5756-49A4-9AAE-4C60-273C99514B79}"/>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3E55D7B1-FB95-BBE1-8CE1-2D792D4E562A}"/>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B703363E-392A-C198-9249-78596DD9BAD3}"/>
              </a:ext>
            </a:extLst>
          </p:cNvPr>
          <p:cNvSpPr>
            <a:spLocks noGrp="1"/>
          </p:cNvSpPr>
          <p:nvPr>
            <p:ph type="sldNum" sz="quarter" idx="12"/>
          </p:nvPr>
        </p:nvSpPr>
        <p:spPr/>
        <p:txBody>
          <a:bodyPr/>
          <a:lstStyle/>
          <a:p>
            <a:fld id="{F6C56E59-C124-411E-B3E7-95D014FC7158}" type="slidenum">
              <a:rPr lang="en-US" smtClean="0"/>
              <a:pPr/>
              <a:t>50</a:t>
            </a:fld>
            <a:endParaRPr lang="en-US"/>
          </a:p>
        </p:txBody>
      </p:sp>
      <p:sp>
        <p:nvSpPr>
          <p:cNvPr id="6" name="TextBox 5">
            <a:extLst>
              <a:ext uri="{FF2B5EF4-FFF2-40B4-BE49-F238E27FC236}">
                <a16:creationId xmlns:a16="http://schemas.microsoft.com/office/drawing/2014/main" id="{90BE5FC2-8833-2F4C-3397-CF666D4E069E}"/>
              </a:ext>
            </a:extLst>
          </p:cNvPr>
          <p:cNvSpPr txBox="1"/>
          <p:nvPr/>
        </p:nvSpPr>
        <p:spPr>
          <a:xfrm>
            <a:off x="3952788" y="2089030"/>
            <a:ext cx="4300406" cy="1477328"/>
          </a:xfrm>
          <a:prstGeom prst="rect">
            <a:avLst/>
          </a:prstGeom>
          <a:noFill/>
        </p:spPr>
        <p:txBody>
          <a:bodyPr wrap="square" rtlCol="0">
            <a:spAutoFit/>
          </a:bodyPr>
          <a:lstStyle/>
          <a:p>
            <a:r>
              <a:rPr lang="en-US" dirty="0"/>
              <a:t>Try it.  </a:t>
            </a:r>
          </a:p>
          <a:p>
            <a:endParaRPr lang="en-US" dirty="0"/>
          </a:p>
          <a:p>
            <a:r>
              <a:rPr lang="en-US" dirty="0"/>
              <a:t>Write a query to find all players who play in the positions of </a:t>
            </a:r>
            <a:r>
              <a:rPr lang="en-US" b="1" dirty="0"/>
              <a:t>'Thrower'</a:t>
            </a:r>
            <a:r>
              <a:rPr lang="en-US" dirty="0"/>
              <a:t>, </a:t>
            </a:r>
            <a:r>
              <a:rPr lang="en-US" b="1" dirty="0"/>
              <a:t>'Catcher'</a:t>
            </a:r>
            <a:r>
              <a:rPr lang="en-US" dirty="0"/>
              <a:t>, or </a:t>
            </a:r>
            <a:r>
              <a:rPr lang="en-US" b="1" dirty="0"/>
              <a:t>'Sweeper'</a:t>
            </a:r>
            <a:r>
              <a:rPr lang="en-US" dirty="0"/>
              <a:t>. Sort the results by LastName.</a:t>
            </a:r>
          </a:p>
        </p:txBody>
      </p:sp>
    </p:spTree>
    <p:extLst>
      <p:ext uri="{BB962C8B-B14F-4D97-AF65-F5344CB8AC3E}">
        <p14:creationId xmlns:p14="http://schemas.microsoft.com/office/powerpoint/2010/main" val="2365409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DADC-559A-1396-71EC-A501B5873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B94D8-295C-7094-A921-789AA8D00F60}"/>
              </a:ext>
            </a:extLst>
          </p:cNvPr>
          <p:cNvSpPr>
            <a:spLocks noGrp="1"/>
          </p:cNvSpPr>
          <p:nvPr>
            <p:ph type="title"/>
          </p:nvPr>
        </p:nvSpPr>
        <p:spPr/>
        <p:txBody>
          <a:bodyPr>
            <a:normAutofit fontScale="90000"/>
          </a:bodyPr>
          <a:lstStyle/>
          <a:p>
            <a:r>
              <a:rPr lang="en-US" dirty="0"/>
              <a:t>Basic WHERE Clause</a:t>
            </a:r>
          </a:p>
        </p:txBody>
      </p:sp>
      <p:sp>
        <p:nvSpPr>
          <p:cNvPr id="3" name="Content Placeholder 2">
            <a:extLst>
              <a:ext uri="{FF2B5EF4-FFF2-40B4-BE49-F238E27FC236}">
                <a16:creationId xmlns:a16="http://schemas.microsoft.com/office/drawing/2014/main" id="{8DAE279D-141F-B60F-9D0D-127EF6C54B8C}"/>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7EE881C9-06A5-85D6-77DF-5F404DD728DD}"/>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9D92AB9E-8902-652E-C32F-CBC294C2EE65}"/>
              </a:ext>
            </a:extLst>
          </p:cNvPr>
          <p:cNvSpPr>
            <a:spLocks noGrp="1"/>
          </p:cNvSpPr>
          <p:nvPr>
            <p:ph type="sldNum" sz="quarter" idx="12"/>
          </p:nvPr>
        </p:nvSpPr>
        <p:spPr/>
        <p:txBody>
          <a:bodyPr/>
          <a:lstStyle/>
          <a:p>
            <a:fld id="{F6C56E59-C124-411E-B3E7-95D014FC7158}" type="slidenum">
              <a:rPr lang="en-US" smtClean="0"/>
              <a:pPr/>
              <a:t>51</a:t>
            </a:fld>
            <a:endParaRPr lang="en-US"/>
          </a:p>
        </p:txBody>
      </p:sp>
      <p:sp>
        <p:nvSpPr>
          <p:cNvPr id="7" name="TextBox 6">
            <a:extLst>
              <a:ext uri="{FF2B5EF4-FFF2-40B4-BE49-F238E27FC236}">
                <a16:creationId xmlns:a16="http://schemas.microsoft.com/office/drawing/2014/main" id="{7B1B1E2E-7ECB-2FE4-44C3-86ADC74E3EC1}"/>
              </a:ext>
            </a:extLst>
          </p:cNvPr>
          <p:cNvSpPr txBox="1"/>
          <p:nvPr/>
        </p:nvSpPr>
        <p:spPr>
          <a:xfrm>
            <a:off x="5814979" y="1418489"/>
            <a:ext cx="5300944" cy="1846659"/>
          </a:xfrm>
          <a:prstGeom prst="rect">
            <a:avLst/>
          </a:prstGeom>
          <a:noFill/>
        </p:spPr>
        <p:txBody>
          <a:bodyPr wrap="square" rtlCol="0">
            <a:spAutoFit/>
          </a:bodyPr>
          <a:lstStyle/>
          <a:p>
            <a:r>
              <a:rPr lang="en-US" dirty="0"/>
              <a:t>Examples:</a:t>
            </a:r>
          </a:p>
          <a:p>
            <a:endParaRPr lang="en-US" sz="1200" dirty="0"/>
          </a:p>
          <a:p>
            <a:r>
              <a:rPr lang="en-US" sz="1200" dirty="0"/>
              <a:t>WHERE City LIKE 'Va%’		-- Vancouver</a:t>
            </a:r>
          </a:p>
          <a:p>
            <a:endParaRPr lang="en-US" sz="1200" dirty="0"/>
          </a:p>
          <a:p>
            <a:r>
              <a:rPr lang="en-US" sz="1200" dirty="0"/>
              <a:t>WHERE City LIKE 'L_s%'		-- Los Angeles and Lisbon</a:t>
            </a:r>
          </a:p>
          <a:p>
            <a:endParaRPr lang="en-US" sz="1200" dirty="0"/>
          </a:p>
          <a:p>
            <a:r>
              <a:rPr lang="en-US" sz="1200" dirty="0"/>
              <a:t>WHERE country like 'U[A-K]'		-- UK</a:t>
            </a:r>
          </a:p>
          <a:p>
            <a:endParaRPr lang="en-US" sz="1200" dirty="0"/>
          </a:p>
          <a:p>
            <a:r>
              <a:rPr lang="en-US" sz="1200" dirty="0"/>
              <a:t>WHERE country like 'U[^A-K]'	-- US</a:t>
            </a:r>
          </a:p>
        </p:txBody>
      </p:sp>
      <p:graphicFrame>
        <p:nvGraphicFramePr>
          <p:cNvPr id="9" name="Content Placeholder 5">
            <a:extLst>
              <a:ext uri="{FF2B5EF4-FFF2-40B4-BE49-F238E27FC236}">
                <a16:creationId xmlns:a16="http://schemas.microsoft.com/office/drawing/2014/main" id="{A8913623-6883-E1BA-92FC-A92DF4DD99DF}"/>
              </a:ext>
            </a:extLst>
          </p:cNvPr>
          <p:cNvGraphicFramePr>
            <a:graphicFrameLocks/>
          </p:cNvGraphicFramePr>
          <p:nvPr>
            <p:extLst>
              <p:ext uri="{D42A27DB-BD31-4B8C-83A1-F6EECF244321}">
                <p14:modId xmlns:p14="http://schemas.microsoft.com/office/powerpoint/2010/main" val="2275601551"/>
              </p:ext>
            </p:extLst>
          </p:nvPr>
        </p:nvGraphicFramePr>
        <p:xfrm>
          <a:off x="315455" y="1792049"/>
          <a:ext cx="4635968" cy="1473420"/>
        </p:xfrm>
        <a:graphic>
          <a:graphicData uri="http://schemas.openxmlformats.org/drawingml/2006/table">
            <a:tbl>
              <a:tblPr firstRow="1" bandRow="1">
                <a:tableStyleId>{5C22544A-7EE6-4342-B048-85BDC9FD1C3A}</a:tableStyleId>
              </a:tblPr>
              <a:tblGrid>
                <a:gridCol w="1098382">
                  <a:extLst>
                    <a:ext uri="{9D8B030D-6E8A-4147-A177-3AD203B41FA5}">
                      <a16:colId xmlns:a16="http://schemas.microsoft.com/office/drawing/2014/main" val="2901768082"/>
                    </a:ext>
                  </a:extLst>
                </a:gridCol>
                <a:gridCol w="3537586">
                  <a:extLst>
                    <a:ext uri="{9D8B030D-6E8A-4147-A177-3AD203B41FA5}">
                      <a16:colId xmlns:a16="http://schemas.microsoft.com/office/drawing/2014/main" val="4109777118"/>
                    </a:ext>
                  </a:extLst>
                </a:gridCol>
              </a:tblGrid>
              <a:tr h="290079">
                <a:tc>
                  <a:txBody>
                    <a:bodyPr/>
                    <a:lstStyle/>
                    <a:p>
                      <a:r>
                        <a:rPr lang="en-US" sz="1200" dirty="0"/>
                        <a:t>Symbol</a:t>
                      </a:r>
                    </a:p>
                  </a:txBody>
                  <a:tcPr/>
                </a:tc>
                <a:tc>
                  <a:txBody>
                    <a:bodyPr/>
                    <a:lstStyle/>
                    <a:p>
                      <a:r>
                        <a:rPr lang="en-US" sz="1200" dirty="0"/>
                        <a:t>Description</a:t>
                      </a:r>
                    </a:p>
                  </a:txBody>
                  <a:tcPr/>
                </a:tc>
                <a:extLst>
                  <a:ext uri="{0D108BD9-81ED-4DB2-BD59-A6C34878D82A}">
                    <a16:rowId xmlns:a16="http://schemas.microsoft.com/office/drawing/2014/main" val="3490119204"/>
                  </a:ext>
                </a:extLst>
              </a:tr>
              <a:tr h="215153">
                <a:tc>
                  <a:txBody>
                    <a:bodyPr/>
                    <a:lstStyle/>
                    <a:p>
                      <a:r>
                        <a:rPr lang="en-US" sz="900" dirty="0"/>
                        <a:t>%</a:t>
                      </a:r>
                    </a:p>
                  </a:txBody>
                  <a:tcPr/>
                </a:tc>
                <a:tc>
                  <a:txBody>
                    <a:bodyPr/>
                    <a:lstStyle/>
                    <a:p>
                      <a:r>
                        <a:rPr lang="en-US" sz="900" dirty="0"/>
                        <a:t>Matches any string of zero or more character</a:t>
                      </a:r>
                    </a:p>
                  </a:txBody>
                  <a:tcPr/>
                </a:tc>
                <a:extLst>
                  <a:ext uri="{0D108BD9-81ED-4DB2-BD59-A6C34878D82A}">
                    <a16:rowId xmlns:a16="http://schemas.microsoft.com/office/drawing/2014/main" val="2432556007"/>
                  </a:ext>
                </a:extLst>
              </a:tr>
              <a:tr h="219635">
                <a:tc>
                  <a:txBody>
                    <a:bodyPr/>
                    <a:lstStyle/>
                    <a:p>
                      <a:r>
                        <a:rPr lang="en-US" sz="900" dirty="0"/>
                        <a:t>_</a:t>
                      </a:r>
                    </a:p>
                  </a:txBody>
                  <a:tcPr/>
                </a:tc>
                <a:tc>
                  <a:txBody>
                    <a:bodyPr/>
                    <a:lstStyle/>
                    <a:p>
                      <a:r>
                        <a:rPr lang="en-US" sz="900" dirty="0"/>
                        <a:t>Matches any single character.</a:t>
                      </a:r>
                    </a:p>
                  </a:txBody>
                  <a:tcPr/>
                </a:tc>
                <a:extLst>
                  <a:ext uri="{0D108BD9-81ED-4DB2-BD59-A6C34878D82A}">
                    <a16:rowId xmlns:a16="http://schemas.microsoft.com/office/drawing/2014/main" val="2317714641"/>
                  </a:ext>
                </a:extLst>
              </a:tr>
              <a:tr h="242047">
                <a:tc>
                  <a:txBody>
                    <a:bodyPr/>
                    <a:lstStyle/>
                    <a:p>
                      <a:r>
                        <a:rPr lang="en-US" sz="900" dirty="0"/>
                        <a:t>[ ]</a:t>
                      </a:r>
                    </a:p>
                  </a:txBody>
                  <a:tcPr/>
                </a:tc>
                <a:tc>
                  <a:txBody>
                    <a:bodyPr/>
                    <a:lstStyle/>
                    <a:p>
                      <a:r>
                        <a:rPr lang="en-US" sz="900" dirty="0"/>
                        <a:t>Matches a single character listed withing the brackets.</a:t>
                      </a:r>
                    </a:p>
                  </a:txBody>
                  <a:tcPr/>
                </a:tc>
                <a:extLst>
                  <a:ext uri="{0D108BD9-81ED-4DB2-BD59-A6C34878D82A}">
                    <a16:rowId xmlns:a16="http://schemas.microsoft.com/office/drawing/2014/main" val="253621417"/>
                  </a:ext>
                </a:extLst>
              </a:tr>
              <a:tr h="242047">
                <a:tc>
                  <a:txBody>
                    <a:bodyPr/>
                    <a:lstStyle/>
                    <a:p>
                      <a:r>
                        <a:rPr lang="en-US" sz="900" dirty="0"/>
                        <a:t>[ - ]</a:t>
                      </a:r>
                    </a:p>
                  </a:txBody>
                  <a:tcPr/>
                </a:tc>
                <a:tc>
                  <a:txBody>
                    <a:bodyPr/>
                    <a:lstStyle/>
                    <a:p>
                      <a:r>
                        <a:rPr lang="en-US" sz="900" dirty="0"/>
                        <a:t>Matches a single character within the given range.</a:t>
                      </a:r>
                    </a:p>
                  </a:txBody>
                  <a:tcPr/>
                </a:tc>
                <a:extLst>
                  <a:ext uri="{0D108BD9-81ED-4DB2-BD59-A6C34878D82A}">
                    <a16:rowId xmlns:a16="http://schemas.microsoft.com/office/drawing/2014/main" val="3998765506"/>
                  </a:ext>
                </a:extLst>
              </a:tr>
              <a:tr h="242047">
                <a:tc>
                  <a:txBody>
                    <a:bodyPr/>
                    <a:lstStyle/>
                    <a:p>
                      <a:r>
                        <a:rPr lang="en-US" sz="900" dirty="0"/>
                        <a:t>[ ^ ]</a:t>
                      </a:r>
                    </a:p>
                  </a:txBody>
                  <a:tcPr/>
                </a:tc>
                <a:tc>
                  <a:txBody>
                    <a:bodyPr/>
                    <a:lstStyle/>
                    <a:p>
                      <a:r>
                        <a:rPr lang="en-US" sz="900" dirty="0"/>
                        <a:t>Matches a single  character not listed after the caret.</a:t>
                      </a:r>
                    </a:p>
                  </a:txBody>
                  <a:tcPr/>
                </a:tc>
                <a:extLst>
                  <a:ext uri="{0D108BD9-81ED-4DB2-BD59-A6C34878D82A}">
                    <a16:rowId xmlns:a16="http://schemas.microsoft.com/office/drawing/2014/main" val="423696267"/>
                  </a:ext>
                </a:extLst>
              </a:tr>
            </a:tbl>
          </a:graphicData>
        </a:graphic>
      </p:graphicFrame>
      <p:sp>
        <p:nvSpPr>
          <p:cNvPr id="10" name="TextBox 9">
            <a:extLst>
              <a:ext uri="{FF2B5EF4-FFF2-40B4-BE49-F238E27FC236}">
                <a16:creationId xmlns:a16="http://schemas.microsoft.com/office/drawing/2014/main" id="{90736BF9-2743-AADA-91C1-342F237E12A6}"/>
              </a:ext>
            </a:extLst>
          </p:cNvPr>
          <p:cNvSpPr txBox="1"/>
          <p:nvPr/>
        </p:nvSpPr>
        <p:spPr>
          <a:xfrm>
            <a:off x="315455" y="1418489"/>
            <a:ext cx="4312024" cy="369332"/>
          </a:xfrm>
          <a:prstGeom prst="rect">
            <a:avLst/>
          </a:prstGeom>
          <a:noFill/>
        </p:spPr>
        <p:txBody>
          <a:bodyPr wrap="square" rtlCol="0">
            <a:spAutoFit/>
          </a:bodyPr>
          <a:lstStyle/>
          <a:p>
            <a:r>
              <a:rPr lang="en-US" dirty="0"/>
              <a:t>Wildcards symbols</a:t>
            </a:r>
          </a:p>
        </p:txBody>
      </p:sp>
    </p:spTree>
    <p:extLst>
      <p:ext uri="{BB962C8B-B14F-4D97-AF65-F5344CB8AC3E}">
        <p14:creationId xmlns:p14="http://schemas.microsoft.com/office/powerpoint/2010/main" val="2065331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8A44C-C7B2-DBD2-8DBC-C20724977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CAE1D-A8FE-712D-7869-C1AD7F9113A9}"/>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7F8C479E-9469-552E-0D4D-AA6F59DC1B33}"/>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8D896EE9-C35A-2D02-0E0E-8F6C22318334}"/>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2DFD7ECB-BD5E-41FD-395D-8C07D0B9D143}"/>
              </a:ext>
            </a:extLst>
          </p:cNvPr>
          <p:cNvSpPr>
            <a:spLocks noGrp="1"/>
          </p:cNvSpPr>
          <p:nvPr>
            <p:ph type="sldNum" sz="quarter" idx="12"/>
          </p:nvPr>
        </p:nvSpPr>
        <p:spPr/>
        <p:txBody>
          <a:bodyPr/>
          <a:lstStyle/>
          <a:p>
            <a:fld id="{F6C56E59-C124-411E-B3E7-95D014FC7158}" type="slidenum">
              <a:rPr lang="en-US" smtClean="0"/>
              <a:pPr/>
              <a:t>52</a:t>
            </a:fld>
            <a:endParaRPr lang="en-US"/>
          </a:p>
        </p:txBody>
      </p:sp>
      <p:sp>
        <p:nvSpPr>
          <p:cNvPr id="6" name="TextBox 5">
            <a:extLst>
              <a:ext uri="{FF2B5EF4-FFF2-40B4-BE49-F238E27FC236}">
                <a16:creationId xmlns:a16="http://schemas.microsoft.com/office/drawing/2014/main" id="{7338C3AB-7BF3-BC2C-E19B-3409C9D1DDDA}"/>
              </a:ext>
            </a:extLst>
          </p:cNvPr>
          <p:cNvSpPr txBox="1"/>
          <p:nvPr/>
        </p:nvSpPr>
        <p:spPr>
          <a:xfrm>
            <a:off x="3952788" y="2113093"/>
            <a:ext cx="4300406" cy="1754326"/>
          </a:xfrm>
          <a:prstGeom prst="rect">
            <a:avLst/>
          </a:prstGeom>
          <a:noFill/>
        </p:spPr>
        <p:txBody>
          <a:bodyPr wrap="square" rtlCol="0">
            <a:spAutoFit/>
          </a:bodyPr>
          <a:lstStyle/>
          <a:p>
            <a:r>
              <a:rPr lang="en-US" dirty="0"/>
              <a:t>Try it.  </a:t>
            </a:r>
          </a:p>
          <a:p>
            <a:endParaRPr lang="en-US" dirty="0"/>
          </a:p>
          <a:p>
            <a:r>
              <a:rPr lang="en-US" dirty="0"/>
              <a:t>Find all teams whose names start with the word </a:t>
            </a:r>
            <a:r>
              <a:rPr lang="en-US" b="1" dirty="0"/>
              <a:t>'Harbor'</a:t>
            </a:r>
            <a:r>
              <a:rPr lang="en-US" dirty="0"/>
              <a:t>. Use the appropriate wildcard to ensure any characters following 'Harbor' are included.</a:t>
            </a:r>
          </a:p>
        </p:txBody>
      </p:sp>
    </p:spTree>
    <p:extLst>
      <p:ext uri="{BB962C8B-B14F-4D97-AF65-F5344CB8AC3E}">
        <p14:creationId xmlns:p14="http://schemas.microsoft.com/office/powerpoint/2010/main" val="855255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BF2E-0F51-823E-0109-97AA8130713A}"/>
              </a:ext>
            </a:extLst>
          </p:cNvPr>
          <p:cNvSpPr>
            <a:spLocks noGrp="1"/>
          </p:cNvSpPr>
          <p:nvPr>
            <p:ph type="title"/>
          </p:nvPr>
        </p:nvSpPr>
        <p:spPr/>
        <p:txBody>
          <a:bodyPr>
            <a:normAutofit fontScale="90000"/>
          </a:bodyPr>
          <a:lstStyle/>
          <a:p>
            <a:r>
              <a:rPr lang="en-US" dirty="0"/>
              <a:t>Basic WHERE Clause</a:t>
            </a:r>
          </a:p>
        </p:txBody>
      </p:sp>
      <p:sp>
        <p:nvSpPr>
          <p:cNvPr id="3" name="Content Placeholder 2">
            <a:extLst>
              <a:ext uri="{FF2B5EF4-FFF2-40B4-BE49-F238E27FC236}">
                <a16:creationId xmlns:a16="http://schemas.microsoft.com/office/drawing/2014/main" id="{A11E3162-36A3-5177-10F3-9EDF3B8512E8}"/>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CAFA70E-C7A5-7432-27C3-ACE4B96C7BCE}"/>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75BED435-396B-5F1D-09D2-435D43AF5CEC}"/>
              </a:ext>
            </a:extLst>
          </p:cNvPr>
          <p:cNvSpPr>
            <a:spLocks noGrp="1"/>
          </p:cNvSpPr>
          <p:nvPr>
            <p:ph type="sldNum" sz="quarter" idx="12"/>
          </p:nvPr>
        </p:nvSpPr>
        <p:spPr/>
        <p:txBody>
          <a:bodyPr/>
          <a:lstStyle/>
          <a:p>
            <a:fld id="{F6C56E59-C124-411E-B3E7-95D014FC7158}" type="slidenum">
              <a:rPr lang="en-US" smtClean="0"/>
              <a:pPr/>
              <a:t>53</a:t>
            </a:fld>
            <a:endParaRPr lang="en-US"/>
          </a:p>
        </p:txBody>
      </p:sp>
      <p:sp>
        <p:nvSpPr>
          <p:cNvPr id="6" name="TextBox 5">
            <a:extLst>
              <a:ext uri="{FF2B5EF4-FFF2-40B4-BE49-F238E27FC236}">
                <a16:creationId xmlns:a16="http://schemas.microsoft.com/office/drawing/2014/main" id="{D24A45DB-4DF7-CAFE-97BB-7ABF131AE098}"/>
              </a:ext>
            </a:extLst>
          </p:cNvPr>
          <p:cNvSpPr txBox="1"/>
          <p:nvPr/>
        </p:nvSpPr>
        <p:spPr>
          <a:xfrm>
            <a:off x="494231" y="1561612"/>
            <a:ext cx="4523042" cy="1107996"/>
          </a:xfrm>
          <a:prstGeom prst="rect">
            <a:avLst/>
          </a:prstGeom>
          <a:noFill/>
        </p:spPr>
        <p:txBody>
          <a:bodyPr wrap="square" rtlCol="0">
            <a:spAutoFit/>
          </a:bodyPr>
          <a:lstStyle/>
          <a:p>
            <a:r>
              <a:rPr lang="en-US" b="1" dirty="0"/>
              <a:t>Keywords</a:t>
            </a:r>
          </a:p>
          <a:p>
            <a:endParaRPr lang="en-US" sz="1200" b="1" dirty="0"/>
          </a:p>
          <a:p>
            <a:r>
              <a:rPr lang="en-US" sz="1200" b="1" dirty="0"/>
              <a:t>NULL</a:t>
            </a:r>
            <a:r>
              <a:rPr lang="en-US" sz="1200" dirty="0"/>
              <a:t> – used to represent unknown data</a:t>
            </a:r>
          </a:p>
          <a:p>
            <a:endParaRPr lang="en-US" sz="1200" dirty="0"/>
          </a:p>
          <a:p>
            <a:endParaRPr lang="en-US" sz="1200" dirty="0"/>
          </a:p>
        </p:txBody>
      </p:sp>
      <p:sp>
        <p:nvSpPr>
          <p:cNvPr id="7" name="TextBox 6">
            <a:extLst>
              <a:ext uri="{FF2B5EF4-FFF2-40B4-BE49-F238E27FC236}">
                <a16:creationId xmlns:a16="http://schemas.microsoft.com/office/drawing/2014/main" id="{1DB84518-70CF-7340-48FE-BD567032102A}"/>
              </a:ext>
            </a:extLst>
          </p:cNvPr>
          <p:cNvSpPr txBox="1"/>
          <p:nvPr/>
        </p:nvSpPr>
        <p:spPr>
          <a:xfrm>
            <a:off x="5814979" y="1418489"/>
            <a:ext cx="5300944" cy="1661993"/>
          </a:xfrm>
          <a:prstGeom prst="rect">
            <a:avLst/>
          </a:prstGeom>
          <a:noFill/>
        </p:spPr>
        <p:txBody>
          <a:bodyPr wrap="square" rtlCol="0">
            <a:spAutoFit/>
          </a:bodyPr>
          <a:lstStyle/>
          <a:p>
            <a:r>
              <a:rPr lang="en-US" dirty="0"/>
              <a:t>Examples:</a:t>
            </a:r>
          </a:p>
          <a:p>
            <a:endParaRPr lang="en-US" sz="1200" dirty="0"/>
          </a:p>
          <a:p>
            <a:r>
              <a:rPr lang="en-US" sz="1200" dirty="0"/>
              <a:t>-- List player with unknown birth date</a:t>
            </a:r>
          </a:p>
          <a:p>
            <a:r>
              <a:rPr lang="en-US" sz="1200" dirty="0"/>
              <a:t>select * from Player where </a:t>
            </a:r>
            <a:r>
              <a:rPr lang="en-US" sz="1200" dirty="0" err="1"/>
              <a:t>BirthDate</a:t>
            </a:r>
            <a:r>
              <a:rPr lang="en-US" sz="1200" dirty="0"/>
              <a:t> is </a:t>
            </a:r>
            <a:r>
              <a:rPr lang="en-US" sz="1200" b="1" dirty="0"/>
              <a:t>NULL</a:t>
            </a:r>
          </a:p>
          <a:p>
            <a:endParaRPr lang="en-US" sz="1200" dirty="0"/>
          </a:p>
          <a:p>
            <a:r>
              <a:rPr lang="en-US" sz="1200" dirty="0"/>
              <a:t>-- List player with only known birth date</a:t>
            </a:r>
          </a:p>
          <a:p>
            <a:r>
              <a:rPr lang="en-US" sz="1200" dirty="0"/>
              <a:t>select * from Player where </a:t>
            </a:r>
            <a:r>
              <a:rPr lang="en-US" sz="1200" dirty="0" err="1"/>
              <a:t>BirthDate</a:t>
            </a:r>
            <a:r>
              <a:rPr lang="en-US" sz="1200" dirty="0"/>
              <a:t> is </a:t>
            </a:r>
            <a:r>
              <a:rPr lang="en-US" sz="1200" b="1" dirty="0"/>
              <a:t>NOT NULL</a:t>
            </a:r>
          </a:p>
          <a:p>
            <a:endParaRPr lang="en-US" sz="1200" dirty="0"/>
          </a:p>
        </p:txBody>
      </p:sp>
    </p:spTree>
    <p:extLst>
      <p:ext uri="{BB962C8B-B14F-4D97-AF65-F5344CB8AC3E}">
        <p14:creationId xmlns:p14="http://schemas.microsoft.com/office/powerpoint/2010/main" val="38804342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73267-D77F-862D-281A-82B358DE7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0E1A5-A2D0-592B-DF0C-A60EF347B5EB}"/>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4FC016A5-7C12-3C4B-E6E6-34D1AC458E1F}"/>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1483435A-AC57-FE52-223E-4880FEBED308}"/>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5DAAB2FE-1AA1-5EE8-7EC5-CE561895FCDE}"/>
              </a:ext>
            </a:extLst>
          </p:cNvPr>
          <p:cNvSpPr>
            <a:spLocks noGrp="1"/>
          </p:cNvSpPr>
          <p:nvPr>
            <p:ph type="sldNum" sz="quarter" idx="12"/>
          </p:nvPr>
        </p:nvSpPr>
        <p:spPr/>
        <p:txBody>
          <a:bodyPr/>
          <a:lstStyle/>
          <a:p>
            <a:fld id="{F6C56E59-C124-411E-B3E7-95D014FC7158}" type="slidenum">
              <a:rPr lang="en-US" smtClean="0"/>
              <a:pPr/>
              <a:t>54</a:t>
            </a:fld>
            <a:endParaRPr lang="en-US"/>
          </a:p>
        </p:txBody>
      </p:sp>
      <p:sp>
        <p:nvSpPr>
          <p:cNvPr id="6" name="TextBox 5">
            <a:extLst>
              <a:ext uri="{FF2B5EF4-FFF2-40B4-BE49-F238E27FC236}">
                <a16:creationId xmlns:a16="http://schemas.microsoft.com/office/drawing/2014/main" id="{794231D3-F9B9-4F68-5A03-34B942149EFE}"/>
              </a:ext>
            </a:extLst>
          </p:cNvPr>
          <p:cNvSpPr txBox="1"/>
          <p:nvPr/>
        </p:nvSpPr>
        <p:spPr>
          <a:xfrm>
            <a:off x="3945797" y="2209346"/>
            <a:ext cx="4300406" cy="1754326"/>
          </a:xfrm>
          <a:prstGeom prst="rect">
            <a:avLst/>
          </a:prstGeom>
          <a:noFill/>
        </p:spPr>
        <p:txBody>
          <a:bodyPr wrap="square" rtlCol="0">
            <a:spAutoFit/>
          </a:bodyPr>
          <a:lstStyle/>
          <a:p>
            <a:r>
              <a:rPr lang="en-US" dirty="0"/>
              <a:t>Try it.  </a:t>
            </a:r>
          </a:p>
          <a:p>
            <a:endParaRPr lang="en-US" dirty="0"/>
          </a:p>
          <a:p>
            <a:r>
              <a:rPr lang="en-US" dirty="0"/>
              <a:t>Identify players who do not have a middle name listed in the database. Retrieve their FirstName and LastName where the </a:t>
            </a:r>
            <a:r>
              <a:rPr lang="en-US" dirty="0" err="1"/>
              <a:t>MiddleName</a:t>
            </a:r>
            <a:r>
              <a:rPr lang="en-US" dirty="0"/>
              <a:t> is </a:t>
            </a:r>
            <a:r>
              <a:rPr lang="en-US" b="1" dirty="0"/>
              <a:t>NULL</a:t>
            </a:r>
            <a:r>
              <a:rPr lang="en-US" dirty="0"/>
              <a:t>.</a:t>
            </a:r>
          </a:p>
        </p:txBody>
      </p:sp>
    </p:spTree>
    <p:extLst>
      <p:ext uri="{BB962C8B-B14F-4D97-AF65-F5344CB8AC3E}">
        <p14:creationId xmlns:p14="http://schemas.microsoft.com/office/powerpoint/2010/main" val="2814341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E08A-5C43-CE30-3040-977576101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E3AFB-ABE3-FB47-820E-CFAF4102A415}"/>
              </a:ext>
            </a:extLst>
          </p:cNvPr>
          <p:cNvSpPr>
            <a:spLocks noGrp="1"/>
          </p:cNvSpPr>
          <p:nvPr>
            <p:ph type="title"/>
          </p:nvPr>
        </p:nvSpPr>
        <p:spPr/>
        <p:txBody>
          <a:bodyPr>
            <a:normAutofit fontScale="90000"/>
          </a:bodyPr>
          <a:lstStyle/>
          <a:p>
            <a:r>
              <a:rPr lang="en-US" dirty="0"/>
              <a:t>ORDER BY Clause</a:t>
            </a:r>
          </a:p>
        </p:txBody>
      </p:sp>
      <p:sp>
        <p:nvSpPr>
          <p:cNvPr id="3" name="Content Placeholder 2">
            <a:extLst>
              <a:ext uri="{FF2B5EF4-FFF2-40B4-BE49-F238E27FC236}">
                <a16:creationId xmlns:a16="http://schemas.microsoft.com/office/drawing/2014/main" id="{E231C33C-76CD-17B3-35EB-AC9B24261503}"/>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AA8E107E-C693-3A57-1DFC-08C8E0B44144}"/>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86621B6F-4405-782B-DCC6-5461AF8D82E9}"/>
              </a:ext>
            </a:extLst>
          </p:cNvPr>
          <p:cNvSpPr>
            <a:spLocks noGrp="1"/>
          </p:cNvSpPr>
          <p:nvPr>
            <p:ph type="sldNum" sz="quarter" idx="12"/>
          </p:nvPr>
        </p:nvSpPr>
        <p:spPr/>
        <p:txBody>
          <a:bodyPr/>
          <a:lstStyle/>
          <a:p>
            <a:fld id="{F6C56E59-C124-411E-B3E7-95D014FC7158}" type="slidenum">
              <a:rPr lang="en-US" smtClean="0"/>
              <a:pPr/>
              <a:t>55</a:t>
            </a:fld>
            <a:endParaRPr lang="en-US"/>
          </a:p>
        </p:txBody>
      </p:sp>
      <p:sp>
        <p:nvSpPr>
          <p:cNvPr id="6" name="TextBox 5">
            <a:extLst>
              <a:ext uri="{FF2B5EF4-FFF2-40B4-BE49-F238E27FC236}">
                <a16:creationId xmlns:a16="http://schemas.microsoft.com/office/drawing/2014/main" id="{E6E4CD58-C537-B217-8508-BE86EAA27B9E}"/>
              </a:ext>
            </a:extLst>
          </p:cNvPr>
          <p:cNvSpPr txBox="1"/>
          <p:nvPr/>
        </p:nvSpPr>
        <p:spPr>
          <a:xfrm>
            <a:off x="494231" y="1561612"/>
            <a:ext cx="4523042" cy="3323987"/>
          </a:xfrm>
          <a:prstGeom prst="rect">
            <a:avLst/>
          </a:prstGeom>
          <a:noFill/>
        </p:spPr>
        <p:txBody>
          <a:bodyPr wrap="square" rtlCol="0">
            <a:spAutoFit/>
          </a:bodyPr>
          <a:lstStyle/>
          <a:p>
            <a:r>
              <a:rPr lang="en-US" b="1" dirty="0"/>
              <a:t>Keywords</a:t>
            </a:r>
          </a:p>
          <a:p>
            <a:endParaRPr lang="en-US" sz="1200" b="1" dirty="0"/>
          </a:p>
          <a:p>
            <a:r>
              <a:rPr lang="en-US" sz="1200" b="1" dirty="0"/>
              <a:t>ORDER BY</a:t>
            </a:r>
            <a:r>
              <a:rPr lang="en-US" sz="1200" dirty="0"/>
              <a:t> – used to represent unknown data</a:t>
            </a:r>
          </a:p>
          <a:p>
            <a:endParaRPr lang="en-US" sz="1200" dirty="0"/>
          </a:p>
          <a:p>
            <a:r>
              <a:rPr lang="en-US" sz="1200" b="1" dirty="0"/>
              <a:t>ASC</a:t>
            </a:r>
            <a:r>
              <a:rPr lang="en-US" sz="1200" dirty="0"/>
              <a:t> – ascending order</a:t>
            </a:r>
          </a:p>
          <a:p>
            <a:endParaRPr lang="en-US" sz="1200" dirty="0"/>
          </a:p>
          <a:p>
            <a:r>
              <a:rPr lang="en-US" sz="1200" b="1" dirty="0"/>
              <a:t>DESC</a:t>
            </a:r>
            <a:r>
              <a:rPr lang="en-US" sz="1200" dirty="0"/>
              <a:t> – descending order</a:t>
            </a:r>
          </a:p>
          <a:p>
            <a:endParaRPr lang="en-US" sz="1200" dirty="0"/>
          </a:p>
          <a:p>
            <a:r>
              <a:rPr lang="en-US" sz="1200" b="1" dirty="0"/>
              <a:t>OFFSET</a:t>
            </a:r>
            <a:r>
              <a:rPr lang="en-US" sz="1200" dirty="0"/>
              <a:t> – in sorted results, OFFSET is the number of rows to be skipped before selecting rows to be returned .  Often used in pagination.</a:t>
            </a:r>
          </a:p>
          <a:p>
            <a:endParaRPr lang="en-US" sz="1200" dirty="0"/>
          </a:p>
          <a:p>
            <a:r>
              <a:rPr lang="en-US" sz="1200" b="1" dirty="0"/>
              <a:t>FETCH</a:t>
            </a:r>
            <a:r>
              <a:rPr lang="en-US" sz="1200" dirty="0"/>
              <a:t> – The number of rows to be returned.  Often used in pagination.</a:t>
            </a:r>
          </a:p>
          <a:p>
            <a:endParaRPr lang="en-US" sz="1200" dirty="0"/>
          </a:p>
          <a:p>
            <a:endParaRPr lang="en-US" sz="1200" dirty="0"/>
          </a:p>
          <a:p>
            <a:endParaRPr lang="en-US" sz="1200" dirty="0"/>
          </a:p>
        </p:txBody>
      </p:sp>
      <p:sp>
        <p:nvSpPr>
          <p:cNvPr id="7" name="TextBox 6">
            <a:extLst>
              <a:ext uri="{FF2B5EF4-FFF2-40B4-BE49-F238E27FC236}">
                <a16:creationId xmlns:a16="http://schemas.microsoft.com/office/drawing/2014/main" id="{F5D087E7-311E-4F1A-7120-0BD389F39E90}"/>
              </a:ext>
            </a:extLst>
          </p:cNvPr>
          <p:cNvSpPr txBox="1"/>
          <p:nvPr/>
        </p:nvSpPr>
        <p:spPr>
          <a:xfrm>
            <a:off x="5814979" y="1418489"/>
            <a:ext cx="5300944" cy="2585323"/>
          </a:xfrm>
          <a:prstGeom prst="rect">
            <a:avLst/>
          </a:prstGeom>
          <a:noFill/>
        </p:spPr>
        <p:txBody>
          <a:bodyPr wrap="square" rtlCol="0">
            <a:spAutoFit/>
          </a:bodyPr>
          <a:lstStyle/>
          <a:p>
            <a:r>
              <a:rPr lang="en-US" dirty="0"/>
              <a:t>Examples:</a:t>
            </a:r>
          </a:p>
          <a:p>
            <a:endParaRPr lang="en-US" sz="1200" dirty="0"/>
          </a:p>
          <a:p>
            <a:r>
              <a:rPr lang="en-US" sz="1200" dirty="0"/>
              <a:t>SELECT Name,</a:t>
            </a:r>
          </a:p>
          <a:p>
            <a:r>
              <a:rPr lang="en-US" sz="1200" dirty="0"/>
              <a:t>                 City,</a:t>
            </a:r>
          </a:p>
          <a:p>
            <a:r>
              <a:rPr lang="en-US" sz="1200" dirty="0"/>
              <a:t>                 Capacity,</a:t>
            </a:r>
          </a:p>
          <a:p>
            <a:r>
              <a:rPr lang="en-US" sz="1200" dirty="0"/>
              <a:t>                  </a:t>
            </a:r>
            <a:r>
              <a:rPr lang="en-US" sz="1200" dirty="0" err="1"/>
              <a:t>AnnualRevenue</a:t>
            </a:r>
            <a:r>
              <a:rPr lang="en-US" sz="1200" dirty="0"/>
              <a:t>,</a:t>
            </a:r>
          </a:p>
          <a:p>
            <a:r>
              <a:rPr lang="en-US" sz="1200" dirty="0"/>
              <a:t>                  </a:t>
            </a:r>
            <a:r>
              <a:rPr lang="en-US" sz="1200" dirty="0" err="1"/>
              <a:t>AnnualOperatingCost</a:t>
            </a:r>
            <a:r>
              <a:rPr lang="en-US" sz="1200" dirty="0"/>
              <a:t>,</a:t>
            </a:r>
          </a:p>
          <a:p>
            <a:r>
              <a:rPr lang="en-US" sz="1200" dirty="0"/>
              <a:t>                   (</a:t>
            </a:r>
            <a:r>
              <a:rPr lang="en-US" sz="1200" dirty="0" err="1"/>
              <a:t>AnnualRevenue</a:t>
            </a:r>
            <a:r>
              <a:rPr lang="en-US" sz="1200" dirty="0"/>
              <a:t> - </a:t>
            </a:r>
            <a:r>
              <a:rPr lang="en-US" sz="1200" dirty="0" err="1"/>
              <a:t>AnnualOperatingCost</a:t>
            </a:r>
            <a:r>
              <a:rPr lang="en-US" sz="1200" dirty="0"/>
              <a:t>) AS </a:t>
            </a:r>
            <a:r>
              <a:rPr lang="en-US" sz="1200" dirty="0" err="1"/>
              <a:t>NetIncome</a:t>
            </a:r>
            <a:endParaRPr lang="en-US" sz="1200" dirty="0"/>
          </a:p>
          <a:p>
            <a:r>
              <a:rPr lang="en-US" sz="1200" dirty="0"/>
              <a:t>FROM </a:t>
            </a:r>
            <a:r>
              <a:rPr lang="en-US" sz="1200" dirty="0" err="1"/>
              <a:t>dbo.Stadium</a:t>
            </a:r>
            <a:endParaRPr lang="en-US" sz="1200" dirty="0"/>
          </a:p>
          <a:p>
            <a:r>
              <a:rPr lang="en-US" sz="1200" dirty="0"/>
              <a:t>WHERE </a:t>
            </a:r>
            <a:r>
              <a:rPr lang="en-US" sz="1200" dirty="0" err="1"/>
              <a:t>IsActive</a:t>
            </a:r>
            <a:r>
              <a:rPr lang="en-US" sz="1200" dirty="0"/>
              <a:t> = 1</a:t>
            </a:r>
          </a:p>
          <a:p>
            <a:r>
              <a:rPr lang="en-US" sz="1200" b="1" dirty="0"/>
              <a:t>ORDER BY </a:t>
            </a:r>
            <a:r>
              <a:rPr lang="en-US" sz="1200" dirty="0"/>
              <a:t>Capacity </a:t>
            </a:r>
            <a:r>
              <a:rPr lang="en-US" sz="1200" b="1" dirty="0"/>
              <a:t>DESC</a:t>
            </a:r>
            <a:r>
              <a:rPr lang="en-US" sz="1200" dirty="0"/>
              <a:t>, Name </a:t>
            </a:r>
            <a:r>
              <a:rPr lang="en-US" sz="1200" b="1" dirty="0"/>
              <a:t>ASC</a:t>
            </a:r>
          </a:p>
          <a:p>
            <a:r>
              <a:rPr lang="en-US" sz="1200" b="1" dirty="0"/>
              <a:t>OFFSET 5 ROWS</a:t>
            </a:r>
          </a:p>
          <a:p>
            <a:r>
              <a:rPr lang="en-US" sz="1200" b="1" dirty="0"/>
              <a:t>FETCH NEXT 8 ROWS ONLY;</a:t>
            </a:r>
          </a:p>
        </p:txBody>
      </p:sp>
    </p:spTree>
    <p:extLst>
      <p:ext uri="{BB962C8B-B14F-4D97-AF65-F5344CB8AC3E}">
        <p14:creationId xmlns:p14="http://schemas.microsoft.com/office/powerpoint/2010/main" val="30284303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27F5-36CA-C21D-EC27-18004950F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3CD13-171C-8F92-1374-6E38E7513CAE}"/>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D851F38D-F8D7-7FC2-AB92-CA85404E2833}"/>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EC8FECF-1009-6FC8-C2AF-3469530CE63E}"/>
              </a:ext>
            </a:extLst>
          </p:cNvPr>
          <p:cNvSpPr>
            <a:spLocks noGrp="1"/>
          </p:cNvSpPr>
          <p:nvPr>
            <p:ph type="dt" sz="half" idx="10"/>
          </p:nvPr>
        </p:nvSpPr>
        <p:spPr/>
        <p:txBody>
          <a:bodyPr/>
          <a:lstStyle/>
          <a:p>
            <a:fld id="{77CA23B6-146D-4CC0-B8BF-2383AD3B5353}" type="datetime1">
              <a:rPr lang="en-US" smtClean="0"/>
              <a:t>1/10/2026</a:t>
            </a:fld>
            <a:endParaRPr lang="en-US"/>
          </a:p>
        </p:txBody>
      </p:sp>
      <p:sp>
        <p:nvSpPr>
          <p:cNvPr id="5" name="Slide Number Placeholder 4">
            <a:extLst>
              <a:ext uri="{FF2B5EF4-FFF2-40B4-BE49-F238E27FC236}">
                <a16:creationId xmlns:a16="http://schemas.microsoft.com/office/drawing/2014/main" id="{88C55E17-6D4C-C8C6-66AB-A1D41689C0A8}"/>
              </a:ext>
            </a:extLst>
          </p:cNvPr>
          <p:cNvSpPr>
            <a:spLocks noGrp="1"/>
          </p:cNvSpPr>
          <p:nvPr>
            <p:ph type="sldNum" sz="quarter" idx="12"/>
          </p:nvPr>
        </p:nvSpPr>
        <p:spPr/>
        <p:txBody>
          <a:bodyPr/>
          <a:lstStyle/>
          <a:p>
            <a:fld id="{F6C56E59-C124-411E-B3E7-95D014FC7158}" type="slidenum">
              <a:rPr lang="en-US" smtClean="0"/>
              <a:pPr/>
              <a:t>56</a:t>
            </a:fld>
            <a:endParaRPr lang="en-US"/>
          </a:p>
        </p:txBody>
      </p:sp>
      <p:sp>
        <p:nvSpPr>
          <p:cNvPr id="6" name="TextBox 5">
            <a:extLst>
              <a:ext uri="{FF2B5EF4-FFF2-40B4-BE49-F238E27FC236}">
                <a16:creationId xmlns:a16="http://schemas.microsoft.com/office/drawing/2014/main" id="{6EA5B853-0A71-7B11-BB09-D66E71571AEC}"/>
              </a:ext>
            </a:extLst>
          </p:cNvPr>
          <p:cNvSpPr txBox="1"/>
          <p:nvPr/>
        </p:nvSpPr>
        <p:spPr>
          <a:xfrm>
            <a:off x="1353243" y="1720840"/>
            <a:ext cx="8262120" cy="3416320"/>
          </a:xfrm>
          <a:prstGeom prst="rect">
            <a:avLst/>
          </a:prstGeom>
          <a:noFill/>
        </p:spPr>
        <p:txBody>
          <a:bodyPr wrap="square" rtlCol="0">
            <a:spAutoFit/>
          </a:bodyPr>
          <a:lstStyle/>
          <a:p>
            <a:r>
              <a:rPr lang="en-US" b="1" dirty="0"/>
              <a:t>Exercise: Stadium Capacity Paging</a:t>
            </a:r>
          </a:p>
          <a:p>
            <a:endParaRPr lang="en-US" dirty="0"/>
          </a:p>
          <a:p>
            <a:r>
              <a:rPr lang="en-US" b="1" dirty="0"/>
              <a:t>Scenario:</a:t>
            </a:r>
            <a:r>
              <a:rPr lang="en-US" dirty="0"/>
              <a:t> You are building a mobile app for Dodgeball fans. The app displays a list of stadiums, but the screen is small, so you can only show </a:t>
            </a:r>
            <a:r>
              <a:rPr lang="en-US" b="1" dirty="0"/>
              <a:t>5 stadiums at a time</a:t>
            </a:r>
            <a:r>
              <a:rPr lang="en-US" dirty="0"/>
              <a:t>. You need to retrieve the </a:t>
            </a:r>
            <a:r>
              <a:rPr lang="en-US" b="1" dirty="0"/>
              <a:t>second page</a:t>
            </a:r>
            <a:r>
              <a:rPr lang="en-US" dirty="0"/>
              <a:t> of the list.</a:t>
            </a:r>
          </a:p>
          <a:p>
            <a:endParaRPr lang="en-US" dirty="0"/>
          </a:p>
          <a:p>
            <a:r>
              <a:rPr lang="en-US" b="1" dirty="0"/>
              <a:t>The Task:</a:t>
            </a:r>
            <a:r>
              <a:rPr lang="en-US" dirty="0"/>
              <a:t> Write a query that retrieves the Name, City, and Capacity of all stadiums from the Stadium table.</a:t>
            </a:r>
          </a:p>
          <a:p>
            <a:endParaRPr lang="en-US" dirty="0"/>
          </a:p>
          <a:p>
            <a:r>
              <a:rPr lang="en-US" dirty="0"/>
              <a:t>1. </a:t>
            </a:r>
            <a:r>
              <a:rPr lang="en-US" b="1" dirty="0"/>
              <a:t>Sort</a:t>
            </a:r>
            <a:r>
              <a:rPr lang="en-US" dirty="0"/>
              <a:t> the result set by Capacity in </a:t>
            </a:r>
            <a:r>
              <a:rPr lang="en-US" b="1" dirty="0"/>
              <a:t>descending order</a:t>
            </a:r>
            <a:r>
              <a:rPr lang="en-US" dirty="0"/>
              <a:t> (largest stadiums first).</a:t>
            </a:r>
          </a:p>
          <a:p>
            <a:r>
              <a:rPr lang="en-US" dirty="0"/>
              <a:t>2. </a:t>
            </a:r>
            <a:r>
              <a:rPr lang="en-US" b="1" dirty="0"/>
              <a:t>Skip</a:t>
            </a:r>
            <a:r>
              <a:rPr lang="en-US" dirty="0"/>
              <a:t> the first 5 rows (the first page).</a:t>
            </a:r>
          </a:p>
          <a:p>
            <a:r>
              <a:rPr lang="en-US" dirty="0"/>
              <a:t>3. </a:t>
            </a:r>
            <a:r>
              <a:rPr lang="en-US" b="1" dirty="0"/>
              <a:t>Retrieve</a:t>
            </a:r>
            <a:r>
              <a:rPr lang="en-US" dirty="0"/>
              <a:t> the next 5 rows (the second page).</a:t>
            </a:r>
            <a:endParaRPr lang="en-US" dirty="0">
              <a:effectLst/>
            </a:endParaRPr>
          </a:p>
        </p:txBody>
      </p:sp>
    </p:spTree>
    <p:extLst>
      <p:ext uri="{BB962C8B-B14F-4D97-AF65-F5344CB8AC3E}">
        <p14:creationId xmlns:p14="http://schemas.microsoft.com/office/powerpoint/2010/main" val="7131635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58B28-900E-8333-1950-C834FBF4D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E020C-0AC1-49F7-1954-2AE17E962804}"/>
              </a:ext>
            </a:extLst>
          </p:cNvPr>
          <p:cNvSpPr>
            <a:spLocks noGrp="1"/>
          </p:cNvSpPr>
          <p:nvPr>
            <p:ph type="title"/>
          </p:nvPr>
        </p:nvSpPr>
        <p:spPr/>
        <p:txBody>
          <a:bodyPr/>
          <a:lstStyle/>
          <a:p>
            <a:r>
              <a:rPr lang="en-US" dirty="0"/>
              <a:t>Working with Multiple Tables</a:t>
            </a:r>
          </a:p>
        </p:txBody>
      </p:sp>
      <p:sp>
        <p:nvSpPr>
          <p:cNvPr id="3" name="Text Placeholder 2">
            <a:extLst>
              <a:ext uri="{FF2B5EF4-FFF2-40B4-BE49-F238E27FC236}">
                <a16:creationId xmlns:a16="http://schemas.microsoft.com/office/drawing/2014/main" id="{1BDA531F-365F-691D-5573-641D79CE6289}"/>
              </a:ext>
            </a:extLst>
          </p:cNvPr>
          <p:cNvSpPr>
            <a:spLocks noGrp="1"/>
          </p:cNvSpPr>
          <p:nvPr>
            <p:ph type="body" idx="1"/>
          </p:nvPr>
        </p:nvSpPr>
        <p:spPr/>
        <p:txBody>
          <a:bodyPr/>
          <a:lstStyle/>
          <a:p>
            <a:r>
              <a:rPr lang="en-US"/>
              <a:t>More to come</a:t>
            </a:r>
          </a:p>
        </p:txBody>
      </p:sp>
      <p:sp>
        <p:nvSpPr>
          <p:cNvPr id="4" name="Date Placeholder 3">
            <a:extLst>
              <a:ext uri="{FF2B5EF4-FFF2-40B4-BE49-F238E27FC236}">
                <a16:creationId xmlns:a16="http://schemas.microsoft.com/office/drawing/2014/main" id="{9E0C39B6-6483-98F0-A43E-6FBD8BF568F8}"/>
              </a:ext>
            </a:extLst>
          </p:cNvPr>
          <p:cNvSpPr>
            <a:spLocks noGrp="1"/>
          </p:cNvSpPr>
          <p:nvPr>
            <p:ph type="dt" sz="half" idx="10"/>
          </p:nvPr>
        </p:nvSpPr>
        <p:spPr/>
        <p:txBody>
          <a:bodyPr/>
          <a:lstStyle/>
          <a:p>
            <a:fld id="{2913C182-2752-4C8A-971A-A0E34A11F99A}" type="datetime1">
              <a:rPr lang="en-US" smtClean="0"/>
              <a:t>1/10/2026</a:t>
            </a:fld>
            <a:endParaRPr lang="en-US"/>
          </a:p>
        </p:txBody>
      </p:sp>
      <p:sp>
        <p:nvSpPr>
          <p:cNvPr id="5" name="Slide Number Placeholder 4">
            <a:extLst>
              <a:ext uri="{FF2B5EF4-FFF2-40B4-BE49-F238E27FC236}">
                <a16:creationId xmlns:a16="http://schemas.microsoft.com/office/drawing/2014/main" id="{39DF67A7-C153-9835-6F90-03C01A8FE0E7}"/>
              </a:ext>
            </a:extLst>
          </p:cNvPr>
          <p:cNvSpPr>
            <a:spLocks noGrp="1"/>
          </p:cNvSpPr>
          <p:nvPr>
            <p:ph type="sldNum" sz="quarter" idx="12"/>
          </p:nvPr>
        </p:nvSpPr>
        <p:spPr/>
        <p:txBody>
          <a:bodyPr/>
          <a:lstStyle/>
          <a:p>
            <a:fld id="{F6C56E59-C124-411E-B3E7-95D014FC7158}" type="slidenum">
              <a:rPr lang="en-US" smtClean="0"/>
              <a:pPr/>
              <a:t>57</a:t>
            </a:fld>
            <a:endParaRPr lang="en-US"/>
          </a:p>
        </p:txBody>
      </p:sp>
    </p:spTree>
    <p:extLst>
      <p:ext uri="{BB962C8B-B14F-4D97-AF65-F5344CB8AC3E}">
        <p14:creationId xmlns:p14="http://schemas.microsoft.com/office/powerpoint/2010/main" val="35388606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6A168-83C2-CB2E-0586-8A6B27289BE7}"/>
              </a:ext>
            </a:extLst>
          </p:cNvPr>
          <p:cNvSpPr>
            <a:spLocks noGrp="1"/>
          </p:cNvSpPr>
          <p:nvPr>
            <p:ph type="title"/>
          </p:nvPr>
        </p:nvSpPr>
        <p:spPr/>
        <p:txBody>
          <a:bodyPr>
            <a:normAutofit fontScale="90000"/>
          </a:bodyPr>
          <a:lstStyle/>
          <a:p>
            <a:r>
              <a:rPr lang="en-US" b="1" dirty="0"/>
              <a:t>INNER JOINS</a:t>
            </a:r>
            <a:endParaRPr lang="en-US" dirty="0"/>
          </a:p>
        </p:txBody>
      </p:sp>
      <p:sp>
        <p:nvSpPr>
          <p:cNvPr id="3" name="Content Placeholder 2">
            <a:extLst>
              <a:ext uri="{FF2B5EF4-FFF2-40B4-BE49-F238E27FC236}">
                <a16:creationId xmlns:a16="http://schemas.microsoft.com/office/drawing/2014/main" id="{E106A4D9-9D81-D0A5-4130-7BC299EE15A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28B3C309-4093-3B3E-08CD-EF39487EFB3B}"/>
              </a:ext>
            </a:extLst>
          </p:cNvPr>
          <p:cNvSpPr>
            <a:spLocks noGrp="1"/>
          </p:cNvSpPr>
          <p:nvPr>
            <p:ph type="dt" sz="half" idx="10"/>
          </p:nvPr>
        </p:nvSpPr>
        <p:spPr/>
        <p:txBody>
          <a:bodyPr/>
          <a:lstStyle/>
          <a:p>
            <a:fld id="{77CA23B6-146D-4CC0-B8BF-2383AD3B5353}" type="datetime1">
              <a:rPr lang="en-US" smtClean="0"/>
              <a:t>1/11/2026</a:t>
            </a:fld>
            <a:endParaRPr lang="en-US"/>
          </a:p>
        </p:txBody>
      </p:sp>
      <p:sp>
        <p:nvSpPr>
          <p:cNvPr id="5" name="Slide Number Placeholder 4">
            <a:extLst>
              <a:ext uri="{FF2B5EF4-FFF2-40B4-BE49-F238E27FC236}">
                <a16:creationId xmlns:a16="http://schemas.microsoft.com/office/drawing/2014/main" id="{E09A4077-1B2E-84A6-C391-94E0D3FF2B42}"/>
              </a:ext>
            </a:extLst>
          </p:cNvPr>
          <p:cNvSpPr>
            <a:spLocks noGrp="1"/>
          </p:cNvSpPr>
          <p:nvPr>
            <p:ph type="sldNum" sz="quarter" idx="12"/>
          </p:nvPr>
        </p:nvSpPr>
        <p:spPr/>
        <p:txBody>
          <a:bodyPr/>
          <a:lstStyle/>
          <a:p>
            <a:fld id="{F6C56E59-C124-411E-B3E7-95D014FC7158}" type="slidenum">
              <a:rPr lang="en-US" smtClean="0"/>
              <a:pPr/>
              <a:t>58</a:t>
            </a:fld>
            <a:endParaRPr lang="en-US"/>
          </a:p>
        </p:txBody>
      </p:sp>
      <p:sp>
        <p:nvSpPr>
          <p:cNvPr id="8" name="TextBox 7">
            <a:extLst>
              <a:ext uri="{FF2B5EF4-FFF2-40B4-BE49-F238E27FC236}">
                <a16:creationId xmlns:a16="http://schemas.microsoft.com/office/drawing/2014/main" id="{7F3E4810-C417-F14A-3B1D-9FE29AA8B9BA}"/>
              </a:ext>
            </a:extLst>
          </p:cNvPr>
          <p:cNvSpPr txBox="1"/>
          <p:nvPr/>
        </p:nvSpPr>
        <p:spPr>
          <a:xfrm>
            <a:off x="1353243" y="1720840"/>
            <a:ext cx="8262120" cy="1200329"/>
          </a:xfrm>
          <a:prstGeom prst="rect">
            <a:avLst/>
          </a:prstGeom>
          <a:noFill/>
        </p:spPr>
        <p:txBody>
          <a:bodyPr wrap="square" rtlCol="0">
            <a:spAutoFit/>
          </a:bodyPr>
          <a:lstStyle/>
          <a:p>
            <a:r>
              <a:rPr lang="en-US" b="1" dirty="0">
                <a:effectLst/>
              </a:rPr>
              <a:t>INNER JOIN</a:t>
            </a:r>
            <a:r>
              <a:rPr lang="en-US" dirty="0">
                <a:effectLst/>
              </a:rPr>
              <a:t>s</a:t>
            </a:r>
            <a:r>
              <a:rPr lang="en-US" b="1" dirty="0">
                <a:effectLst/>
              </a:rPr>
              <a:t> </a:t>
            </a:r>
            <a:r>
              <a:rPr lang="en-US" dirty="0">
                <a:effectLst/>
              </a:rPr>
              <a:t>are the second mo</a:t>
            </a:r>
            <a:r>
              <a:rPr lang="en-US" dirty="0"/>
              <a:t>st common type of joins used.  They return rows from both tables where the join conditions are met.</a:t>
            </a:r>
          </a:p>
          <a:p>
            <a:endParaRPr lang="en-US" dirty="0">
              <a:effectLst/>
            </a:endParaRPr>
          </a:p>
          <a:p>
            <a:endParaRPr lang="en-US" dirty="0">
              <a:effectLst/>
            </a:endParaRPr>
          </a:p>
        </p:txBody>
      </p:sp>
      <p:pic>
        <p:nvPicPr>
          <p:cNvPr id="13" name="Picture 12">
            <a:extLst>
              <a:ext uri="{FF2B5EF4-FFF2-40B4-BE49-F238E27FC236}">
                <a16:creationId xmlns:a16="http://schemas.microsoft.com/office/drawing/2014/main" id="{A25D2332-6820-EE90-0413-666F37EED732}"/>
              </a:ext>
            </a:extLst>
          </p:cNvPr>
          <p:cNvPicPr>
            <a:picLocks noChangeAspect="1"/>
          </p:cNvPicPr>
          <p:nvPr/>
        </p:nvPicPr>
        <p:blipFill>
          <a:blip r:embed="rId2"/>
          <a:stretch>
            <a:fillRect/>
          </a:stretch>
        </p:blipFill>
        <p:spPr>
          <a:xfrm>
            <a:off x="2827421" y="2728650"/>
            <a:ext cx="6182654" cy="3112521"/>
          </a:xfrm>
          <a:prstGeom prst="rect">
            <a:avLst/>
          </a:prstGeom>
        </p:spPr>
      </p:pic>
    </p:spTree>
    <p:extLst>
      <p:ext uri="{BB962C8B-B14F-4D97-AF65-F5344CB8AC3E}">
        <p14:creationId xmlns:p14="http://schemas.microsoft.com/office/powerpoint/2010/main" val="4093886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65971-45F0-24D2-6ED8-7B53F296F1B9}"/>
              </a:ext>
            </a:extLst>
          </p:cNvPr>
          <p:cNvSpPr>
            <a:spLocks noGrp="1"/>
          </p:cNvSpPr>
          <p:nvPr>
            <p:ph type="title"/>
          </p:nvPr>
        </p:nvSpPr>
        <p:spPr/>
        <p:txBody>
          <a:bodyPr>
            <a:normAutofit fontScale="90000"/>
          </a:bodyPr>
          <a:lstStyle/>
          <a:p>
            <a:r>
              <a:rPr lang="en-US" dirty="0"/>
              <a:t>Inner Join Example</a:t>
            </a:r>
          </a:p>
        </p:txBody>
      </p:sp>
      <p:sp>
        <p:nvSpPr>
          <p:cNvPr id="3" name="Content Placeholder 2">
            <a:extLst>
              <a:ext uri="{FF2B5EF4-FFF2-40B4-BE49-F238E27FC236}">
                <a16:creationId xmlns:a16="http://schemas.microsoft.com/office/drawing/2014/main" id="{81F3692A-1755-6E54-A217-A03CF3FFCF7C}"/>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F16BE8B-0D5D-F634-8C57-3E7649CE3D87}"/>
              </a:ext>
            </a:extLst>
          </p:cNvPr>
          <p:cNvSpPr>
            <a:spLocks noGrp="1"/>
          </p:cNvSpPr>
          <p:nvPr>
            <p:ph type="dt" sz="half" idx="10"/>
          </p:nvPr>
        </p:nvSpPr>
        <p:spPr/>
        <p:txBody>
          <a:bodyPr/>
          <a:lstStyle/>
          <a:p>
            <a:fld id="{77CA23B6-146D-4CC0-B8BF-2383AD3B5353}" type="datetime1">
              <a:rPr lang="en-US" smtClean="0"/>
              <a:t>1/11/2026</a:t>
            </a:fld>
            <a:endParaRPr lang="en-US"/>
          </a:p>
        </p:txBody>
      </p:sp>
      <p:sp>
        <p:nvSpPr>
          <p:cNvPr id="5" name="Slide Number Placeholder 4">
            <a:extLst>
              <a:ext uri="{FF2B5EF4-FFF2-40B4-BE49-F238E27FC236}">
                <a16:creationId xmlns:a16="http://schemas.microsoft.com/office/drawing/2014/main" id="{6B632078-84B3-F6DD-DFE7-742004B187D4}"/>
              </a:ext>
            </a:extLst>
          </p:cNvPr>
          <p:cNvSpPr>
            <a:spLocks noGrp="1"/>
          </p:cNvSpPr>
          <p:nvPr>
            <p:ph type="sldNum" sz="quarter" idx="12"/>
          </p:nvPr>
        </p:nvSpPr>
        <p:spPr/>
        <p:txBody>
          <a:bodyPr/>
          <a:lstStyle/>
          <a:p>
            <a:fld id="{F6C56E59-C124-411E-B3E7-95D014FC7158}" type="slidenum">
              <a:rPr lang="en-US" smtClean="0"/>
              <a:pPr/>
              <a:t>59</a:t>
            </a:fld>
            <a:endParaRPr lang="en-US"/>
          </a:p>
        </p:txBody>
      </p:sp>
      <p:sp>
        <p:nvSpPr>
          <p:cNvPr id="8" name="TextBox 7">
            <a:extLst>
              <a:ext uri="{FF2B5EF4-FFF2-40B4-BE49-F238E27FC236}">
                <a16:creationId xmlns:a16="http://schemas.microsoft.com/office/drawing/2014/main" id="{41AE8747-3A3B-A5C8-3BDE-DD0BBC895B13}"/>
              </a:ext>
            </a:extLst>
          </p:cNvPr>
          <p:cNvSpPr txBox="1"/>
          <p:nvPr/>
        </p:nvSpPr>
        <p:spPr>
          <a:xfrm>
            <a:off x="2616686" y="2045692"/>
            <a:ext cx="6972610" cy="3416320"/>
          </a:xfrm>
          <a:prstGeom prst="rect">
            <a:avLst/>
          </a:prstGeom>
          <a:noFill/>
        </p:spPr>
        <p:txBody>
          <a:bodyPr wrap="square" rtlCol="0">
            <a:spAutoFit/>
          </a:bodyPr>
          <a:lstStyle/>
          <a:p>
            <a:r>
              <a:rPr lang="en-US" dirty="0"/>
              <a:t>-- Top 20 players by total points with their team info</a:t>
            </a:r>
          </a:p>
          <a:p>
            <a:r>
              <a:rPr lang="en-US" dirty="0"/>
              <a:t>SELECT TOP 20 </a:t>
            </a:r>
            <a:r>
              <a:rPr lang="en-US" dirty="0" err="1"/>
              <a:t>p.FirstName</a:t>
            </a:r>
            <a:r>
              <a:rPr lang="en-US" dirty="0"/>
              <a:t>,</a:t>
            </a:r>
          </a:p>
          <a:p>
            <a:r>
              <a:rPr lang="en-US" dirty="0"/>
              <a:t>                                 </a:t>
            </a:r>
            <a:r>
              <a:rPr lang="en-US" dirty="0" err="1"/>
              <a:t>p.LastName</a:t>
            </a:r>
            <a:r>
              <a:rPr lang="en-US" dirty="0"/>
              <a:t>,</a:t>
            </a:r>
          </a:p>
          <a:p>
            <a:r>
              <a:rPr lang="en-US" dirty="0"/>
              <a:t>                                 </a:t>
            </a:r>
            <a:r>
              <a:rPr lang="en-US" dirty="0" err="1"/>
              <a:t>t.Name</a:t>
            </a:r>
            <a:r>
              <a:rPr lang="en-US" dirty="0"/>
              <a:t> AS </a:t>
            </a:r>
            <a:r>
              <a:rPr lang="en-US" dirty="0" err="1"/>
              <a:t>TeamName</a:t>
            </a:r>
            <a:r>
              <a:rPr lang="en-US" dirty="0"/>
              <a:t>,</a:t>
            </a:r>
          </a:p>
          <a:p>
            <a:r>
              <a:rPr lang="en-US" dirty="0"/>
              <a:t>                                 </a:t>
            </a:r>
            <a:r>
              <a:rPr lang="en-US" dirty="0" err="1"/>
              <a:t>pos.TotalPoints</a:t>
            </a:r>
            <a:r>
              <a:rPr lang="en-US" dirty="0"/>
              <a:t>,</a:t>
            </a:r>
          </a:p>
          <a:p>
            <a:r>
              <a:rPr lang="en-US" dirty="0"/>
              <a:t>                                </a:t>
            </a:r>
            <a:r>
              <a:rPr lang="en-US" dirty="0" err="1"/>
              <a:t>pos.GamesPlayed</a:t>
            </a:r>
            <a:r>
              <a:rPr lang="en-US" dirty="0"/>
              <a:t>,</a:t>
            </a:r>
          </a:p>
          <a:p>
            <a:r>
              <a:rPr lang="en-US" dirty="0"/>
              <a:t>                                </a:t>
            </a:r>
            <a:r>
              <a:rPr lang="en-US" dirty="0" err="1"/>
              <a:t>pos.SuccessfulHits</a:t>
            </a:r>
            <a:r>
              <a:rPr lang="en-US" dirty="0"/>
              <a:t>,</a:t>
            </a:r>
          </a:p>
          <a:p>
            <a:r>
              <a:rPr lang="en-US" dirty="0"/>
              <a:t>                                </a:t>
            </a:r>
            <a:r>
              <a:rPr lang="en-US" dirty="0" err="1"/>
              <a:t>pos.TotalCatches</a:t>
            </a:r>
            <a:r>
              <a:rPr lang="en-US" dirty="0"/>
              <a:t>, </a:t>
            </a:r>
          </a:p>
          <a:p>
            <a:r>
              <a:rPr lang="en-US" dirty="0"/>
              <a:t>FROM </a:t>
            </a:r>
            <a:r>
              <a:rPr lang="en-US" dirty="0" err="1"/>
              <a:t>dbo.Player</a:t>
            </a:r>
            <a:r>
              <a:rPr lang="en-US" dirty="0"/>
              <a:t> p</a:t>
            </a:r>
          </a:p>
          <a:p>
            <a:r>
              <a:rPr lang="en-US" b="1" dirty="0"/>
              <a:t>INNER JOIN</a:t>
            </a:r>
            <a:r>
              <a:rPr lang="en-US" dirty="0"/>
              <a:t> </a:t>
            </a:r>
            <a:r>
              <a:rPr lang="en-US" dirty="0" err="1"/>
              <a:t>dbo.Team</a:t>
            </a:r>
            <a:r>
              <a:rPr lang="en-US" dirty="0"/>
              <a:t> t </a:t>
            </a:r>
            <a:r>
              <a:rPr lang="en-US" b="1" dirty="0"/>
              <a:t>ON</a:t>
            </a:r>
            <a:r>
              <a:rPr lang="en-US" dirty="0"/>
              <a:t> </a:t>
            </a:r>
            <a:r>
              <a:rPr lang="en-US" dirty="0" err="1"/>
              <a:t>p.TeamId</a:t>
            </a:r>
            <a:r>
              <a:rPr lang="en-US" dirty="0"/>
              <a:t> = </a:t>
            </a:r>
            <a:r>
              <a:rPr lang="en-US" dirty="0" err="1"/>
              <a:t>t.Id</a:t>
            </a:r>
            <a:endParaRPr lang="en-US" dirty="0"/>
          </a:p>
          <a:p>
            <a:r>
              <a:rPr lang="en-US" b="1" dirty="0"/>
              <a:t>INNER JOIN</a:t>
            </a:r>
            <a:r>
              <a:rPr lang="en-US" dirty="0"/>
              <a:t> </a:t>
            </a:r>
            <a:r>
              <a:rPr lang="en-US" dirty="0" err="1"/>
              <a:t>dbo.PlayerOverallStatistics</a:t>
            </a:r>
            <a:r>
              <a:rPr lang="en-US" dirty="0"/>
              <a:t> pos </a:t>
            </a:r>
            <a:r>
              <a:rPr lang="en-US" b="1" dirty="0"/>
              <a:t>ON</a:t>
            </a:r>
            <a:r>
              <a:rPr lang="en-US" dirty="0"/>
              <a:t> </a:t>
            </a:r>
            <a:r>
              <a:rPr lang="en-US" dirty="0" err="1"/>
              <a:t>p.Id</a:t>
            </a:r>
            <a:r>
              <a:rPr lang="en-US" dirty="0"/>
              <a:t> = </a:t>
            </a:r>
            <a:r>
              <a:rPr lang="en-US" dirty="0" err="1"/>
              <a:t>pos.PlayerId</a:t>
            </a:r>
            <a:endParaRPr lang="en-US" dirty="0"/>
          </a:p>
          <a:p>
            <a:r>
              <a:rPr lang="en-US" dirty="0"/>
              <a:t>ORDER BY </a:t>
            </a:r>
            <a:r>
              <a:rPr lang="en-US" dirty="0" err="1"/>
              <a:t>pos.TotalPoints</a:t>
            </a:r>
            <a:r>
              <a:rPr lang="en-US" dirty="0"/>
              <a:t> DESC;</a:t>
            </a:r>
            <a:endParaRPr lang="en-US" dirty="0">
              <a:effectLst/>
            </a:endParaRPr>
          </a:p>
        </p:txBody>
      </p:sp>
    </p:spTree>
    <p:extLst>
      <p:ext uri="{BB962C8B-B14F-4D97-AF65-F5344CB8AC3E}">
        <p14:creationId xmlns:p14="http://schemas.microsoft.com/office/powerpoint/2010/main" val="27746696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7AFDC-4D12-8C48-2BD1-672824E7D3B7}"/>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B96029DF-33B8-8B1E-5635-5791522592F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09218FC2-D23F-4933-489F-23DCA824D456}"/>
              </a:ext>
            </a:extLst>
          </p:cNvPr>
          <p:cNvSpPr>
            <a:spLocks noGrp="1"/>
          </p:cNvSpPr>
          <p:nvPr>
            <p:ph type="dt" sz="half" idx="10"/>
          </p:nvPr>
        </p:nvSpPr>
        <p:spPr/>
        <p:txBody>
          <a:bodyPr/>
          <a:lstStyle/>
          <a:p>
            <a:fld id="{77CA23B6-146D-4CC0-B8BF-2383AD3B5353}" type="datetime1">
              <a:rPr lang="en-US" smtClean="0"/>
              <a:t>1/11/2026</a:t>
            </a:fld>
            <a:endParaRPr lang="en-US"/>
          </a:p>
        </p:txBody>
      </p:sp>
      <p:sp>
        <p:nvSpPr>
          <p:cNvPr id="5" name="Slide Number Placeholder 4">
            <a:extLst>
              <a:ext uri="{FF2B5EF4-FFF2-40B4-BE49-F238E27FC236}">
                <a16:creationId xmlns:a16="http://schemas.microsoft.com/office/drawing/2014/main" id="{2252F170-2C06-67B0-AEA1-E5B589A468D5}"/>
              </a:ext>
            </a:extLst>
          </p:cNvPr>
          <p:cNvSpPr>
            <a:spLocks noGrp="1"/>
          </p:cNvSpPr>
          <p:nvPr>
            <p:ph type="sldNum" sz="quarter" idx="12"/>
          </p:nvPr>
        </p:nvSpPr>
        <p:spPr/>
        <p:txBody>
          <a:bodyPr/>
          <a:lstStyle/>
          <a:p>
            <a:fld id="{F6C56E59-C124-411E-B3E7-95D014FC7158}" type="slidenum">
              <a:rPr lang="en-US" smtClean="0"/>
              <a:pPr/>
              <a:t>60</a:t>
            </a:fld>
            <a:endParaRPr lang="en-US"/>
          </a:p>
        </p:txBody>
      </p:sp>
      <p:sp>
        <p:nvSpPr>
          <p:cNvPr id="6" name="TextBox 5">
            <a:extLst>
              <a:ext uri="{FF2B5EF4-FFF2-40B4-BE49-F238E27FC236}">
                <a16:creationId xmlns:a16="http://schemas.microsoft.com/office/drawing/2014/main" id="{A3669987-FC4E-BFC6-7268-A07C02957F9A}"/>
              </a:ext>
            </a:extLst>
          </p:cNvPr>
          <p:cNvSpPr txBox="1"/>
          <p:nvPr/>
        </p:nvSpPr>
        <p:spPr>
          <a:xfrm>
            <a:off x="3952788" y="2459652"/>
            <a:ext cx="4300406" cy="1200329"/>
          </a:xfrm>
          <a:prstGeom prst="rect">
            <a:avLst/>
          </a:prstGeom>
          <a:noFill/>
        </p:spPr>
        <p:txBody>
          <a:bodyPr wrap="square" rtlCol="0">
            <a:spAutoFit/>
          </a:bodyPr>
          <a:lstStyle/>
          <a:p>
            <a:r>
              <a:rPr lang="en-US" dirty="0"/>
              <a:t>Try it.  </a:t>
            </a:r>
          </a:p>
          <a:p>
            <a:endParaRPr lang="en-US" dirty="0"/>
          </a:p>
          <a:p>
            <a:r>
              <a:rPr lang="en-US" dirty="0"/>
              <a:t>Get players with their team and stadium information.</a:t>
            </a:r>
          </a:p>
        </p:txBody>
      </p:sp>
    </p:spTree>
    <p:extLst>
      <p:ext uri="{BB962C8B-B14F-4D97-AF65-F5344CB8AC3E}">
        <p14:creationId xmlns:p14="http://schemas.microsoft.com/office/powerpoint/2010/main" val="9628865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B75E5-492A-CB29-D3BA-6357EDB8EE31}"/>
              </a:ext>
            </a:extLst>
          </p:cNvPr>
          <p:cNvSpPr>
            <a:spLocks noGrp="1"/>
          </p:cNvSpPr>
          <p:nvPr>
            <p:ph type="title"/>
          </p:nvPr>
        </p:nvSpPr>
        <p:spPr/>
        <p:txBody>
          <a:bodyPr>
            <a:normAutofit fontScale="90000"/>
          </a:bodyPr>
          <a:lstStyle/>
          <a:p>
            <a:r>
              <a:rPr lang="en-US" dirty="0"/>
              <a:t>Compound Joins and Self-Joins</a:t>
            </a:r>
          </a:p>
        </p:txBody>
      </p:sp>
      <p:sp>
        <p:nvSpPr>
          <p:cNvPr id="3" name="Content Placeholder 2">
            <a:extLst>
              <a:ext uri="{FF2B5EF4-FFF2-40B4-BE49-F238E27FC236}">
                <a16:creationId xmlns:a16="http://schemas.microsoft.com/office/drawing/2014/main" id="{F8EE2C16-F314-F6F1-1636-A9297D38252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5766E576-B9FC-256A-C081-B582BB05C4FF}"/>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D65E22A7-7F3D-78B1-4770-1E68C21F1A6B}"/>
              </a:ext>
            </a:extLst>
          </p:cNvPr>
          <p:cNvSpPr>
            <a:spLocks noGrp="1"/>
          </p:cNvSpPr>
          <p:nvPr>
            <p:ph type="sldNum" sz="quarter" idx="12"/>
          </p:nvPr>
        </p:nvSpPr>
        <p:spPr/>
        <p:txBody>
          <a:bodyPr/>
          <a:lstStyle/>
          <a:p>
            <a:fld id="{F6C56E59-C124-411E-B3E7-95D014FC7158}" type="slidenum">
              <a:rPr lang="en-US" smtClean="0"/>
              <a:pPr/>
              <a:t>61</a:t>
            </a:fld>
            <a:endParaRPr lang="en-US"/>
          </a:p>
        </p:txBody>
      </p:sp>
      <p:sp>
        <p:nvSpPr>
          <p:cNvPr id="6" name="TextBox 5">
            <a:extLst>
              <a:ext uri="{FF2B5EF4-FFF2-40B4-BE49-F238E27FC236}">
                <a16:creationId xmlns:a16="http://schemas.microsoft.com/office/drawing/2014/main" id="{B049BB06-6099-5C9D-25E0-EC706791E5E2}"/>
              </a:ext>
            </a:extLst>
          </p:cNvPr>
          <p:cNvSpPr txBox="1"/>
          <p:nvPr/>
        </p:nvSpPr>
        <p:spPr>
          <a:xfrm>
            <a:off x="410517" y="1343813"/>
            <a:ext cx="11104212" cy="923330"/>
          </a:xfrm>
          <a:prstGeom prst="rect">
            <a:avLst/>
          </a:prstGeom>
          <a:noFill/>
        </p:spPr>
        <p:txBody>
          <a:bodyPr wrap="square" rtlCol="0">
            <a:spAutoFit/>
          </a:bodyPr>
          <a:lstStyle/>
          <a:p>
            <a:r>
              <a:rPr lang="en-US" dirty="0"/>
              <a:t>With </a:t>
            </a:r>
            <a:r>
              <a:rPr lang="en-US" b="1" dirty="0"/>
              <a:t>compound joins</a:t>
            </a:r>
            <a:r>
              <a:rPr lang="en-US" dirty="0"/>
              <a:t> you can include two or more comparisons in a join condition using the AND </a:t>
            </a:r>
            <a:r>
              <a:rPr lang="en-US" dirty="0" err="1"/>
              <a:t>and</a:t>
            </a:r>
            <a:r>
              <a:rPr lang="en-US" dirty="0"/>
              <a:t> 0R operators.</a:t>
            </a:r>
          </a:p>
          <a:p>
            <a:r>
              <a:rPr lang="en-US" dirty="0"/>
              <a:t>A </a:t>
            </a:r>
            <a:r>
              <a:rPr lang="en-US" b="1" dirty="0"/>
              <a:t>self-join</a:t>
            </a:r>
            <a:r>
              <a:rPr lang="en-US" dirty="0"/>
              <a:t> joins a table with itself.</a:t>
            </a:r>
          </a:p>
        </p:txBody>
      </p:sp>
      <p:sp>
        <p:nvSpPr>
          <p:cNvPr id="7" name="TextBox 6">
            <a:extLst>
              <a:ext uri="{FF2B5EF4-FFF2-40B4-BE49-F238E27FC236}">
                <a16:creationId xmlns:a16="http://schemas.microsoft.com/office/drawing/2014/main" id="{79D1A034-E6B7-7D8B-98D1-9E07C8180748}"/>
              </a:ext>
            </a:extLst>
          </p:cNvPr>
          <p:cNvSpPr txBox="1"/>
          <p:nvPr/>
        </p:nvSpPr>
        <p:spPr>
          <a:xfrm>
            <a:off x="1691302" y="2404177"/>
            <a:ext cx="7586001" cy="3539430"/>
          </a:xfrm>
          <a:prstGeom prst="rect">
            <a:avLst/>
          </a:prstGeom>
          <a:noFill/>
        </p:spPr>
        <p:txBody>
          <a:bodyPr wrap="square" rtlCol="0">
            <a:spAutoFit/>
          </a:bodyPr>
          <a:lstStyle/>
          <a:p>
            <a:r>
              <a:rPr lang="en-US" sz="1600" dirty="0"/>
              <a:t>-- Find veteran and rookie pairings on same team</a:t>
            </a:r>
          </a:p>
          <a:p>
            <a:r>
              <a:rPr lang="en-US" sz="1600" dirty="0"/>
              <a:t>SELECT </a:t>
            </a:r>
            <a:r>
              <a:rPr lang="en-US" sz="1600" dirty="0" err="1"/>
              <a:t>pv.FirstName</a:t>
            </a:r>
            <a:r>
              <a:rPr lang="en-US" sz="1600" dirty="0"/>
              <a:t> + ' ' + </a:t>
            </a:r>
            <a:r>
              <a:rPr lang="en-US" sz="1600" dirty="0" err="1"/>
              <a:t>pv.LastName</a:t>
            </a:r>
            <a:r>
              <a:rPr lang="en-US" sz="1600" dirty="0"/>
              <a:t> AS Veteran,</a:t>
            </a:r>
          </a:p>
          <a:p>
            <a:r>
              <a:rPr lang="en-US" sz="1600" dirty="0"/>
              <a:t>                 </a:t>
            </a:r>
            <a:r>
              <a:rPr lang="en-US" sz="1600" dirty="0" err="1"/>
              <a:t>pr.FirstName</a:t>
            </a:r>
            <a:r>
              <a:rPr lang="en-US" sz="1600" dirty="0"/>
              <a:t> + ' ' + </a:t>
            </a:r>
            <a:r>
              <a:rPr lang="en-US" sz="1600" dirty="0" err="1"/>
              <a:t>pr.LastName</a:t>
            </a:r>
            <a:r>
              <a:rPr lang="en-US" sz="1600" dirty="0"/>
              <a:t> AS Rookie,</a:t>
            </a:r>
          </a:p>
          <a:p>
            <a:r>
              <a:rPr lang="en-US" sz="1600" dirty="0"/>
              <a:t>                 </a:t>
            </a:r>
            <a:r>
              <a:rPr lang="en-US" sz="1600" dirty="0" err="1"/>
              <a:t>t.Name</a:t>
            </a:r>
            <a:r>
              <a:rPr lang="en-US" sz="1600" dirty="0"/>
              <a:t> AS Team,</a:t>
            </a:r>
          </a:p>
          <a:p>
            <a:r>
              <a:rPr lang="en-US" sz="1600" dirty="0"/>
              <a:t>                 DATEDIFF(YEAR, </a:t>
            </a:r>
            <a:r>
              <a:rPr lang="en-US" sz="1600" dirty="0" err="1"/>
              <a:t>pv.BirthDate</a:t>
            </a:r>
            <a:r>
              <a:rPr lang="en-US" sz="1600" dirty="0"/>
              <a:t>, GETDATE()) AS </a:t>
            </a:r>
            <a:r>
              <a:rPr lang="en-US" sz="1600" dirty="0" err="1"/>
              <a:t>VeteranAge</a:t>
            </a:r>
            <a:r>
              <a:rPr lang="en-US" sz="1600" dirty="0"/>
              <a:t>,</a:t>
            </a:r>
          </a:p>
          <a:p>
            <a:r>
              <a:rPr lang="en-US" sz="1600" dirty="0"/>
              <a:t>                 DATEDIFF(YEAR, </a:t>
            </a:r>
            <a:r>
              <a:rPr lang="en-US" sz="1600" dirty="0" err="1"/>
              <a:t>pr.BirthDate</a:t>
            </a:r>
            <a:r>
              <a:rPr lang="en-US" sz="1600" dirty="0"/>
              <a:t>, GETDATE()) AS </a:t>
            </a:r>
            <a:r>
              <a:rPr lang="en-US" sz="1600" dirty="0" err="1"/>
              <a:t>RookieAge</a:t>
            </a:r>
            <a:endParaRPr lang="en-US" sz="1600" dirty="0"/>
          </a:p>
          <a:p>
            <a:r>
              <a:rPr lang="en-US" sz="1600" dirty="0"/>
              <a:t>FROM </a:t>
            </a:r>
            <a:r>
              <a:rPr lang="en-US" sz="1600" dirty="0" err="1"/>
              <a:t>dbo.Player</a:t>
            </a:r>
            <a:r>
              <a:rPr lang="en-US" sz="1600" dirty="0"/>
              <a:t> </a:t>
            </a:r>
            <a:r>
              <a:rPr lang="en-US" sz="1600" dirty="0" err="1"/>
              <a:t>pv</a:t>
            </a:r>
            <a:endParaRPr lang="en-US" sz="1600" dirty="0"/>
          </a:p>
          <a:p>
            <a:r>
              <a:rPr lang="en-US" sz="1600" b="1" dirty="0"/>
              <a:t>INNER JOIN </a:t>
            </a:r>
            <a:r>
              <a:rPr lang="en-US" sz="1600" b="1" dirty="0" err="1"/>
              <a:t>dbo.Player</a:t>
            </a:r>
            <a:r>
              <a:rPr lang="en-US" sz="1600" b="1" dirty="0"/>
              <a:t> pr ON </a:t>
            </a:r>
            <a:r>
              <a:rPr lang="en-US" sz="1600" b="1" dirty="0" err="1"/>
              <a:t>pv.TeamId</a:t>
            </a:r>
            <a:r>
              <a:rPr lang="en-US" sz="1600" b="1" dirty="0"/>
              <a:t> = </a:t>
            </a:r>
            <a:r>
              <a:rPr lang="en-US" sz="1600" b="1" dirty="0" err="1"/>
              <a:t>pr.TeamId</a:t>
            </a:r>
            <a:r>
              <a:rPr lang="en-US" sz="1600" b="1" dirty="0"/>
              <a:t> AND </a:t>
            </a:r>
          </a:p>
          <a:p>
            <a:r>
              <a:rPr lang="en-US" sz="1600" b="1" dirty="0"/>
              <a:t>                          </a:t>
            </a:r>
            <a:r>
              <a:rPr lang="en-US" sz="1600" b="1" dirty="0" err="1"/>
              <a:t>pv.Id</a:t>
            </a:r>
            <a:r>
              <a:rPr lang="en-US" sz="1600" b="1" dirty="0"/>
              <a:t> &lt;&gt; </a:t>
            </a:r>
            <a:r>
              <a:rPr lang="en-US" sz="1600" b="1" dirty="0" err="1"/>
              <a:t>pr.Id</a:t>
            </a:r>
            <a:r>
              <a:rPr lang="en-US" sz="1600" b="1" dirty="0"/>
              <a:t> AND </a:t>
            </a:r>
          </a:p>
          <a:p>
            <a:r>
              <a:rPr lang="en-US" sz="1600" b="1" dirty="0"/>
              <a:t>                          DATEDIFF(YEAR, </a:t>
            </a:r>
            <a:r>
              <a:rPr lang="en-US" sz="1600" b="1" dirty="0" err="1"/>
              <a:t>pv.BirthDate</a:t>
            </a:r>
            <a:r>
              <a:rPr lang="en-US" sz="1600" b="1" dirty="0"/>
              <a:t>, GETDATE()) &gt;= 39 AND -- Veteran</a:t>
            </a:r>
          </a:p>
          <a:p>
            <a:r>
              <a:rPr lang="en-US" sz="1600" b="1" dirty="0"/>
              <a:t>                          DATEDIFF(YEAR, </a:t>
            </a:r>
            <a:r>
              <a:rPr lang="en-US" sz="1600" b="1" dirty="0" err="1"/>
              <a:t>pr.BirthDate</a:t>
            </a:r>
            <a:r>
              <a:rPr lang="en-US" sz="1600" b="1" dirty="0"/>
              <a:t>, GETDATE()) &lt;= 32  -- Younger player</a:t>
            </a:r>
          </a:p>
          <a:p>
            <a:r>
              <a:rPr lang="en-US" sz="1600" dirty="0"/>
              <a:t>INNER JOIN </a:t>
            </a:r>
            <a:r>
              <a:rPr lang="en-US" sz="1600" dirty="0" err="1"/>
              <a:t>dbo.Team</a:t>
            </a:r>
            <a:r>
              <a:rPr lang="en-US" sz="1600" dirty="0"/>
              <a:t> t ON </a:t>
            </a:r>
            <a:r>
              <a:rPr lang="en-US" sz="1600" dirty="0" err="1"/>
              <a:t>pv.TeamId</a:t>
            </a:r>
            <a:r>
              <a:rPr lang="en-US" sz="1600" dirty="0"/>
              <a:t> = </a:t>
            </a:r>
            <a:r>
              <a:rPr lang="en-US" sz="1600" dirty="0" err="1"/>
              <a:t>t.Id</a:t>
            </a:r>
            <a:endParaRPr lang="en-US" sz="1600" dirty="0"/>
          </a:p>
          <a:p>
            <a:r>
              <a:rPr lang="en-US" sz="1600" dirty="0"/>
              <a:t>WHERE </a:t>
            </a:r>
            <a:r>
              <a:rPr lang="en-US" sz="1600" dirty="0" err="1"/>
              <a:t>pv.IsActive</a:t>
            </a:r>
            <a:r>
              <a:rPr lang="en-US" sz="1600" dirty="0"/>
              <a:t> = 1 AND </a:t>
            </a:r>
            <a:r>
              <a:rPr lang="en-US" sz="1600" dirty="0" err="1"/>
              <a:t>pr.IsActive</a:t>
            </a:r>
            <a:r>
              <a:rPr lang="en-US" sz="1600" dirty="0"/>
              <a:t> = 1</a:t>
            </a:r>
          </a:p>
          <a:p>
            <a:r>
              <a:rPr lang="en-US" sz="1600" dirty="0"/>
              <a:t>ORDER BY </a:t>
            </a:r>
            <a:r>
              <a:rPr lang="en-US" sz="1600" dirty="0" err="1"/>
              <a:t>t.Name</a:t>
            </a:r>
            <a:r>
              <a:rPr lang="en-US" sz="1600" dirty="0"/>
              <a:t>, </a:t>
            </a:r>
            <a:r>
              <a:rPr lang="en-US" sz="1600" dirty="0" err="1"/>
              <a:t>VeteranAge</a:t>
            </a:r>
            <a:r>
              <a:rPr lang="en-US" sz="1600" dirty="0"/>
              <a:t> DESC;</a:t>
            </a:r>
          </a:p>
        </p:txBody>
      </p:sp>
    </p:spTree>
    <p:extLst>
      <p:ext uri="{BB962C8B-B14F-4D97-AF65-F5344CB8AC3E}">
        <p14:creationId xmlns:p14="http://schemas.microsoft.com/office/powerpoint/2010/main" val="34068705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2681-17EF-FC64-180B-C79146CCC215}"/>
              </a:ext>
            </a:extLst>
          </p:cNvPr>
          <p:cNvSpPr>
            <a:spLocks noGrp="1"/>
          </p:cNvSpPr>
          <p:nvPr>
            <p:ph type="title"/>
          </p:nvPr>
        </p:nvSpPr>
        <p:spPr/>
        <p:txBody>
          <a:bodyPr>
            <a:normAutofit fontScale="90000"/>
          </a:bodyPr>
          <a:lstStyle/>
          <a:p>
            <a:r>
              <a:rPr lang="en-US" dirty="0"/>
              <a:t>LEFT [OUTER] JOIN</a:t>
            </a:r>
          </a:p>
        </p:txBody>
      </p:sp>
      <p:sp>
        <p:nvSpPr>
          <p:cNvPr id="3" name="Content Placeholder 2">
            <a:extLst>
              <a:ext uri="{FF2B5EF4-FFF2-40B4-BE49-F238E27FC236}">
                <a16:creationId xmlns:a16="http://schemas.microsoft.com/office/drawing/2014/main" id="{2B9497B1-2000-88D8-6AEC-875DEC5862B8}"/>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0C3B2106-81AD-C037-66B1-611743B067A2}"/>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9434C847-FA90-3ADC-88C0-307BF6C02D30}"/>
              </a:ext>
            </a:extLst>
          </p:cNvPr>
          <p:cNvSpPr>
            <a:spLocks noGrp="1"/>
          </p:cNvSpPr>
          <p:nvPr>
            <p:ph type="sldNum" sz="quarter" idx="12"/>
          </p:nvPr>
        </p:nvSpPr>
        <p:spPr/>
        <p:txBody>
          <a:bodyPr/>
          <a:lstStyle/>
          <a:p>
            <a:fld id="{F6C56E59-C124-411E-B3E7-95D014FC7158}" type="slidenum">
              <a:rPr lang="en-US" smtClean="0"/>
              <a:pPr/>
              <a:t>62</a:t>
            </a:fld>
            <a:endParaRPr lang="en-US"/>
          </a:p>
        </p:txBody>
      </p:sp>
      <p:sp>
        <p:nvSpPr>
          <p:cNvPr id="6" name="TextBox 5">
            <a:extLst>
              <a:ext uri="{FF2B5EF4-FFF2-40B4-BE49-F238E27FC236}">
                <a16:creationId xmlns:a16="http://schemas.microsoft.com/office/drawing/2014/main" id="{17003C4A-2BED-A5F4-1107-6412F70DB63D}"/>
              </a:ext>
            </a:extLst>
          </p:cNvPr>
          <p:cNvSpPr txBox="1"/>
          <p:nvPr/>
        </p:nvSpPr>
        <p:spPr>
          <a:xfrm>
            <a:off x="1353243" y="1486420"/>
            <a:ext cx="8262120" cy="923330"/>
          </a:xfrm>
          <a:prstGeom prst="rect">
            <a:avLst/>
          </a:prstGeom>
          <a:noFill/>
        </p:spPr>
        <p:txBody>
          <a:bodyPr wrap="square" rtlCol="0">
            <a:spAutoFit/>
          </a:bodyPr>
          <a:lstStyle/>
          <a:p>
            <a:r>
              <a:rPr lang="en-US" b="1" dirty="0">
                <a:effectLst/>
              </a:rPr>
              <a:t>LEFT JOIN</a:t>
            </a:r>
            <a:r>
              <a:rPr lang="en-US" dirty="0">
                <a:effectLst/>
              </a:rPr>
              <a:t>s</a:t>
            </a:r>
            <a:r>
              <a:rPr lang="en-US" b="1" dirty="0">
                <a:effectLst/>
              </a:rPr>
              <a:t> </a:t>
            </a:r>
            <a:r>
              <a:rPr lang="en-US" dirty="0">
                <a:effectLst/>
              </a:rPr>
              <a:t>are the mo</a:t>
            </a:r>
            <a:r>
              <a:rPr lang="en-US" dirty="0"/>
              <a:t>st common type of joins used. They return all rows from the base table and those rows from the non-base table that match fields in the ON clause.</a:t>
            </a:r>
          </a:p>
        </p:txBody>
      </p:sp>
      <p:pic>
        <p:nvPicPr>
          <p:cNvPr id="9" name="Picture 8">
            <a:extLst>
              <a:ext uri="{FF2B5EF4-FFF2-40B4-BE49-F238E27FC236}">
                <a16:creationId xmlns:a16="http://schemas.microsoft.com/office/drawing/2014/main" id="{8278FC2D-EECB-8B4F-D881-A53FC2BABF67}"/>
              </a:ext>
            </a:extLst>
          </p:cNvPr>
          <p:cNvPicPr>
            <a:picLocks noChangeAspect="1"/>
          </p:cNvPicPr>
          <p:nvPr/>
        </p:nvPicPr>
        <p:blipFill>
          <a:blip r:embed="rId2"/>
          <a:stretch>
            <a:fillRect/>
          </a:stretch>
        </p:blipFill>
        <p:spPr>
          <a:xfrm>
            <a:off x="578195" y="2456952"/>
            <a:ext cx="5189741" cy="3041987"/>
          </a:xfrm>
          <a:prstGeom prst="rect">
            <a:avLst/>
          </a:prstGeom>
        </p:spPr>
      </p:pic>
      <p:sp>
        <p:nvSpPr>
          <p:cNvPr id="10" name="TextBox 9">
            <a:extLst>
              <a:ext uri="{FF2B5EF4-FFF2-40B4-BE49-F238E27FC236}">
                <a16:creationId xmlns:a16="http://schemas.microsoft.com/office/drawing/2014/main" id="{87FECE40-1AEC-9FEC-1B97-AD6B819C1FA3}"/>
              </a:ext>
            </a:extLst>
          </p:cNvPr>
          <p:cNvSpPr txBox="1"/>
          <p:nvPr/>
        </p:nvSpPr>
        <p:spPr>
          <a:xfrm>
            <a:off x="6208295" y="2546784"/>
            <a:ext cx="5510463" cy="2862322"/>
          </a:xfrm>
          <a:prstGeom prst="rect">
            <a:avLst/>
          </a:prstGeom>
          <a:noFill/>
        </p:spPr>
        <p:txBody>
          <a:bodyPr wrap="square" rtlCol="0">
            <a:spAutoFit/>
          </a:bodyPr>
          <a:lstStyle/>
          <a:p>
            <a:r>
              <a:rPr lang="en-US" dirty="0"/>
              <a:t>-- returns all teams and their players as well as teams without players</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t.ChampionshipCount</a:t>
            </a:r>
            <a:endParaRPr lang="en-US" dirty="0"/>
          </a:p>
          <a:p>
            <a:r>
              <a:rPr lang="en-US" dirty="0"/>
              <a:t>FROM </a:t>
            </a:r>
            <a:r>
              <a:rPr lang="en-US" dirty="0" err="1"/>
              <a:t>dbo.Team</a:t>
            </a:r>
            <a:r>
              <a:rPr lang="en-US" dirty="0"/>
              <a:t> t</a:t>
            </a:r>
          </a:p>
          <a:p>
            <a:r>
              <a:rPr lang="en-US" b="1" dirty="0"/>
              <a:t>LEFT JOIN</a:t>
            </a:r>
            <a:r>
              <a:rPr lang="en-US" dirty="0"/>
              <a:t> </a:t>
            </a:r>
            <a:r>
              <a:rPr lang="en-US" dirty="0" err="1"/>
              <a:t>dbo.Player</a:t>
            </a:r>
            <a:r>
              <a:rPr lang="en-US" dirty="0"/>
              <a:t> p ON </a:t>
            </a:r>
            <a:r>
              <a:rPr lang="en-US" dirty="0" err="1"/>
              <a:t>t.Id</a:t>
            </a:r>
            <a:r>
              <a:rPr lang="en-US" dirty="0"/>
              <a:t> = </a:t>
            </a:r>
            <a:r>
              <a:rPr lang="en-US" dirty="0" err="1"/>
              <a:t>p.TeamId</a:t>
            </a:r>
            <a:endParaRPr lang="en-US" dirty="0"/>
          </a:p>
          <a:p>
            <a:r>
              <a:rPr lang="en-US" dirty="0"/>
              <a:t>ORDER BY </a:t>
            </a:r>
            <a:r>
              <a:rPr lang="en-US" dirty="0" err="1"/>
              <a:t>t.Name</a:t>
            </a:r>
            <a:r>
              <a:rPr lang="en-US" dirty="0"/>
              <a:t>, </a:t>
            </a:r>
            <a:r>
              <a:rPr lang="en-US" dirty="0" err="1"/>
              <a:t>p.LastName</a:t>
            </a:r>
            <a:r>
              <a:rPr lang="en-US" dirty="0"/>
              <a:t>;</a:t>
            </a:r>
          </a:p>
        </p:txBody>
      </p:sp>
    </p:spTree>
    <p:extLst>
      <p:ext uri="{BB962C8B-B14F-4D97-AF65-F5344CB8AC3E}">
        <p14:creationId xmlns:p14="http://schemas.microsoft.com/office/powerpoint/2010/main" val="17035967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AFCD2-46E1-A008-1B35-6A8FA3541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15F1A-BFDD-491F-215E-BD99B689C3CB}"/>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E9931F33-E601-C186-1639-84E433F17C1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90DC2AB-E5DB-FE64-4559-AA1C964B2954}"/>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B90566D3-35E4-191E-F7DF-679AF64FD5F1}"/>
              </a:ext>
            </a:extLst>
          </p:cNvPr>
          <p:cNvSpPr>
            <a:spLocks noGrp="1"/>
          </p:cNvSpPr>
          <p:nvPr>
            <p:ph type="sldNum" sz="quarter" idx="12"/>
          </p:nvPr>
        </p:nvSpPr>
        <p:spPr/>
        <p:txBody>
          <a:bodyPr/>
          <a:lstStyle/>
          <a:p>
            <a:fld id="{F6C56E59-C124-411E-B3E7-95D014FC7158}" type="slidenum">
              <a:rPr lang="en-US" smtClean="0"/>
              <a:pPr/>
              <a:t>63</a:t>
            </a:fld>
            <a:endParaRPr lang="en-US"/>
          </a:p>
        </p:txBody>
      </p:sp>
      <p:sp>
        <p:nvSpPr>
          <p:cNvPr id="6" name="TextBox 5">
            <a:extLst>
              <a:ext uri="{FF2B5EF4-FFF2-40B4-BE49-F238E27FC236}">
                <a16:creationId xmlns:a16="http://schemas.microsoft.com/office/drawing/2014/main" id="{DA29A935-D993-50E7-ED6C-7677585581D9}"/>
              </a:ext>
            </a:extLst>
          </p:cNvPr>
          <p:cNvSpPr txBox="1"/>
          <p:nvPr/>
        </p:nvSpPr>
        <p:spPr>
          <a:xfrm>
            <a:off x="501316" y="1193226"/>
            <a:ext cx="6657474" cy="5016758"/>
          </a:xfrm>
          <a:prstGeom prst="rect">
            <a:avLst/>
          </a:prstGeom>
          <a:noFill/>
        </p:spPr>
        <p:txBody>
          <a:bodyPr wrap="square" rtlCol="0">
            <a:spAutoFit/>
          </a:bodyPr>
          <a:lstStyle/>
          <a:p>
            <a:r>
              <a:rPr lang="en-US" sz="1600" b="1" dirty="0"/>
              <a:t>Scenario:</a:t>
            </a:r>
          </a:p>
          <a:p>
            <a:r>
              <a:rPr lang="en-US" sz="1600" dirty="0"/>
              <a:t>You are preparing a report for team managers. They want to see ALL teams in the league along with their players. Some teams might not have any players assigned yet, but they still need to appear in the report.</a:t>
            </a:r>
          </a:p>
          <a:p>
            <a:endParaRPr lang="en-US" sz="1600" dirty="0"/>
          </a:p>
          <a:p>
            <a:r>
              <a:rPr lang="en-US" sz="1600" b="1" dirty="0"/>
              <a:t>Task 1: Basic Team and Player List</a:t>
            </a:r>
          </a:p>
          <a:p>
            <a:r>
              <a:rPr lang="en-US" sz="1600" dirty="0"/>
              <a:t>Write a query that shows:</a:t>
            </a:r>
          </a:p>
          <a:p>
            <a:r>
              <a:rPr lang="en-US" sz="1600" dirty="0"/>
              <a:t>	Team name</a:t>
            </a:r>
          </a:p>
          <a:p>
            <a:r>
              <a:rPr lang="en-US" sz="1600" dirty="0"/>
              <a:t>	Team city</a:t>
            </a:r>
          </a:p>
          <a:p>
            <a:r>
              <a:rPr lang="en-US" sz="1600" dirty="0"/>
              <a:t>	Player first name</a:t>
            </a:r>
          </a:p>
          <a:p>
            <a:r>
              <a:rPr lang="en-US" sz="1600" dirty="0"/>
              <a:t>	Player last name</a:t>
            </a:r>
          </a:p>
          <a:p>
            <a:r>
              <a:rPr lang="en-US" sz="1600" dirty="0"/>
              <a:t>	Player position</a:t>
            </a:r>
          </a:p>
          <a:p>
            <a:endParaRPr lang="en-US" sz="1600" dirty="0"/>
          </a:p>
          <a:p>
            <a:r>
              <a:rPr lang="en-US" sz="1600" b="1" dirty="0"/>
              <a:t>Important:</a:t>
            </a:r>
            <a:r>
              <a:rPr lang="en-US" sz="1600" dirty="0"/>
              <a:t> ALL teams must appear in the results, even if they have no players.</a:t>
            </a:r>
          </a:p>
          <a:p>
            <a:endParaRPr lang="en-US" sz="1600" dirty="0"/>
          </a:p>
          <a:p>
            <a:r>
              <a:rPr lang="en-US" sz="1600" b="1" dirty="0"/>
              <a:t>Expected Output:</a:t>
            </a:r>
          </a:p>
          <a:p>
            <a:r>
              <a:rPr lang="en-US" sz="1600" dirty="0"/>
              <a:t>Teams with players should show their player details. Teams without players should still show the team name and city, with NULL for player columns.</a:t>
            </a:r>
          </a:p>
        </p:txBody>
      </p:sp>
      <p:sp>
        <p:nvSpPr>
          <p:cNvPr id="7" name="TextBox 6">
            <a:extLst>
              <a:ext uri="{FF2B5EF4-FFF2-40B4-BE49-F238E27FC236}">
                <a16:creationId xmlns:a16="http://schemas.microsoft.com/office/drawing/2014/main" id="{23744614-EEE9-CEDC-0E86-8179346C4BC0}"/>
              </a:ext>
            </a:extLst>
          </p:cNvPr>
          <p:cNvSpPr txBox="1"/>
          <p:nvPr/>
        </p:nvSpPr>
        <p:spPr>
          <a:xfrm>
            <a:off x="7904748" y="1484492"/>
            <a:ext cx="3561347" cy="3139321"/>
          </a:xfrm>
          <a:prstGeom prst="rect">
            <a:avLst/>
          </a:prstGeom>
          <a:noFill/>
        </p:spPr>
        <p:txBody>
          <a:bodyPr wrap="square" rtlCol="0">
            <a:spAutoFit/>
          </a:bodyPr>
          <a:lstStyle/>
          <a:p>
            <a:r>
              <a:rPr lang="en-US" b="1" dirty="0"/>
              <a:t>Starter Code:</a:t>
            </a:r>
          </a:p>
          <a:p>
            <a:endParaRPr lang="en-US" dirty="0"/>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p.Position</a:t>
            </a:r>
            <a:endParaRPr lang="en-US" dirty="0"/>
          </a:p>
          <a:p>
            <a:r>
              <a:rPr lang="en-US" dirty="0"/>
              <a:t>FROM </a:t>
            </a:r>
            <a:r>
              <a:rPr lang="en-US" dirty="0" err="1"/>
              <a:t>dbo.Team</a:t>
            </a:r>
            <a:r>
              <a:rPr lang="en-US" dirty="0"/>
              <a:t> t</a:t>
            </a:r>
          </a:p>
          <a:p>
            <a:r>
              <a:rPr lang="en-US" dirty="0"/>
              <a:t>-- Complete the query here</a:t>
            </a:r>
          </a:p>
          <a:p>
            <a:r>
              <a:rPr lang="en-US" dirty="0"/>
              <a:t>ORDER BY </a:t>
            </a:r>
            <a:r>
              <a:rPr lang="en-US" dirty="0" err="1"/>
              <a:t>t.Name</a:t>
            </a:r>
            <a:r>
              <a:rPr lang="en-US" dirty="0"/>
              <a:t>, </a:t>
            </a:r>
            <a:r>
              <a:rPr lang="en-US" dirty="0" err="1"/>
              <a:t>p.LastName</a:t>
            </a:r>
            <a:r>
              <a:rPr lang="en-US" dirty="0"/>
              <a:t>;</a:t>
            </a:r>
          </a:p>
          <a:p>
            <a:endParaRPr lang="en-US" dirty="0"/>
          </a:p>
        </p:txBody>
      </p:sp>
    </p:spTree>
    <p:extLst>
      <p:ext uri="{BB962C8B-B14F-4D97-AF65-F5344CB8AC3E}">
        <p14:creationId xmlns:p14="http://schemas.microsoft.com/office/powerpoint/2010/main" val="1721419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026F-D83C-8801-2281-1DCF335CF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111B0-4CF6-2A90-8D8F-871A21C36EFA}"/>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6CD1B2E6-25CC-50BF-094C-F2B674411A2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C7C4FB9-3AF6-54BE-E411-633069237814}"/>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AD9B0FD7-CD00-A8D7-7BD6-7255B8AFF3D1}"/>
              </a:ext>
            </a:extLst>
          </p:cNvPr>
          <p:cNvSpPr>
            <a:spLocks noGrp="1"/>
          </p:cNvSpPr>
          <p:nvPr>
            <p:ph type="sldNum" sz="quarter" idx="12"/>
          </p:nvPr>
        </p:nvSpPr>
        <p:spPr/>
        <p:txBody>
          <a:bodyPr/>
          <a:lstStyle/>
          <a:p>
            <a:fld id="{F6C56E59-C124-411E-B3E7-95D014FC7158}" type="slidenum">
              <a:rPr lang="en-US" smtClean="0"/>
              <a:pPr/>
              <a:t>64</a:t>
            </a:fld>
            <a:endParaRPr lang="en-US"/>
          </a:p>
        </p:txBody>
      </p:sp>
      <p:sp>
        <p:nvSpPr>
          <p:cNvPr id="6" name="TextBox 5">
            <a:extLst>
              <a:ext uri="{FF2B5EF4-FFF2-40B4-BE49-F238E27FC236}">
                <a16:creationId xmlns:a16="http://schemas.microsoft.com/office/drawing/2014/main" id="{FA62C486-BBEF-B26D-97F3-AE3D04BB4732}"/>
              </a:ext>
            </a:extLst>
          </p:cNvPr>
          <p:cNvSpPr txBox="1"/>
          <p:nvPr/>
        </p:nvSpPr>
        <p:spPr>
          <a:xfrm>
            <a:off x="2774254" y="1121037"/>
            <a:ext cx="6657474" cy="5016758"/>
          </a:xfrm>
          <a:prstGeom prst="rect">
            <a:avLst/>
          </a:prstGeom>
          <a:noFill/>
        </p:spPr>
        <p:txBody>
          <a:bodyPr wrap="square" rtlCol="0">
            <a:spAutoFit/>
          </a:bodyPr>
          <a:lstStyle/>
          <a:p>
            <a:r>
              <a:rPr lang="en-US" sz="1600" b="1" dirty="0"/>
              <a:t>Scenario:</a:t>
            </a:r>
          </a:p>
          <a:p>
            <a:r>
              <a:rPr lang="en-US" sz="1600" dirty="0"/>
              <a:t>You are preparing a report for team managers. They want to see ALL teams in the league along with their players. Some teams might not have any players assigned yet, but they still need to appear in the report.</a:t>
            </a:r>
          </a:p>
          <a:p>
            <a:endParaRPr lang="en-US" sz="1600" dirty="0"/>
          </a:p>
          <a:p>
            <a:r>
              <a:rPr lang="en-US" sz="1600" b="1" dirty="0"/>
              <a:t>Task 1: Basic Team and Player List</a:t>
            </a:r>
          </a:p>
          <a:p>
            <a:r>
              <a:rPr lang="en-US" sz="1600" dirty="0"/>
              <a:t>Write a query that shows:</a:t>
            </a:r>
          </a:p>
          <a:p>
            <a:r>
              <a:rPr lang="en-US" sz="1600" dirty="0"/>
              <a:t>	Team name</a:t>
            </a:r>
          </a:p>
          <a:p>
            <a:r>
              <a:rPr lang="en-US" sz="1600" dirty="0"/>
              <a:t>	Team city</a:t>
            </a:r>
          </a:p>
          <a:p>
            <a:r>
              <a:rPr lang="en-US" sz="1600" dirty="0"/>
              <a:t>	Player first name</a:t>
            </a:r>
          </a:p>
          <a:p>
            <a:r>
              <a:rPr lang="en-US" sz="1600" dirty="0"/>
              <a:t>	Player last name</a:t>
            </a:r>
          </a:p>
          <a:p>
            <a:r>
              <a:rPr lang="en-US" sz="1600" dirty="0"/>
              <a:t>	Player position</a:t>
            </a:r>
          </a:p>
          <a:p>
            <a:endParaRPr lang="en-US" sz="1600" dirty="0"/>
          </a:p>
          <a:p>
            <a:r>
              <a:rPr lang="en-US" sz="1600" b="1" dirty="0"/>
              <a:t>Important:</a:t>
            </a:r>
            <a:r>
              <a:rPr lang="en-US" sz="1600" dirty="0"/>
              <a:t> ALL teams must appear in the results, even if they have no players.</a:t>
            </a:r>
          </a:p>
          <a:p>
            <a:endParaRPr lang="en-US" sz="1600" dirty="0"/>
          </a:p>
          <a:p>
            <a:r>
              <a:rPr lang="en-US" sz="1600" b="1" dirty="0"/>
              <a:t>Expected Output:</a:t>
            </a:r>
          </a:p>
          <a:p>
            <a:r>
              <a:rPr lang="en-US" sz="1600" dirty="0"/>
              <a:t>Teams with players should show their player details. Teams without players should still show the team name and city, with NULL for player columns.</a:t>
            </a:r>
          </a:p>
        </p:txBody>
      </p:sp>
    </p:spTree>
    <p:extLst>
      <p:ext uri="{BB962C8B-B14F-4D97-AF65-F5344CB8AC3E}">
        <p14:creationId xmlns:p14="http://schemas.microsoft.com/office/powerpoint/2010/main" val="42504903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F32BE-7E63-9C09-06FC-45C211095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E92C5-F083-9571-C83D-AB56C24B0BA5}"/>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335CD128-2F50-9927-9955-C06A30584B6F}"/>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F7F5156-6ED0-A043-3F42-8E9AC4D97573}"/>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12D6866A-ABF3-1421-F348-BDEE514DE620}"/>
              </a:ext>
            </a:extLst>
          </p:cNvPr>
          <p:cNvSpPr>
            <a:spLocks noGrp="1"/>
          </p:cNvSpPr>
          <p:nvPr>
            <p:ph type="sldNum" sz="quarter" idx="12"/>
          </p:nvPr>
        </p:nvSpPr>
        <p:spPr/>
        <p:txBody>
          <a:bodyPr/>
          <a:lstStyle/>
          <a:p>
            <a:fld id="{F6C56E59-C124-411E-B3E7-95D014FC7158}" type="slidenum">
              <a:rPr lang="en-US" smtClean="0"/>
              <a:pPr/>
              <a:t>65</a:t>
            </a:fld>
            <a:endParaRPr lang="en-US"/>
          </a:p>
        </p:txBody>
      </p:sp>
      <p:sp>
        <p:nvSpPr>
          <p:cNvPr id="7" name="TextBox 6">
            <a:extLst>
              <a:ext uri="{FF2B5EF4-FFF2-40B4-BE49-F238E27FC236}">
                <a16:creationId xmlns:a16="http://schemas.microsoft.com/office/drawing/2014/main" id="{9BD63C31-AE84-71E0-B346-6EBA4248ABA7}"/>
              </a:ext>
            </a:extLst>
          </p:cNvPr>
          <p:cNvSpPr txBox="1"/>
          <p:nvPr/>
        </p:nvSpPr>
        <p:spPr>
          <a:xfrm>
            <a:off x="3525254" y="1989818"/>
            <a:ext cx="4523874" cy="3416320"/>
          </a:xfrm>
          <a:prstGeom prst="rect">
            <a:avLst/>
          </a:prstGeom>
          <a:noFill/>
        </p:spPr>
        <p:txBody>
          <a:bodyPr wrap="square" rtlCol="0">
            <a:spAutoFit/>
          </a:bodyPr>
          <a:lstStyle/>
          <a:p>
            <a:r>
              <a:rPr lang="en-US" b="1" dirty="0"/>
              <a:t>ANSWER</a:t>
            </a:r>
          </a:p>
          <a:p>
            <a:endParaRPr lang="en-US" dirty="0"/>
          </a:p>
          <a:p>
            <a:r>
              <a:rPr lang="en-US" dirty="0"/>
              <a:t>-- </a:t>
            </a:r>
            <a:r>
              <a:rPr lang="en-US" b="1" dirty="0"/>
              <a:t>Task 1:</a:t>
            </a:r>
            <a:r>
              <a:rPr lang="en-US" dirty="0"/>
              <a:t> Basic Team and Player List</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p.Position</a:t>
            </a:r>
            <a:endParaRPr lang="en-US" dirty="0"/>
          </a:p>
          <a:p>
            <a:r>
              <a:rPr lang="en-US" dirty="0"/>
              <a:t>FROM </a:t>
            </a:r>
            <a:r>
              <a:rPr lang="en-US" dirty="0" err="1"/>
              <a:t>dbo.Team</a:t>
            </a:r>
            <a:r>
              <a:rPr lang="en-US" dirty="0"/>
              <a:t> t</a:t>
            </a:r>
          </a:p>
          <a:p>
            <a:r>
              <a:rPr lang="en-US" dirty="0"/>
              <a:t>LEFT JOIN </a:t>
            </a:r>
            <a:r>
              <a:rPr lang="en-US" dirty="0" err="1"/>
              <a:t>dbo.Player</a:t>
            </a:r>
            <a:r>
              <a:rPr lang="en-US" dirty="0"/>
              <a:t> p ON </a:t>
            </a:r>
            <a:r>
              <a:rPr lang="en-US" dirty="0" err="1"/>
              <a:t>t.Id</a:t>
            </a:r>
            <a:r>
              <a:rPr lang="en-US" dirty="0"/>
              <a:t> = </a:t>
            </a:r>
            <a:r>
              <a:rPr lang="en-US" dirty="0" err="1"/>
              <a:t>p.TeamId</a:t>
            </a:r>
            <a:endParaRPr lang="en-US" dirty="0"/>
          </a:p>
          <a:p>
            <a:r>
              <a:rPr lang="en-US" dirty="0"/>
              <a:t>ORDER BY </a:t>
            </a:r>
            <a:r>
              <a:rPr lang="en-US" dirty="0" err="1"/>
              <a:t>t.Name</a:t>
            </a:r>
            <a:r>
              <a:rPr lang="en-US" dirty="0"/>
              <a:t>, </a:t>
            </a:r>
            <a:r>
              <a:rPr lang="en-US" dirty="0" err="1"/>
              <a:t>p.LastName</a:t>
            </a:r>
            <a:r>
              <a:rPr lang="en-US" dirty="0"/>
              <a:t>;</a:t>
            </a:r>
          </a:p>
          <a:p>
            <a:endParaRPr lang="en-US" dirty="0"/>
          </a:p>
        </p:txBody>
      </p:sp>
    </p:spTree>
    <p:extLst>
      <p:ext uri="{BB962C8B-B14F-4D97-AF65-F5344CB8AC3E}">
        <p14:creationId xmlns:p14="http://schemas.microsoft.com/office/powerpoint/2010/main" val="23944736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60B0E-8062-038C-D041-86DEF5FDE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92535-D5BE-8F6C-4C57-9972FFD1FA57}"/>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AF049B53-57D6-25E8-89BB-D4208F048E74}"/>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550230A3-77E8-183C-9BEB-44B8C3F0443E}"/>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92948B68-BF49-86A1-52EF-8EC908D50373}"/>
              </a:ext>
            </a:extLst>
          </p:cNvPr>
          <p:cNvSpPr>
            <a:spLocks noGrp="1"/>
          </p:cNvSpPr>
          <p:nvPr>
            <p:ph type="sldNum" sz="quarter" idx="12"/>
          </p:nvPr>
        </p:nvSpPr>
        <p:spPr/>
        <p:txBody>
          <a:bodyPr/>
          <a:lstStyle/>
          <a:p>
            <a:fld id="{F6C56E59-C124-411E-B3E7-95D014FC7158}" type="slidenum">
              <a:rPr lang="en-US" smtClean="0"/>
              <a:pPr/>
              <a:t>66</a:t>
            </a:fld>
            <a:endParaRPr lang="en-US"/>
          </a:p>
        </p:txBody>
      </p:sp>
      <p:sp>
        <p:nvSpPr>
          <p:cNvPr id="6" name="TextBox 5">
            <a:extLst>
              <a:ext uri="{FF2B5EF4-FFF2-40B4-BE49-F238E27FC236}">
                <a16:creationId xmlns:a16="http://schemas.microsoft.com/office/drawing/2014/main" id="{322D0C2F-5D06-C09C-125E-ED9F636D6527}"/>
              </a:ext>
            </a:extLst>
          </p:cNvPr>
          <p:cNvSpPr txBox="1"/>
          <p:nvPr/>
        </p:nvSpPr>
        <p:spPr>
          <a:xfrm>
            <a:off x="2617807" y="2413337"/>
            <a:ext cx="6956386" cy="2585323"/>
          </a:xfrm>
          <a:prstGeom prst="rect">
            <a:avLst/>
          </a:prstGeom>
          <a:noFill/>
        </p:spPr>
        <p:txBody>
          <a:bodyPr wrap="square" rtlCol="0">
            <a:spAutoFit/>
          </a:bodyPr>
          <a:lstStyle/>
          <a:p>
            <a:r>
              <a:rPr lang="en-US" b="1" dirty="0"/>
              <a:t>Task 2: Count Players Per Team</a:t>
            </a:r>
          </a:p>
          <a:p>
            <a:r>
              <a:rPr lang="en-US" dirty="0"/>
              <a:t>Now modify your query to show how many players each team has. Include teams with zero players.</a:t>
            </a:r>
          </a:p>
          <a:p>
            <a:endParaRPr lang="en-US" dirty="0"/>
          </a:p>
          <a:p>
            <a:r>
              <a:rPr lang="en-US" dirty="0"/>
              <a:t>Show:</a:t>
            </a:r>
          </a:p>
          <a:p>
            <a:r>
              <a:rPr lang="en-US" dirty="0"/>
              <a:t>	Team name</a:t>
            </a:r>
          </a:p>
          <a:p>
            <a:r>
              <a:rPr lang="en-US" dirty="0"/>
              <a:t>	Player count</a:t>
            </a:r>
          </a:p>
          <a:p>
            <a:endParaRPr lang="en-US" dirty="0"/>
          </a:p>
          <a:p>
            <a:r>
              <a:rPr lang="en-US" b="1" dirty="0"/>
              <a:t>Hint: Use LEFT JOIN with GROUP BY and COUNT()</a:t>
            </a:r>
          </a:p>
        </p:txBody>
      </p:sp>
    </p:spTree>
    <p:extLst>
      <p:ext uri="{BB962C8B-B14F-4D97-AF65-F5344CB8AC3E}">
        <p14:creationId xmlns:p14="http://schemas.microsoft.com/office/powerpoint/2010/main" val="23292609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5142-DB46-279F-A17B-65DC744FA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2D23C-2EE4-5D91-D0A4-6F8E7782F887}"/>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C0D15E34-0DCC-4687-765B-A0594E7EDE2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6626150-486A-5403-0A92-1E2BC5DFE90E}"/>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CE138857-9E52-45B6-0ADE-2EEB7F3CDFFC}"/>
              </a:ext>
            </a:extLst>
          </p:cNvPr>
          <p:cNvSpPr>
            <a:spLocks noGrp="1"/>
          </p:cNvSpPr>
          <p:nvPr>
            <p:ph type="sldNum" sz="quarter" idx="12"/>
          </p:nvPr>
        </p:nvSpPr>
        <p:spPr/>
        <p:txBody>
          <a:bodyPr/>
          <a:lstStyle/>
          <a:p>
            <a:fld id="{F6C56E59-C124-411E-B3E7-95D014FC7158}" type="slidenum">
              <a:rPr lang="en-US" smtClean="0"/>
              <a:pPr/>
              <a:t>67</a:t>
            </a:fld>
            <a:endParaRPr lang="en-US"/>
          </a:p>
        </p:txBody>
      </p:sp>
      <p:sp>
        <p:nvSpPr>
          <p:cNvPr id="7" name="TextBox 6">
            <a:extLst>
              <a:ext uri="{FF2B5EF4-FFF2-40B4-BE49-F238E27FC236}">
                <a16:creationId xmlns:a16="http://schemas.microsoft.com/office/drawing/2014/main" id="{DEB41791-3051-3B34-804B-EED57BD96A8D}"/>
              </a:ext>
            </a:extLst>
          </p:cNvPr>
          <p:cNvSpPr txBox="1"/>
          <p:nvPr/>
        </p:nvSpPr>
        <p:spPr>
          <a:xfrm>
            <a:off x="3525254" y="1989818"/>
            <a:ext cx="4523874" cy="2862322"/>
          </a:xfrm>
          <a:prstGeom prst="rect">
            <a:avLst/>
          </a:prstGeom>
          <a:noFill/>
        </p:spPr>
        <p:txBody>
          <a:bodyPr wrap="square" rtlCol="0">
            <a:spAutoFit/>
          </a:bodyPr>
          <a:lstStyle/>
          <a:p>
            <a:r>
              <a:rPr lang="en-US" b="1" dirty="0"/>
              <a:t>ANSWER</a:t>
            </a:r>
          </a:p>
          <a:p>
            <a:endParaRPr lang="en-US" dirty="0"/>
          </a:p>
          <a:p>
            <a:r>
              <a:rPr lang="en-US" dirty="0"/>
              <a:t>-- </a:t>
            </a:r>
            <a:r>
              <a:rPr lang="en-US" b="1" dirty="0"/>
              <a:t>Task 2:</a:t>
            </a:r>
            <a:r>
              <a:rPr lang="en-US" dirty="0"/>
              <a:t> Count Players Per Team</a:t>
            </a:r>
          </a:p>
          <a:p>
            <a:r>
              <a:rPr lang="en-US" dirty="0"/>
              <a:t>SELECT </a:t>
            </a:r>
            <a:r>
              <a:rPr lang="en-US" dirty="0" err="1"/>
              <a:t>t.Name</a:t>
            </a:r>
            <a:r>
              <a:rPr lang="en-US" dirty="0"/>
              <a:t> AS </a:t>
            </a:r>
            <a:r>
              <a:rPr lang="en-US" dirty="0" err="1"/>
              <a:t>TeamName</a:t>
            </a:r>
            <a:r>
              <a:rPr lang="en-US" dirty="0"/>
              <a:t>,</a:t>
            </a:r>
          </a:p>
          <a:p>
            <a:r>
              <a:rPr lang="en-US" dirty="0"/>
              <a:t>                 COUNT(</a:t>
            </a:r>
            <a:r>
              <a:rPr lang="en-US" dirty="0" err="1"/>
              <a:t>p.Id</a:t>
            </a:r>
            <a:r>
              <a:rPr lang="en-US" dirty="0"/>
              <a:t>) AS </a:t>
            </a:r>
            <a:r>
              <a:rPr lang="en-US" dirty="0" err="1"/>
              <a:t>PlayerCount</a:t>
            </a:r>
            <a:endParaRPr lang="en-US" dirty="0"/>
          </a:p>
          <a:p>
            <a:r>
              <a:rPr lang="en-US" dirty="0"/>
              <a:t>FROM </a:t>
            </a:r>
            <a:r>
              <a:rPr lang="en-US" dirty="0" err="1"/>
              <a:t>dbo.Team</a:t>
            </a:r>
            <a:r>
              <a:rPr lang="en-US" dirty="0"/>
              <a:t> t</a:t>
            </a:r>
          </a:p>
          <a:p>
            <a:r>
              <a:rPr lang="en-US" dirty="0"/>
              <a:t>LEFT JOIN </a:t>
            </a:r>
            <a:r>
              <a:rPr lang="en-US" dirty="0" err="1"/>
              <a:t>dbo.Player</a:t>
            </a:r>
            <a:r>
              <a:rPr lang="en-US" dirty="0"/>
              <a:t> p ON </a:t>
            </a:r>
            <a:r>
              <a:rPr lang="en-US" dirty="0" err="1"/>
              <a:t>t.Id</a:t>
            </a:r>
            <a:r>
              <a:rPr lang="en-US" dirty="0"/>
              <a:t> = </a:t>
            </a:r>
            <a:r>
              <a:rPr lang="en-US" dirty="0" err="1"/>
              <a:t>p.TeamId</a:t>
            </a:r>
            <a:endParaRPr lang="en-US" dirty="0"/>
          </a:p>
          <a:p>
            <a:r>
              <a:rPr lang="en-US" dirty="0"/>
              <a:t>GROUP BY </a:t>
            </a:r>
            <a:r>
              <a:rPr lang="en-US" dirty="0" err="1"/>
              <a:t>t.Name</a:t>
            </a:r>
            <a:endParaRPr lang="en-US" dirty="0"/>
          </a:p>
          <a:p>
            <a:r>
              <a:rPr lang="en-US" dirty="0"/>
              <a:t>ORDER BY </a:t>
            </a:r>
            <a:r>
              <a:rPr lang="en-US" dirty="0" err="1"/>
              <a:t>PlayerCount</a:t>
            </a:r>
            <a:r>
              <a:rPr lang="en-US" dirty="0"/>
              <a:t> DESC, </a:t>
            </a:r>
            <a:r>
              <a:rPr lang="en-US" dirty="0" err="1"/>
              <a:t>t.Name</a:t>
            </a:r>
            <a:r>
              <a:rPr lang="en-US" dirty="0"/>
              <a:t>;</a:t>
            </a:r>
          </a:p>
          <a:p>
            <a:endParaRPr lang="en-US" dirty="0"/>
          </a:p>
        </p:txBody>
      </p:sp>
    </p:spTree>
    <p:extLst>
      <p:ext uri="{BB962C8B-B14F-4D97-AF65-F5344CB8AC3E}">
        <p14:creationId xmlns:p14="http://schemas.microsoft.com/office/powerpoint/2010/main" val="41525677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F9350-F30C-F90B-F585-3EDA75146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80EB1-A91A-24EA-CC28-702EBDBF3962}"/>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C9E41DB1-4531-3C08-ABC9-2B5910D18A1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0EB724D7-8512-0C8D-661A-5406AA4C62DB}"/>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FAD9385B-1C6B-C3EC-9BA5-6463ED6CD54A}"/>
              </a:ext>
            </a:extLst>
          </p:cNvPr>
          <p:cNvSpPr>
            <a:spLocks noGrp="1"/>
          </p:cNvSpPr>
          <p:nvPr>
            <p:ph type="sldNum" sz="quarter" idx="12"/>
          </p:nvPr>
        </p:nvSpPr>
        <p:spPr/>
        <p:txBody>
          <a:bodyPr/>
          <a:lstStyle/>
          <a:p>
            <a:fld id="{F6C56E59-C124-411E-B3E7-95D014FC7158}" type="slidenum">
              <a:rPr lang="en-US" smtClean="0"/>
              <a:pPr/>
              <a:t>68</a:t>
            </a:fld>
            <a:endParaRPr lang="en-US"/>
          </a:p>
        </p:txBody>
      </p:sp>
      <p:sp>
        <p:nvSpPr>
          <p:cNvPr id="6" name="TextBox 5">
            <a:extLst>
              <a:ext uri="{FF2B5EF4-FFF2-40B4-BE49-F238E27FC236}">
                <a16:creationId xmlns:a16="http://schemas.microsoft.com/office/drawing/2014/main" id="{5EF38764-A8A6-5FD6-2F4B-88B5FA1FA9F3}"/>
              </a:ext>
            </a:extLst>
          </p:cNvPr>
          <p:cNvSpPr txBox="1"/>
          <p:nvPr/>
        </p:nvSpPr>
        <p:spPr>
          <a:xfrm>
            <a:off x="2007140" y="2162526"/>
            <a:ext cx="8734963" cy="2031325"/>
          </a:xfrm>
          <a:prstGeom prst="rect">
            <a:avLst/>
          </a:prstGeom>
          <a:noFill/>
        </p:spPr>
        <p:txBody>
          <a:bodyPr wrap="square" rtlCol="0">
            <a:spAutoFit/>
          </a:bodyPr>
          <a:lstStyle/>
          <a:p>
            <a:r>
              <a:rPr lang="en-US" b="1" dirty="0"/>
              <a:t>Task 3: Find Teams Without Players</a:t>
            </a:r>
          </a:p>
          <a:p>
            <a:r>
              <a:rPr lang="en-US" dirty="0"/>
              <a:t>Write a query to find teams that don't have ANY players assigned yet.</a:t>
            </a:r>
          </a:p>
          <a:p>
            <a:r>
              <a:rPr lang="en-US" dirty="0"/>
              <a:t>Show:</a:t>
            </a:r>
          </a:p>
          <a:p>
            <a:r>
              <a:rPr lang="en-US" dirty="0"/>
              <a:t>Team name</a:t>
            </a:r>
          </a:p>
          <a:p>
            <a:r>
              <a:rPr lang="en-US" dirty="0"/>
              <a:t>Team city</a:t>
            </a:r>
          </a:p>
          <a:p>
            <a:r>
              <a:rPr lang="en-US" dirty="0"/>
              <a:t>Coach name</a:t>
            </a:r>
          </a:p>
          <a:p>
            <a:r>
              <a:rPr lang="en-US" b="1" dirty="0"/>
              <a:t>Hint: After the LEFT JOIN, use WHERE to check if the player ID is NULL</a:t>
            </a:r>
          </a:p>
        </p:txBody>
      </p:sp>
    </p:spTree>
    <p:extLst>
      <p:ext uri="{BB962C8B-B14F-4D97-AF65-F5344CB8AC3E}">
        <p14:creationId xmlns:p14="http://schemas.microsoft.com/office/powerpoint/2010/main" val="37494207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75E3-710E-447D-B67D-219B56A51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27C26-6970-85F8-AB3A-6202585A0F42}"/>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8228AA32-BA49-08BE-3218-64AC8D8FD51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AA601AB-7849-EB9F-9308-E7262A73FEEC}"/>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1F74AD6C-EC8D-03B3-94C7-3A2F9816EDFB}"/>
              </a:ext>
            </a:extLst>
          </p:cNvPr>
          <p:cNvSpPr>
            <a:spLocks noGrp="1"/>
          </p:cNvSpPr>
          <p:nvPr>
            <p:ph type="sldNum" sz="quarter" idx="12"/>
          </p:nvPr>
        </p:nvSpPr>
        <p:spPr/>
        <p:txBody>
          <a:bodyPr/>
          <a:lstStyle/>
          <a:p>
            <a:fld id="{F6C56E59-C124-411E-B3E7-95D014FC7158}" type="slidenum">
              <a:rPr lang="en-US" smtClean="0"/>
              <a:pPr/>
              <a:t>69</a:t>
            </a:fld>
            <a:endParaRPr lang="en-US"/>
          </a:p>
        </p:txBody>
      </p:sp>
      <p:sp>
        <p:nvSpPr>
          <p:cNvPr id="7" name="TextBox 6">
            <a:extLst>
              <a:ext uri="{FF2B5EF4-FFF2-40B4-BE49-F238E27FC236}">
                <a16:creationId xmlns:a16="http://schemas.microsoft.com/office/drawing/2014/main" id="{0E740BBC-319A-FE4D-EFDC-4FD8811FBD25}"/>
              </a:ext>
            </a:extLst>
          </p:cNvPr>
          <p:cNvSpPr txBox="1"/>
          <p:nvPr/>
        </p:nvSpPr>
        <p:spPr>
          <a:xfrm>
            <a:off x="3525254" y="1989818"/>
            <a:ext cx="4523874" cy="3139321"/>
          </a:xfrm>
          <a:prstGeom prst="rect">
            <a:avLst/>
          </a:prstGeom>
          <a:noFill/>
        </p:spPr>
        <p:txBody>
          <a:bodyPr wrap="square" rtlCol="0">
            <a:spAutoFit/>
          </a:bodyPr>
          <a:lstStyle/>
          <a:p>
            <a:r>
              <a:rPr lang="en-US" b="1" dirty="0"/>
              <a:t>ANSWER</a:t>
            </a:r>
          </a:p>
          <a:p>
            <a:endParaRPr lang="en-US" dirty="0"/>
          </a:p>
          <a:p>
            <a:r>
              <a:rPr lang="en-US" dirty="0"/>
              <a:t>-- </a:t>
            </a:r>
            <a:r>
              <a:rPr lang="en-US" b="1" dirty="0"/>
              <a:t>Task 3: </a:t>
            </a:r>
            <a:r>
              <a:rPr lang="en-US" dirty="0"/>
              <a:t>Find Teams Without Players</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t.CoachName</a:t>
            </a:r>
            <a:endParaRPr lang="en-US" dirty="0"/>
          </a:p>
          <a:p>
            <a:r>
              <a:rPr lang="en-US" dirty="0"/>
              <a:t>FROM </a:t>
            </a:r>
            <a:r>
              <a:rPr lang="en-US" dirty="0" err="1"/>
              <a:t>dbo.Team</a:t>
            </a:r>
            <a:r>
              <a:rPr lang="en-US" dirty="0"/>
              <a:t> t</a:t>
            </a:r>
          </a:p>
          <a:p>
            <a:r>
              <a:rPr lang="en-US" dirty="0"/>
              <a:t>LEFT JOIN </a:t>
            </a:r>
            <a:r>
              <a:rPr lang="en-US" dirty="0" err="1"/>
              <a:t>dbo.Player</a:t>
            </a:r>
            <a:r>
              <a:rPr lang="en-US" dirty="0"/>
              <a:t> p ON </a:t>
            </a:r>
            <a:r>
              <a:rPr lang="en-US" dirty="0" err="1"/>
              <a:t>t.Id</a:t>
            </a:r>
            <a:r>
              <a:rPr lang="en-US" dirty="0"/>
              <a:t> = </a:t>
            </a:r>
            <a:r>
              <a:rPr lang="en-US" dirty="0" err="1"/>
              <a:t>p.TeamId</a:t>
            </a:r>
            <a:endParaRPr lang="en-US" dirty="0"/>
          </a:p>
          <a:p>
            <a:r>
              <a:rPr lang="en-US" dirty="0"/>
              <a:t>WHERE </a:t>
            </a:r>
            <a:r>
              <a:rPr lang="en-US" dirty="0" err="1"/>
              <a:t>p.Id</a:t>
            </a:r>
            <a:r>
              <a:rPr lang="en-US" dirty="0"/>
              <a:t> IS NULL</a:t>
            </a:r>
          </a:p>
          <a:p>
            <a:r>
              <a:rPr lang="en-US" dirty="0"/>
              <a:t>ORDER BY </a:t>
            </a:r>
            <a:r>
              <a:rPr lang="en-US" dirty="0" err="1"/>
              <a:t>t.Name</a:t>
            </a:r>
            <a:r>
              <a:rPr lang="en-US" dirty="0"/>
              <a:t>;</a:t>
            </a:r>
          </a:p>
          <a:p>
            <a:endParaRPr lang="en-US" dirty="0"/>
          </a:p>
        </p:txBody>
      </p:sp>
    </p:spTree>
    <p:extLst>
      <p:ext uri="{BB962C8B-B14F-4D97-AF65-F5344CB8AC3E}">
        <p14:creationId xmlns:p14="http://schemas.microsoft.com/office/powerpoint/2010/main" val="3271342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FFA4E-5242-3F7F-B1C3-7FB94048E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FD7E3-FEA2-6034-D59D-021A13C465DC}"/>
              </a:ext>
            </a:extLst>
          </p:cNvPr>
          <p:cNvSpPr>
            <a:spLocks noGrp="1"/>
          </p:cNvSpPr>
          <p:nvPr>
            <p:ph type="title"/>
          </p:nvPr>
        </p:nvSpPr>
        <p:spPr/>
        <p:txBody>
          <a:bodyPr>
            <a:normAutofit fontScale="90000"/>
          </a:bodyPr>
          <a:lstStyle/>
          <a:p>
            <a:r>
              <a:rPr lang="en-US" dirty="0"/>
              <a:t>RIGHT [OUTER] JOIN</a:t>
            </a:r>
          </a:p>
        </p:txBody>
      </p:sp>
      <p:sp>
        <p:nvSpPr>
          <p:cNvPr id="3" name="Content Placeholder 2">
            <a:extLst>
              <a:ext uri="{FF2B5EF4-FFF2-40B4-BE49-F238E27FC236}">
                <a16:creationId xmlns:a16="http://schemas.microsoft.com/office/drawing/2014/main" id="{A7110273-2102-B2D2-2E34-3586D9E4B327}"/>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1023D354-76C0-26BC-F4F1-378984BA50C2}"/>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1600B58F-435B-CD7A-D6FD-D86F8AE9C27A}"/>
              </a:ext>
            </a:extLst>
          </p:cNvPr>
          <p:cNvSpPr>
            <a:spLocks noGrp="1"/>
          </p:cNvSpPr>
          <p:nvPr>
            <p:ph type="sldNum" sz="quarter" idx="12"/>
          </p:nvPr>
        </p:nvSpPr>
        <p:spPr/>
        <p:txBody>
          <a:bodyPr/>
          <a:lstStyle/>
          <a:p>
            <a:fld id="{F6C56E59-C124-411E-B3E7-95D014FC7158}" type="slidenum">
              <a:rPr lang="en-US" smtClean="0"/>
              <a:pPr/>
              <a:t>70</a:t>
            </a:fld>
            <a:endParaRPr lang="en-US"/>
          </a:p>
        </p:txBody>
      </p:sp>
      <p:sp>
        <p:nvSpPr>
          <p:cNvPr id="6" name="TextBox 5">
            <a:extLst>
              <a:ext uri="{FF2B5EF4-FFF2-40B4-BE49-F238E27FC236}">
                <a16:creationId xmlns:a16="http://schemas.microsoft.com/office/drawing/2014/main" id="{7F3696BC-CF42-7677-F4F3-A1A6B119BCD9}"/>
              </a:ext>
            </a:extLst>
          </p:cNvPr>
          <p:cNvSpPr txBox="1"/>
          <p:nvPr/>
        </p:nvSpPr>
        <p:spPr>
          <a:xfrm>
            <a:off x="1353243" y="1448894"/>
            <a:ext cx="8262120" cy="1200329"/>
          </a:xfrm>
          <a:prstGeom prst="rect">
            <a:avLst/>
          </a:prstGeom>
          <a:noFill/>
        </p:spPr>
        <p:txBody>
          <a:bodyPr wrap="square" rtlCol="0">
            <a:spAutoFit/>
          </a:bodyPr>
          <a:lstStyle/>
          <a:p>
            <a:r>
              <a:rPr lang="en-US" b="1" dirty="0">
                <a:effectLst/>
              </a:rPr>
              <a:t>RIGHT JOIN</a:t>
            </a:r>
            <a:r>
              <a:rPr lang="en-US" dirty="0">
                <a:effectLst/>
              </a:rPr>
              <a:t>s</a:t>
            </a:r>
            <a:r>
              <a:rPr lang="en-US" b="1" dirty="0">
                <a:effectLst/>
              </a:rPr>
              <a:t> </a:t>
            </a:r>
            <a:r>
              <a:rPr lang="en-US" dirty="0">
                <a:effectLst/>
              </a:rPr>
              <a:t>are seldom, if ever,</a:t>
            </a:r>
            <a:r>
              <a:rPr lang="en-US" dirty="0"/>
              <a:t> used.  They return all rows from the non-base table and those rows from the base table that match fields in the ON clause.</a:t>
            </a:r>
          </a:p>
          <a:p>
            <a:endParaRPr lang="en-US" dirty="0">
              <a:effectLst/>
            </a:endParaRPr>
          </a:p>
          <a:p>
            <a:endParaRPr lang="en-US" dirty="0">
              <a:effectLst/>
            </a:endParaRPr>
          </a:p>
        </p:txBody>
      </p:sp>
      <p:sp>
        <p:nvSpPr>
          <p:cNvPr id="10" name="TextBox 9">
            <a:extLst>
              <a:ext uri="{FF2B5EF4-FFF2-40B4-BE49-F238E27FC236}">
                <a16:creationId xmlns:a16="http://schemas.microsoft.com/office/drawing/2014/main" id="{818819AB-2039-7A6E-17CA-3277D34DE166}"/>
              </a:ext>
            </a:extLst>
          </p:cNvPr>
          <p:cNvSpPr txBox="1"/>
          <p:nvPr/>
        </p:nvSpPr>
        <p:spPr>
          <a:xfrm>
            <a:off x="6208295" y="2546784"/>
            <a:ext cx="5510463" cy="2862322"/>
          </a:xfrm>
          <a:prstGeom prst="rect">
            <a:avLst/>
          </a:prstGeom>
          <a:noFill/>
        </p:spPr>
        <p:txBody>
          <a:bodyPr wrap="square" rtlCol="0">
            <a:spAutoFit/>
          </a:bodyPr>
          <a:lstStyle/>
          <a:p>
            <a:r>
              <a:rPr lang="en-US" dirty="0"/>
              <a:t>-- returns all teams and their players as well as teams without players</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t.ChampionshipCount</a:t>
            </a:r>
            <a:endParaRPr lang="en-US" dirty="0"/>
          </a:p>
          <a:p>
            <a:r>
              <a:rPr lang="en-US" dirty="0"/>
              <a:t>FROM </a:t>
            </a:r>
            <a:r>
              <a:rPr lang="en-US" dirty="0" err="1"/>
              <a:t>dbo.Team</a:t>
            </a:r>
            <a:r>
              <a:rPr lang="en-US" dirty="0"/>
              <a:t> t</a:t>
            </a:r>
          </a:p>
          <a:p>
            <a:r>
              <a:rPr lang="en-US" b="1" dirty="0"/>
              <a:t>RIGHT JOIN</a:t>
            </a:r>
            <a:r>
              <a:rPr lang="en-US" dirty="0"/>
              <a:t> </a:t>
            </a:r>
            <a:r>
              <a:rPr lang="en-US" dirty="0" err="1"/>
              <a:t>dbo.Player</a:t>
            </a:r>
            <a:r>
              <a:rPr lang="en-US" dirty="0"/>
              <a:t> p ON </a:t>
            </a:r>
            <a:r>
              <a:rPr lang="en-US" dirty="0" err="1"/>
              <a:t>t.Id</a:t>
            </a:r>
            <a:r>
              <a:rPr lang="en-US" dirty="0"/>
              <a:t> = </a:t>
            </a:r>
            <a:r>
              <a:rPr lang="en-US" dirty="0" err="1"/>
              <a:t>p.TeamId</a:t>
            </a:r>
            <a:endParaRPr lang="en-US" dirty="0"/>
          </a:p>
          <a:p>
            <a:r>
              <a:rPr lang="en-US" dirty="0"/>
              <a:t>ORDER BY </a:t>
            </a:r>
            <a:r>
              <a:rPr lang="en-US" dirty="0" err="1"/>
              <a:t>t.Name</a:t>
            </a:r>
            <a:r>
              <a:rPr lang="en-US" dirty="0"/>
              <a:t>, </a:t>
            </a:r>
            <a:r>
              <a:rPr lang="en-US" dirty="0" err="1"/>
              <a:t>p.LastName</a:t>
            </a:r>
            <a:r>
              <a:rPr lang="en-US" dirty="0"/>
              <a:t>;</a:t>
            </a:r>
          </a:p>
        </p:txBody>
      </p:sp>
      <p:pic>
        <p:nvPicPr>
          <p:cNvPr id="8" name="Picture 7">
            <a:extLst>
              <a:ext uri="{FF2B5EF4-FFF2-40B4-BE49-F238E27FC236}">
                <a16:creationId xmlns:a16="http://schemas.microsoft.com/office/drawing/2014/main" id="{DFC70511-2A9A-0452-EDFE-806F5120244E}"/>
              </a:ext>
            </a:extLst>
          </p:cNvPr>
          <p:cNvPicPr>
            <a:picLocks noChangeAspect="1"/>
          </p:cNvPicPr>
          <p:nvPr/>
        </p:nvPicPr>
        <p:blipFill>
          <a:blip r:embed="rId2"/>
          <a:stretch>
            <a:fillRect/>
          </a:stretch>
        </p:blipFill>
        <p:spPr>
          <a:xfrm>
            <a:off x="473242" y="2546784"/>
            <a:ext cx="5231141" cy="2862322"/>
          </a:xfrm>
          <a:prstGeom prst="rect">
            <a:avLst/>
          </a:prstGeom>
        </p:spPr>
      </p:pic>
    </p:spTree>
    <p:extLst>
      <p:ext uri="{BB962C8B-B14F-4D97-AF65-F5344CB8AC3E}">
        <p14:creationId xmlns:p14="http://schemas.microsoft.com/office/powerpoint/2010/main" val="2648760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5CFBE-54F1-1423-B83C-E156AD462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82F4C-B1EC-A69E-22E7-237A7ED84479}"/>
              </a:ext>
            </a:extLst>
          </p:cNvPr>
          <p:cNvSpPr>
            <a:spLocks noGrp="1"/>
          </p:cNvSpPr>
          <p:nvPr>
            <p:ph type="title"/>
          </p:nvPr>
        </p:nvSpPr>
        <p:spPr/>
        <p:txBody>
          <a:bodyPr>
            <a:normAutofit fontScale="90000"/>
          </a:bodyPr>
          <a:lstStyle/>
          <a:p>
            <a:r>
              <a:rPr lang="en-US" dirty="0"/>
              <a:t>FULL [OUTER] JOIN</a:t>
            </a:r>
          </a:p>
        </p:txBody>
      </p:sp>
      <p:sp>
        <p:nvSpPr>
          <p:cNvPr id="3" name="Content Placeholder 2">
            <a:extLst>
              <a:ext uri="{FF2B5EF4-FFF2-40B4-BE49-F238E27FC236}">
                <a16:creationId xmlns:a16="http://schemas.microsoft.com/office/drawing/2014/main" id="{DF99E448-FD34-CD40-D36F-0914324A9461}"/>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3CF3CB3F-6BE3-079E-98B2-0D3539DA3177}"/>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1F0FE43E-E9EF-171F-EB1E-528AB5E4AD6F}"/>
              </a:ext>
            </a:extLst>
          </p:cNvPr>
          <p:cNvSpPr>
            <a:spLocks noGrp="1"/>
          </p:cNvSpPr>
          <p:nvPr>
            <p:ph type="sldNum" sz="quarter" idx="12"/>
          </p:nvPr>
        </p:nvSpPr>
        <p:spPr/>
        <p:txBody>
          <a:bodyPr/>
          <a:lstStyle/>
          <a:p>
            <a:fld id="{F6C56E59-C124-411E-B3E7-95D014FC7158}" type="slidenum">
              <a:rPr lang="en-US" smtClean="0"/>
              <a:pPr/>
              <a:t>71</a:t>
            </a:fld>
            <a:endParaRPr lang="en-US"/>
          </a:p>
        </p:txBody>
      </p:sp>
      <p:sp>
        <p:nvSpPr>
          <p:cNvPr id="6" name="TextBox 5">
            <a:extLst>
              <a:ext uri="{FF2B5EF4-FFF2-40B4-BE49-F238E27FC236}">
                <a16:creationId xmlns:a16="http://schemas.microsoft.com/office/drawing/2014/main" id="{562B55E0-E0C0-7201-E81B-BB4C893A7F6A}"/>
              </a:ext>
            </a:extLst>
          </p:cNvPr>
          <p:cNvSpPr txBox="1"/>
          <p:nvPr/>
        </p:nvSpPr>
        <p:spPr>
          <a:xfrm>
            <a:off x="1353243" y="1448894"/>
            <a:ext cx="8262120" cy="646331"/>
          </a:xfrm>
          <a:prstGeom prst="rect">
            <a:avLst/>
          </a:prstGeom>
          <a:noFill/>
        </p:spPr>
        <p:txBody>
          <a:bodyPr wrap="square" rtlCol="0">
            <a:spAutoFit/>
          </a:bodyPr>
          <a:lstStyle/>
          <a:p>
            <a:r>
              <a:rPr lang="en-US" b="1" dirty="0">
                <a:effectLst/>
              </a:rPr>
              <a:t>FULL JOIN</a:t>
            </a:r>
            <a:r>
              <a:rPr lang="en-US" dirty="0">
                <a:effectLst/>
              </a:rPr>
              <a:t>s</a:t>
            </a:r>
            <a:r>
              <a:rPr lang="en-US" b="1" dirty="0">
                <a:effectLst/>
              </a:rPr>
              <a:t> </a:t>
            </a:r>
            <a:r>
              <a:rPr lang="en-US" dirty="0">
                <a:effectLst/>
              </a:rPr>
              <a:t>are seldom, if ever,</a:t>
            </a:r>
            <a:r>
              <a:rPr lang="en-US" dirty="0"/>
              <a:t> used.  They return all rows from the base table and all rows from the non-base table where the rows match in the ON clause or not.</a:t>
            </a:r>
          </a:p>
        </p:txBody>
      </p:sp>
      <p:sp>
        <p:nvSpPr>
          <p:cNvPr id="10" name="TextBox 9">
            <a:extLst>
              <a:ext uri="{FF2B5EF4-FFF2-40B4-BE49-F238E27FC236}">
                <a16:creationId xmlns:a16="http://schemas.microsoft.com/office/drawing/2014/main" id="{F7238CB5-9AAF-CBA9-BE19-A4D6C326380E}"/>
              </a:ext>
            </a:extLst>
          </p:cNvPr>
          <p:cNvSpPr txBox="1"/>
          <p:nvPr/>
        </p:nvSpPr>
        <p:spPr>
          <a:xfrm>
            <a:off x="6208295" y="2546784"/>
            <a:ext cx="5510463" cy="2862322"/>
          </a:xfrm>
          <a:prstGeom prst="rect">
            <a:avLst/>
          </a:prstGeom>
          <a:noFill/>
        </p:spPr>
        <p:txBody>
          <a:bodyPr wrap="square" rtlCol="0">
            <a:spAutoFit/>
          </a:bodyPr>
          <a:lstStyle/>
          <a:p>
            <a:r>
              <a:rPr lang="en-US" dirty="0"/>
              <a:t>-- returns all teams and their players as well as teams without players</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t.ChampionshipCount</a:t>
            </a:r>
            <a:endParaRPr lang="en-US" dirty="0"/>
          </a:p>
          <a:p>
            <a:r>
              <a:rPr lang="en-US" dirty="0"/>
              <a:t>FROM </a:t>
            </a:r>
            <a:r>
              <a:rPr lang="en-US" dirty="0" err="1"/>
              <a:t>dbo.Team</a:t>
            </a:r>
            <a:r>
              <a:rPr lang="en-US" dirty="0"/>
              <a:t> t</a:t>
            </a:r>
          </a:p>
          <a:p>
            <a:r>
              <a:rPr lang="en-US" b="1" dirty="0"/>
              <a:t>FULL JOIN</a:t>
            </a:r>
            <a:r>
              <a:rPr lang="en-US" dirty="0"/>
              <a:t> </a:t>
            </a:r>
            <a:r>
              <a:rPr lang="en-US" dirty="0" err="1"/>
              <a:t>dbo.Player</a:t>
            </a:r>
            <a:r>
              <a:rPr lang="en-US" dirty="0"/>
              <a:t> p ON </a:t>
            </a:r>
            <a:r>
              <a:rPr lang="en-US" dirty="0" err="1"/>
              <a:t>t.Id</a:t>
            </a:r>
            <a:r>
              <a:rPr lang="en-US" dirty="0"/>
              <a:t> = </a:t>
            </a:r>
            <a:r>
              <a:rPr lang="en-US" dirty="0" err="1"/>
              <a:t>p.TeamId</a:t>
            </a:r>
            <a:endParaRPr lang="en-US" dirty="0"/>
          </a:p>
          <a:p>
            <a:r>
              <a:rPr lang="en-US" dirty="0"/>
              <a:t>ORDER BY </a:t>
            </a:r>
            <a:r>
              <a:rPr lang="en-US" dirty="0" err="1"/>
              <a:t>t.Name</a:t>
            </a:r>
            <a:r>
              <a:rPr lang="en-US" dirty="0"/>
              <a:t>, </a:t>
            </a:r>
            <a:r>
              <a:rPr lang="en-US" dirty="0" err="1"/>
              <a:t>p.LastName</a:t>
            </a:r>
            <a:r>
              <a:rPr lang="en-US" dirty="0"/>
              <a:t>;</a:t>
            </a:r>
          </a:p>
        </p:txBody>
      </p:sp>
      <p:pic>
        <p:nvPicPr>
          <p:cNvPr id="8" name="Picture 7">
            <a:extLst>
              <a:ext uri="{FF2B5EF4-FFF2-40B4-BE49-F238E27FC236}">
                <a16:creationId xmlns:a16="http://schemas.microsoft.com/office/drawing/2014/main" id="{15B4EF20-12A1-2AB8-5E4C-D74DC0152ABA}"/>
              </a:ext>
            </a:extLst>
          </p:cNvPr>
          <p:cNvPicPr>
            <a:picLocks noChangeAspect="1"/>
          </p:cNvPicPr>
          <p:nvPr/>
        </p:nvPicPr>
        <p:blipFill>
          <a:blip r:embed="rId2"/>
          <a:stretch>
            <a:fillRect/>
          </a:stretch>
        </p:blipFill>
        <p:spPr>
          <a:xfrm>
            <a:off x="473242" y="2546784"/>
            <a:ext cx="5231141" cy="2862322"/>
          </a:xfrm>
          <a:prstGeom prst="rect">
            <a:avLst/>
          </a:prstGeom>
        </p:spPr>
      </p:pic>
    </p:spTree>
    <p:extLst>
      <p:ext uri="{BB962C8B-B14F-4D97-AF65-F5344CB8AC3E}">
        <p14:creationId xmlns:p14="http://schemas.microsoft.com/office/powerpoint/2010/main" val="1068190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CB81D-1D4A-3FFD-B79C-51250CA07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B8B17-3A6E-78A4-C697-AEEE09C55E32}"/>
              </a:ext>
            </a:extLst>
          </p:cNvPr>
          <p:cNvSpPr>
            <a:spLocks noGrp="1"/>
          </p:cNvSpPr>
          <p:nvPr>
            <p:ph type="title"/>
          </p:nvPr>
        </p:nvSpPr>
        <p:spPr/>
        <p:txBody>
          <a:bodyPr>
            <a:normAutofit fontScale="90000"/>
          </a:bodyPr>
          <a:lstStyle/>
          <a:p>
            <a:r>
              <a:rPr lang="en-US" dirty="0"/>
              <a:t>CROSS JOIN</a:t>
            </a:r>
          </a:p>
        </p:txBody>
      </p:sp>
      <p:sp>
        <p:nvSpPr>
          <p:cNvPr id="3" name="Content Placeholder 2">
            <a:extLst>
              <a:ext uri="{FF2B5EF4-FFF2-40B4-BE49-F238E27FC236}">
                <a16:creationId xmlns:a16="http://schemas.microsoft.com/office/drawing/2014/main" id="{4B625479-E99D-9DFC-28C9-A669CF15087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FF63CE1-49E2-B860-569B-5E0CE9E873EC}"/>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D71C4208-2C93-71E0-5BB5-902157DEC01A}"/>
              </a:ext>
            </a:extLst>
          </p:cNvPr>
          <p:cNvSpPr>
            <a:spLocks noGrp="1"/>
          </p:cNvSpPr>
          <p:nvPr>
            <p:ph type="sldNum" sz="quarter" idx="12"/>
          </p:nvPr>
        </p:nvSpPr>
        <p:spPr/>
        <p:txBody>
          <a:bodyPr/>
          <a:lstStyle/>
          <a:p>
            <a:fld id="{F6C56E59-C124-411E-B3E7-95D014FC7158}" type="slidenum">
              <a:rPr lang="en-US" smtClean="0"/>
              <a:pPr/>
              <a:t>72</a:t>
            </a:fld>
            <a:endParaRPr lang="en-US"/>
          </a:p>
        </p:txBody>
      </p:sp>
      <p:sp>
        <p:nvSpPr>
          <p:cNvPr id="6" name="TextBox 5">
            <a:extLst>
              <a:ext uri="{FF2B5EF4-FFF2-40B4-BE49-F238E27FC236}">
                <a16:creationId xmlns:a16="http://schemas.microsoft.com/office/drawing/2014/main" id="{9C46D5A9-86CF-5C50-CDB2-5DB79116CCC1}"/>
              </a:ext>
            </a:extLst>
          </p:cNvPr>
          <p:cNvSpPr txBox="1"/>
          <p:nvPr/>
        </p:nvSpPr>
        <p:spPr>
          <a:xfrm>
            <a:off x="1166863" y="1665463"/>
            <a:ext cx="3988778" cy="3139321"/>
          </a:xfrm>
          <a:prstGeom prst="rect">
            <a:avLst/>
          </a:prstGeom>
          <a:noFill/>
        </p:spPr>
        <p:txBody>
          <a:bodyPr wrap="square" rtlCol="0">
            <a:spAutoFit/>
          </a:bodyPr>
          <a:lstStyle/>
          <a:p>
            <a:r>
              <a:rPr lang="en-US" b="1" dirty="0">
                <a:effectLst/>
              </a:rPr>
              <a:t>CROSS JOIN</a:t>
            </a:r>
            <a:r>
              <a:rPr lang="en-US" dirty="0">
                <a:effectLst/>
              </a:rPr>
              <a:t>s</a:t>
            </a:r>
            <a:r>
              <a:rPr lang="en-US" b="1" dirty="0">
                <a:effectLst/>
              </a:rPr>
              <a:t> </a:t>
            </a:r>
            <a:r>
              <a:rPr lang="en-US" dirty="0">
                <a:effectLst/>
              </a:rPr>
              <a:t>are seldom, if ever,</a:t>
            </a:r>
            <a:r>
              <a:rPr lang="en-US" dirty="0"/>
              <a:t> used.  Their main use case is for creating seed test data.  They return every combination of base table and non-base tables irrespective rows matching or not.</a:t>
            </a:r>
          </a:p>
          <a:p>
            <a:endParaRPr lang="en-US" dirty="0"/>
          </a:p>
          <a:p>
            <a:r>
              <a:rPr lang="en-US" dirty="0"/>
              <a:t>Assume two tables in question are being cross joined and they both have 100 roes, the resulting output will have 10,000 rows. </a:t>
            </a:r>
          </a:p>
        </p:txBody>
      </p:sp>
      <p:sp>
        <p:nvSpPr>
          <p:cNvPr id="10" name="TextBox 9">
            <a:extLst>
              <a:ext uri="{FF2B5EF4-FFF2-40B4-BE49-F238E27FC236}">
                <a16:creationId xmlns:a16="http://schemas.microsoft.com/office/drawing/2014/main" id="{E7677DE2-C356-E5C6-DF29-F4ED104DAA74}"/>
              </a:ext>
            </a:extLst>
          </p:cNvPr>
          <p:cNvSpPr txBox="1"/>
          <p:nvPr/>
        </p:nvSpPr>
        <p:spPr>
          <a:xfrm>
            <a:off x="6102991" y="1665463"/>
            <a:ext cx="5510463" cy="2862322"/>
          </a:xfrm>
          <a:prstGeom prst="rect">
            <a:avLst/>
          </a:prstGeom>
          <a:noFill/>
        </p:spPr>
        <p:txBody>
          <a:bodyPr wrap="square" rtlCol="0">
            <a:spAutoFit/>
          </a:bodyPr>
          <a:lstStyle/>
          <a:p>
            <a:r>
              <a:rPr lang="en-US" dirty="0"/>
              <a:t>-- returns all teams and their players as well as teams without players</a:t>
            </a:r>
          </a:p>
          <a:p>
            <a:r>
              <a:rPr lang="en-US" dirty="0"/>
              <a:t>SELECT </a:t>
            </a:r>
            <a:r>
              <a:rPr lang="en-US" dirty="0" err="1"/>
              <a:t>t.Name</a:t>
            </a:r>
            <a:r>
              <a:rPr lang="en-US" dirty="0"/>
              <a:t> AS </a:t>
            </a:r>
            <a:r>
              <a:rPr lang="en-US" dirty="0" err="1"/>
              <a:t>TeamName</a:t>
            </a:r>
            <a:r>
              <a:rPr lang="en-US" dirty="0"/>
              <a:t>,</a:t>
            </a:r>
          </a:p>
          <a:p>
            <a:r>
              <a:rPr lang="en-US" dirty="0"/>
              <a:t>                 </a:t>
            </a:r>
            <a:r>
              <a:rPr lang="en-US" dirty="0" err="1"/>
              <a:t>t.City</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t.ChampionshipCount</a:t>
            </a:r>
            <a:endParaRPr lang="en-US" dirty="0"/>
          </a:p>
          <a:p>
            <a:r>
              <a:rPr lang="en-US" dirty="0"/>
              <a:t>FROM </a:t>
            </a:r>
            <a:r>
              <a:rPr lang="en-US" dirty="0" err="1"/>
              <a:t>dbo.Team</a:t>
            </a:r>
            <a:r>
              <a:rPr lang="en-US" dirty="0"/>
              <a:t> t</a:t>
            </a:r>
          </a:p>
          <a:p>
            <a:r>
              <a:rPr lang="en-US" b="1" dirty="0"/>
              <a:t>CROSS JOIN</a:t>
            </a:r>
            <a:r>
              <a:rPr lang="en-US" dirty="0"/>
              <a:t> </a:t>
            </a:r>
            <a:r>
              <a:rPr lang="en-US" dirty="0" err="1"/>
              <a:t>dbo.Player</a:t>
            </a:r>
            <a:r>
              <a:rPr lang="en-US" dirty="0"/>
              <a:t> p</a:t>
            </a:r>
          </a:p>
          <a:p>
            <a:r>
              <a:rPr lang="en-US" dirty="0"/>
              <a:t>ORDER BY </a:t>
            </a:r>
            <a:r>
              <a:rPr lang="en-US" dirty="0" err="1"/>
              <a:t>t.Name</a:t>
            </a:r>
            <a:r>
              <a:rPr lang="en-US" dirty="0"/>
              <a:t>, </a:t>
            </a:r>
            <a:r>
              <a:rPr lang="en-US" dirty="0" err="1"/>
              <a:t>p.LastName</a:t>
            </a:r>
            <a:r>
              <a:rPr lang="en-US" dirty="0"/>
              <a:t>;</a:t>
            </a:r>
          </a:p>
        </p:txBody>
      </p:sp>
    </p:spTree>
    <p:extLst>
      <p:ext uri="{BB962C8B-B14F-4D97-AF65-F5344CB8AC3E}">
        <p14:creationId xmlns:p14="http://schemas.microsoft.com/office/powerpoint/2010/main" val="1220902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CDF3-D4F6-67DA-1D84-486491A26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9C001-57A3-2D55-8634-E5D50DD98EE6}"/>
              </a:ext>
            </a:extLst>
          </p:cNvPr>
          <p:cNvSpPr>
            <a:spLocks noGrp="1"/>
          </p:cNvSpPr>
          <p:nvPr>
            <p:ph type="title"/>
          </p:nvPr>
        </p:nvSpPr>
        <p:spPr/>
        <p:txBody>
          <a:bodyPr>
            <a:normAutofit fontScale="90000"/>
          </a:bodyPr>
          <a:lstStyle/>
          <a:p>
            <a:r>
              <a:rPr lang="en-US" dirty="0"/>
              <a:t>UNIONs</a:t>
            </a:r>
          </a:p>
        </p:txBody>
      </p:sp>
      <p:sp>
        <p:nvSpPr>
          <p:cNvPr id="3" name="Content Placeholder 2">
            <a:extLst>
              <a:ext uri="{FF2B5EF4-FFF2-40B4-BE49-F238E27FC236}">
                <a16:creationId xmlns:a16="http://schemas.microsoft.com/office/drawing/2014/main" id="{4E3A4EF7-CDC0-0CA2-41F7-9DB1AB9FEF8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690FC0E9-CA2F-DA64-DDA1-2C89FAD6DC5C}"/>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430579E4-9721-41C1-74AB-8E5A36D1894B}"/>
              </a:ext>
            </a:extLst>
          </p:cNvPr>
          <p:cNvSpPr>
            <a:spLocks noGrp="1"/>
          </p:cNvSpPr>
          <p:nvPr>
            <p:ph type="sldNum" sz="quarter" idx="12"/>
          </p:nvPr>
        </p:nvSpPr>
        <p:spPr/>
        <p:txBody>
          <a:bodyPr/>
          <a:lstStyle/>
          <a:p>
            <a:fld id="{F6C56E59-C124-411E-B3E7-95D014FC7158}" type="slidenum">
              <a:rPr lang="en-US" smtClean="0"/>
              <a:pPr/>
              <a:t>73</a:t>
            </a:fld>
            <a:endParaRPr lang="en-US"/>
          </a:p>
        </p:txBody>
      </p:sp>
      <p:sp>
        <p:nvSpPr>
          <p:cNvPr id="6" name="TextBox 5">
            <a:extLst>
              <a:ext uri="{FF2B5EF4-FFF2-40B4-BE49-F238E27FC236}">
                <a16:creationId xmlns:a16="http://schemas.microsoft.com/office/drawing/2014/main" id="{071CB179-8940-F728-24E5-DBE1DBDC5AE7}"/>
              </a:ext>
            </a:extLst>
          </p:cNvPr>
          <p:cNvSpPr txBox="1"/>
          <p:nvPr/>
        </p:nvSpPr>
        <p:spPr>
          <a:xfrm>
            <a:off x="1166863" y="1665463"/>
            <a:ext cx="3988778" cy="2862322"/>
          </a:xfrm>
          <a:prstGeom prst="rect">
            <a:avLst/>
          </a:prstGeom>
          <a:noFill/>
        </p:spPr>
        <p:txBody>
          <a:bodyPr wrap="square" rtlCol="0">
            <a:spAutoFit/>
          </a:bodyPr>
          <a:lstStyle/>
          <a:p>
            <a:r>
              <a:rPr lang="en-US" dirty="0"/>
              <a:t>A </a:t>
            </a:r>
            <a:r>
              <a:rPr lang="en-US" b="1" dirty="0"/>
              <a:t>UNION</a:t>
            </a:r>
            <a:r>
              <a:rPr lang="en-US" dirty="0"/>
              <a:t> query combines rows from two or more result sets.</a:t>
            </a:r>
          </a:p>
          <a:p>
            <a:endParaRPr lang="en-US" dirty="0"/>
          </a:p>
          <a:p>
            <a:r>
              <a:rPr lang="en-US" dirty="0"/>
              <a:t>For this to work, each SELECT statement must have the same number of columns with the same data type.</a:t>
            </a:r>
          </a:p>
          <a:p>
            <a:endParaRPr lang="en-US" dirty="0"/>
          </a:p>
          <a:p>
            <a:r>
              <a:rPr lang="en-US" dirty="0"/>
              <a:t>By default, duplicates will be removed unless you use “</a:t>
            </a:r>
            <a:r>
              <a:rPr lang="en-US" b="1" dirty="0"/>
              <a:t>UNION ALL</a:t>
            </a:r>
            <a:r>
              <a:rPr lang="en-US" dirty="0"/>
              <a:t>”</a:t>
            </a:r>
          </a:p>
        </p:txBody>
      </p:sp>
      <p:sp>
        <p:nvSpPr>
          <p:cNvPr id="10" name="TextBox 9">
            <a:extLst>
              <a:ext uri="{FF2B5EF4-FFF2-40B4-BE49-F238E27FC236}">
                <a16:creationId xmlns:a16="http://schemas.microsoft.com/office/drawing/2014/main" id="{5991EFD2-67D1-9455-4B67-426E7A9DB8A7}"/>
              </a:ext>
            </a:extLst>
          </p:cNvPr>
          <p:cNvSpPr txBox="1"/>
          <p:nvPr/>
        </p:nvSpPr>
        <p:spPr>
          <a:xfrm>
            <a:off x="6102991" y="1665463"/>
            <a:ext cx="5510463" cy="2308324"/>
          </a:xfrm>
          <a:prstGeom prst="rect">
            <a:avLst/>
          </a:prstGeom>
          <a:noFill/>
        </p:spPr>
        <p:txBody>
          <a:bodyPr wrap="square" rtlCol="0">
            <a:spAutoFit/>
          </a:bodyPr>
          <a:lstStyle/>
          <a:p>
            <a:r>
              <a:rPr lang="en-US" dirty="0"/>
              <a:t>-- Get unique list of all cities from both teams and stadiums</a:t>
            </a:r>
          </a:p>
          <a:p>
            <a:r>
              <a:rPr lang="en-US" dirty="0"/>
              <a:t>SELECT DISTINCT City, 'Team' AS Source</a:t>
            </a:r>
          </a:p>
          <a:p>
            <a:r>
              <a:rPr lang="en-US" dirty="0"/>
              <a:t>FROM </a:t>
            </a:r>
            <a:r>
              <a:rPr lang="en-US" dirty="0" err="1"/>
              <a:t>dbo.Team</a:t>
            </a:r>
            <a:endParaRPr lang="en-US" dirty="0"/>
          </a:p>
          <a:p>
            <a:r>
              <a:rPr lang="en-US" b="1" dirty="0"/>
              <a:t>UNION</a:t>
            </a:r>
            <a:endParaRPr lang="en-US" dirty="0"/>
          </a:p>
          <a:p>
            <a:r>
              <a:rPr lang="en-US" dirty="0"/>
              <a:t>SELECT DISTINCT City, 'Stadium' AS Source</a:t>
            </a:r>
          </a:p>
          <a:p>
            <a:r>
              <a:rPr lang="en-US" dirty="0"/>
              <a:t>FROM </a:t>
            </a:r>
            <a:r>
              <a:rPr lang="en-US" dirty="0" err="1"/>
              <a:t>dbo.Stadium</a:t>
            </a:r>
            <a:endParaRPr lang="en-US" dirty="0"/>
          </a:p>
          <a:p>
            <a:r>
              <a:rPr lang="en-US" dirty="0"/>
              <a:t>ORDER BY City;</a:t>
            </a:r>
          </a:p>
        </p:txBody>
      </p:sp>
    </p:spTree>
    <p:extLst>
      <p:ext uri="{BB962C8B-B14F-4D97-AF65-F5344CB8AC3E}">
        <p14:creationId xmlns:p14="http://schemas.microsoft.com/office/powerpoint/2010/main" val="29685042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08C96-0A35-4282-81F5-E38472925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CD009-C847-5572-F14F-CCFDC0DCD806}"/>
              </a:ext>
            </a:extLst>
          </p:cNvPr>
          <p:cNvSpPr>
            <a:spLocks noGrp="1"/>
          </p:cNvSpPr>
          <p:nvPr>
            <p:ph type="title"/>
          </p:nvPr>
        </p:nvSpPr>
        <p:spPr/>
        <p:txBody>
          <a:bodyPr>
            <a:normAutofit fontScale="90000"/>
          </a:bodyPr>
          <a:lstStyle/>
          <a:p>
            <a:r>
              <a:rPr lang="en-US" dirty="0"/>
              <a:t>EXCEPT and INERSECT</a:t>
            </a:r>
          </a:p>
        </p:txBody>
      </p:sp>
      <p:sp>
        <p:nvSpPr>
          <p:cNvPr id="3" name="Content Placeholder 2">
            <a:extLst>
              <a:ext uri="{FF2B5EF4-FFF2-40B4-BE49-F238E27FC236}">
                <a16:creationId xmlns:a16="http://schemas.microsoft.com/office/drawing/2014/main" id="{0DD99509-6D85-B178-FB7F-EF1340E1CC7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BE7C82E-5BCC-378D-4489-9A7BA677589C}"/>
              </a:ext>
            </a:extLst>
          </p:cNvPr>
          <p:cNvSpPr>
            <a:spLocks noGrp="1"/>
          </p:cNvSpPr>
          <p:nvPr>
            <p:ph type="dt" sz="half" idx="10"/>
          </p:nvPr>
        </p:nvSpPr>
        <p:spPr/>
        <p:txBody>
          <a:bodyPr/>
          <a:lstStyle/>
          <a:p>
            <a:fld id="{77CA23B6-146D-4CC0-B8BF-2383AD3B5353}" type="datetime1">
              <a:rPr lang="en-US" smtClean="0"/>
              <a:t>1/12/2026</a:t>
            </a:fld>
            <a:endParaRPr lang="en-US"/>
          </a:p>
        </p:txBody>
      </p:sp>
      <p:sp>
        <p:nvSpPr>
          <p:cNvPr id="5" name="Slide Number Placeholder 4">
            <a:extLst>
              <a:ext uri="{FF2B5EF4-FFF2-40B4-BE49-F238E27FC236}">
                <a16:creationId xmlns:a16="http://schemas.microsoft.com/office/drawing/2014/main" id="{FA3146CA-DEB6-7D79-BACB-337FD4BC3488}"/>
              </a:ext>
            </a:extLst>
          </p:cNvPr>
          <p:cNvSpPr>
            <a:spLocks noGrp="1"/>
          </p:cNvSpPr>
          <p:nvPr>
            <p:ph type="sldNum" sz="quarter" idx="12"/>
          </p:nvPr>
        </p:nvSpPr>
        <p:spPr/>
        <p:txBody>
          <a:bodyPr/>
          <a:lstStyle/>
          <a:p>
            <a:fld id="{F6C56E59-C124-411E-B3E7-95D014FC7158}" type="slidenum">
              <a:rPr lang="en-US" smtClean="0"/>
              <a:pPr/>
              <a:t>74</a:t>
            </a:fld>
            <a:endParaRPr lang="en-US"/>
          </a:p>
        </p:txBody>
      </p:sp>
      <p:sp>
        <p:nvSpPr>
          <p:cNvPr id="6" name="TextBox 5">
            <a:extLst>
              <a:ext uri="{FF2B5EF4-FFF2-40B4-BE49-F238E27FC236}">
                <a16:creationId xmlns:a16="http://schemas.microsoft.com/office/drawing/2014/main" id="{6E084094-5A65-585B-A5E0-BC64F632D4C4}"/>
              </a:ext>
            </a:extLst>
          </p:cNvPr>
          <p:cNvSpPr txBox="1"/>
          <p:nvPr/>
        </p:nvSpPr>
        <p:spPr>
          <a:xfrm>
            <a:off x="578545" y="1536322"/>
            <a:ext cx="4577095" cy="1754326"/>
          </a:xfrm>
          <a:prstGeom prst="rect">
            <a:avLst/>
          </a:prstGeom>
          <a:noFill/>
        </p:spPr>
        <p:txBody>
          <a:bodyPr wrap="square" rtlCol="0">
            <a:spAutoFit/>
          </a:bodyPr>
          <a:lstStyle/>
          <a:p>
            <a:r>
              <a:rPr lang="en-US" b="1" dirty="0"/>
              <a:t>EXCEPT</a:t>
            </a:r>
            <a:r>
              <a:rPr lang="en-US" dirty="0"/>
              <a:t> - Returns rows from the first query that are NOT in the second query (set difference)</a:t>
            </a:r>
          </a:p>
          <a:p>
            <a:endParaRPr lang="en-US" dirty="0"/>
          </a:p>
          <a:p>
            <a:r>
              <a:rPr lang="en-US" b="1" dirty="0"/>
              <a:t>INTERSECT</a:t>
            </a:r>
            <a:r>
              <a:rPr lang="en-US" dirty="0"/>
              <a:t> - Returns only rows that appear in BOTH queries (set intersection)</a:t>
            </a:r>
          </a:p>
        </p:txBody>
      </p:sp>
      <p:sp>
        <p:nvSpPr>
          <p:cNvPr id="10" name="TextBox 9">
            <a:extLst>
              <a:ext uri="{FF2B5EF4-FFF2-40B4-BE49-F238E27FC236}">
                <a16:creationId xmlns:a16="http://schemas.microsoft.com/office/drawing/2014/main" id="{18A4288A-0511-10D5-06F9-91F183818BC2}"/>
              </a:ext>
            </a:extLst>
          </p:cNvPr>
          <p:cNvSpPr txBox="1"/>
          <p:nvPr/>
        </p:nvSpPr>
        <p:spPr>
          <a:xfrm>
            <a:off x="5812328" y="1536322"/>
            <a:ext cx="5510463" cy="4247317"/>
          </a:xfrm>
          <a:prstGeom prst="rect">
            <a:avLst/>
          </a:prstGeom>
          <a:noFill/>
        </p:spPr>
        <p:txBody>
          <a:bodyPr wrap="square" rtlCol="0">
            <a:spAutoFit/>
          </a:bodyPr>
          <a:lstStyle/>
          <a:p>
            <a:r>
              <a:rPr lang="en-US" dirty="0"/>
              <a:t>-- Teams that have NEVER played a home match</a:t>
            </a:r>
          </a:p>
          <a:p>
            <a:r>
              <a:rPr lang="en-US" dirty="0"/>
              <a:t>SELECT Id FROM </a:t>
            </a:r>
            <a:r>
              <a:rPr lang="en-US" dirty="0" err="1"/>
              <a:t>dbo.Team</a:t>
            </a:r>
            <a:endParaRPr lang="en-US" dirty="0"/>
          </a:p>
          <a:p>
            <a:r>
              <a:rPr lang="en-US" b="1" dirty="0"/>
              <a:t>EXCEPT</a:t>
            </a:r>
          </a:p>
          <a:p>
            <a:r>
              <a:rPr lang="en-US" dirty="0"/>
              <a:t>SELECT DISTINCT </a:t>
            </a:r>
            <a:r>
              <a:rPr lang="en-US" dirty="0" err="1"/>
              <a:t>HomeTeamId</a:t>
            </a:r>
            <a:r>
              <a:rPr lang="en-US" dirty="0"/>
              <a:t> FROM </a:t>
            </a:r>
            <a:r>
              <a:rPr lang="en-US" dirty="0" err="1"/>
              <a:t>dbo.Match</a:t>
            </a:r>
            <a:r>
              <a:rPr lang="en-US" dirty="0"/>
              <a:t>;</a:t>
            </a:r>
          </a:p>
          <a:p>
            <a:endParaRPr lang="en-US" dirty="0"/>
          </a:p>
          <a:p>
            <a:r>
              <a:rPr lang="en-US" dirty="0"/>
              <a:t>-- Teams That Have Players AND Have Played Matches</a:t>
            </a:r>
          </a:p>
          <a:p>
            <a:r>
              <a:rPr lang="en-US" dirty="0"/>
              <a:t>--</a:t>
            </a:r>
          </a:p>
          <a:p>
            <a:r>
              <a:rPr lang="en-US" dirty="0"/>
              <a:t>-- Teams with at least one player</a:t>
            </a:r>
          </a:p>
          <a:p>
            <a:r>
              <a:rPr lang="en-US" dirty="0"/>
              <a:t>SELECT DISTINCT </a:t>
            </a:r>
            <a:r>
              <a:rPr lang="en-US" dirty="0" err="1"/>
              <a:t>TeamId</a:t>
            </a:r>
            <a:endParaRPr lang="en-US" dirty="0"/>
          </a:p>
          <a:p>
            <a:r>
              <a:rPr lang="en-US" dirty="0"/>
              <a:t>FROM </a:t>
            </a:r>
            <a:r>
              <a:rPr lang="en-US" dirty="0" err="1"/>
              <a:t>dbo.Player</a:t>
            </a:r>
            <a:endParaRPr lang="en-US" dirty="0"/>
          </a:p>
          <a:p>
            <a:r>
              <a:rPr lang="en-US" dirty="0"/>
              <a:t>WHERE </a:t>
            </a:r>
            <a:r>
              <a:rPr lang="en-US" dirty="0" err="1"/>
              <a:t>IsActive</a:t>
            </a:r>
            <a:r>
              <a:rPr lang="en-US" dirty="0"/>
              <a:t> = 1</a:t>
            </a:r>
          </a:p>
          <a:p>
            <a:r>
              <a:rPr lang="en-US" b="1" dirty="0"/>
              <a:t>INTERSECT</a:t>
            </a:r>
          </a:p>
          <a:p>
            <a:r>
              <a:rPr lang="en-US" dirty="0"/>
              <a:t>-- Teams that have played matches</a:t>
            </a:r>
          </a:p>
          <a:p>
            <a:r>
              <a:rPr lang="en-US" dirty="0"/>
              <a:t>SELECT DISTINCT </a:t>
            </a:r>
            <a:r>
              <a:rPr lang="en-US" dirty="0" err="1"/>
              <a:t>HomeTeamId</a:t>
            </a:r>
            <a:endParaRPr lang="en-US" dirty="0"/>
          </a:p>
          <a:p>
            <a:r>
              <a:rPr lang="en-US" dirty="0"/>
              <a:t>FROM </a:t>
            </a:r>
            <a:r>
              <a:rPr lang="en-US" dirty="0" err="1"/>
              <a:t>dbo.Match</a:t>
            </a:r>
            <a:endParaRPr lang="en-US" dirty="0"/>
          </a:p>
        </p:txBody>
      </p:sp>
    </p:spTree>
    <p:extLst>
      <p:ext uri="{BB962C8B-B14F-4D97-AF65-F5344CB8AC3E}">
        <p14:creationId xmlns:p14="http://schemas.microsoft.com/office/powerpoint/2010/main" val="33617476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A8A1-8790-65AF-2B73-B9B769DB9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25FE8-EA0F-E6B7-2C4E-43B236890CB8}"/>
              </a:ext>
            </a:extLst>
          </p:cNvPr>
          <p:cNvSpPr>
            <a:spLocks noGrp="1"/>
          </p:cNvSpPr>
          <p:nvPr>
            <p:ph type="title"/>
          </p:nvPr>
        </p:nvSpPr>
        <p:spPr/>
        <p:txBody>
          <a:bodyPr/>
          <a:lstStyle/>
          <a:p>
            <a:r>
              <a:rPr lang="en-US" dirty="0"/>
              <a:t>Summary Queries</a:t>
            </a:r>
          </a:p>
        </p:txBody>
      </p:sp>
      <p:sp>
        <p:nvSpPr>
          <p:cNvPr id="3" name="Text Placeholder 2">
            <a:extLst>
              <a:ext uri="{FF2B5EF4-FFF2-40B4-BE49-F238E27FC236}">
                <a16:creationId xmlns:a16="http://schemas.microsoft.com/office/drawing/2014/main" id="{F36D013A-1EB9-72C7-C8E5-AD223C0681E7}"/>
              </a:ext>
            </a:extLst>
          </p:cNvPr>
          <p:cNvSpPr>
            <a:spLocks noGrp="1"/>
          </p:cNvSpPr>
          <p:nvPr>
            <p:ph type="body" idx="1"/>
          </p:nvPr>
        </p:nvSpPr>
        <p:spPr/>
        <p:txBody>
          <a:bodyPr/>
          <a:lstStyle/>
          <a:p>
            <a:r>
              <a:rPr lang="en-US" dirty="0"/>
              <a:t>COUNT, AVG, SUM oh my!</a:t>
            </a:r>
          </a:p>
        </p:txBody>
      </p:sp>
      <p:sp>
        <p:nvSpPr>
          <p:cNvPr id="4" name="Date Placeholder 3">
            <a:extLst>
              <a:ext uri="{FF2B5EF4-FFF2-40B4-BE49-F238E27FC236}">
                <a16:creationId xmlns:a16="http://schemas.microsoft.com/office/drawing/2014/main" id="{CDF9DF35-7EEB-2430-3177-EFB0BFAFF5F9}"/>
              </a:ext>
            </a:extLst>
          </p:cNvPr>
          <p:cNvSpPr>
            <a:spLocks noGrp="1"/>
          </p:cNvSpPr>
          <p:nvPr>
            <p:ph type="dt" sz="half" idx="10"/>
          </p:nvPr>
        </p:nvSpPr>
        <p:spPr/>
        <p:txBody>
          <a:bodyPr/>
          <a:lstStyle/>
          <a:p>
            <a:fld id="{2913C182-2752-4C8A-971A-A0E34A11F99A}" type="datetime1">
              <a:rPr lang="en-US" smtClean="0"/>
              <a:t>1/14/2026</a:t>
            </a:fld>
            <a:endParaRPr lang="en-US"/>
          </a:p>
        </p:txBody>
      </p:sp>
      <p:sp>
        <p:nvSpPr>
          <p:cNvPr id="5" name="Slide Number Placeholder 4">
            <a:extLst>
              <a:ext uri="{FF2B5EF4-FFF2-40B4-BE49-F238E27FC236}">
                <a16:creationId xmlns:a16="http://schemas.microsoft.com/office/drawing/2014/main" id="{4CA9E42B-9FF7-7C79-0A14-1A2363666ED7}"/>
              </a:ext>
            </a:extLst>
          </p:cNvPr>
          <p:cNvSpPr>
            <a:spLocks noGrp="1"/>
          </p:cNvSpPr>
          <p:nvPr>
            <p:ph type="sldNum" sz="quarter" idx="12"/>
          </p:nvPr>
        </p:nvSpPr>
        <p:spPr/>
        <p:txBody>
          <a:bodyPr/>
          <a:lstStyle/>
          <a:p>
            <a:fld id="{F6C56E59-C124-411E-B3E7-95D014FC7158}" type="slidenum">
              <a:rPr lang="en-US" smtClean="0"/>
              <a:pPr/>
              <a:t>75</a:t>
            </a:fld>
            <a:endParaRPr lang="en-US"/>
          </a:p>
        </p:txBody>
      </p:sp>
    </p:spTree>
    <p:extLst>
      <p:ext uri="{BB962C8B-B14F-4D97-AF65-F5344CB8AC3E}">
        <p14:creationId xmlns:p14="http://schemas.microsoft.com/office/powerpoint/2010/main" val="38826621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47DA-DB9E-192C-68ED-22DB32A78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AA322-D076-EB45-5A92-2979F54787C8}"/>
              </a:ext>
            </a:extLst>
          </p:cNvPr>
          <p:cNvSpPr>
            <a:spLocks noGrp="1"/>
          </p:cNvSpPr>
          <p:nvPr>
            <p:ph type="title"/>
          </p:nvPr>
        </p:nvSpPr>
        <p:spPr/>
        <p:txBody>
          <a:bodyPr>
            <a:normAutofit fontScale="90000"/>
          </a:bodyPr>
          <a:lstStyle/>
          <a:p>
            <a:r>
              <a:rPr lang="en-US" dirty="0"/>
              <a:t>Aggregate Functions - Keywords</a:t>
            </a:r>
          </a:p>
        </p:txBody>
      </p:sp>
      <p:sp>
        <p:nvSpPr>
          <p:cNvPr id="3" name="Content Placeholder 2">
            <a:extLst>
              <a:ext uri="{FF2B5EF4-FFF2-40B4-BE49-F238E27FC236}">
                <a16:creationId xmlns:a16="http://schemas.microsoft.com/office/drawing/2014/main" id="{49F29BA6-28A1-EA3A-2E1E-7B21F521F7A5}"/>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4D01DF9-66DD-81CC-DD9F-F1D7E4B97204}"/>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102DE01E-DC2F-4EB8-1529-D6F593AB2A4B}"/>
              </a:ext>
            </a:extLst>
          </p:cNvPr>
          <p:cNvSpPr>
            <a:spLocks noGrp="1"/>
          </p:cNvSpPr>
          <p:nvPr>
            <p:ph type="sldNum" sz="quarter" idx="12"/>
          </p:nvPr>
        </p:nvSpPr>
        <p:spPr/>
        <p:txBody>
          <a:bodyPr/>
          <a:lstStyle/>
          <a:p>
            <a:fld id="{F6C56E59-C124-411E-B3E7-95D014FC7158}" type="slidenum">
              <a:rPr lang="en-US" smtClean="0"/>
              <a:pPr/>
              <a:t>76</a:t>
            </a:fld>
            <a:endParaRPr lang="en-US"/>
          </a:p>
        </p:txBody>
      </p:sp>
      <p:sp>
        <p:nvSpPr>
          <p:cNvPr id="6" name="TextBox 5">
            <a:extLst>
              <a:ext uri="{FF2B5EF4-FFF2-40B4-BE49-F238E27FC236}">
                <a16:creationId xmlns:a16="http://schemas.microsoft.com/office/drawing/2014/main" id="{7245003E-BF1E-4003-BD61-6E8DB750D16D}"/>
              </a:ext>
            </a:extLst>
          </p:cNvPr>
          <p:cNvSpPr txBox="1"/>
          <p:nvPr/>
        </p:nvSpPr>
        <p:spPr>
          <a:xfrm>
            <a:off x="2372948" y="1890266"/>
            <a:ext cx="7446103" cy="3539430"/>
          </a:xfrm>
          <a:prstGeom prst="rect">
            <a:avLst/>
          </a:prstGeom>
          <a:noFill/>
        </p:spPr>
        <p:txBody>
          <a:bodyPr wrap="square" rtlCol="0">
            <a:spAutoFit/>
          </a:bodyPr>
          <a:lstStyle/>
          <a:p>
            <a:r>
              <a:rPr lang="en-US" sz="1600" b="1" dirty="0"/>
              <a:t>COUNT - </a:t>
            </a:r>
            <a:r>
              <a:rPr lang="en-US" sz="1600" dirty="0"/>
              <a:t>Returns the number of items in a group.</a:t>
            </a:r>
            <a:br>
              <a:rPr lang="en-US" sz="1600" dirty="0"/>
            </a:br>
            <a:br>
              <a:rPr lang="en-US" sz="1600" dirty="0"/>
            </a:br>
            <a:r>
              <a:rPr lang="en-US" sz="1600" b="1" dirty="0"/>
              <a:t>AVG - </a:t>
            </a:r>
            <a:r>
              <a:rPr lang="en-US" sz="1600" dirty="0"/>
              <a:t>Returns the average of numeric values (ignores NULLs).</a:t>
            </a:r>
          </a:p>
          <a:p>
            <a:endParaRPr lang="en-US" sz="1600" dirty="0"/>
          </a:p>
          <a:p>
            <a:r>
              <a:rPr lang="en-US" sz="1600" b="1" dirty="0"/>
              <a:t>MIN - </a:t>
            </a:r>
            <a:r>
              <a:rPr lang="en-US" sz="1600" dirty="0"/>
              <a:t>Returns the lowest value in a set.</a:t>
            </a:r>
          </a:p>
          <a:p>
            <a:endParaRPr lang="en-US" sz="1600" dirty="0"/>
          </a:p>
          <a:p>
            <a:r>
              <a:rPr lang="en-US" sz="1600" b="1" dirty="0"/>
              <a:t>MAX - </a:t>
            </a:r>
            <a:r>
              <a:rPr lang="en-US" sz="1600" dirty="0"/>
              <a:t>Returns the highest value in a set.</a:t>
            </a:r>
          </a:p>
          <a:p>
            <a:endParaRPr lang="en-US" sz="1600" dirty="0"/>
          </a:p>
          <a:p>
            <a:r>
              <a:rPr lang="en-US" sz="1600" b="1" dirty="0"/>
              <a:t>GROUP BY - </a:t>
            </a:r>
            <a:r>
              <a:rPr lang="en-US" sz="1600" dirty="0"/>
              <a:t>Combines rows that have the same values in specified columns into a single row, allowing you to apply aggregate functions to each group.</a:t>
            </a:r>
          </a:p>
          <a:p>
            <a:endParaRPr lang="en-US" sz="1600" dirty="0"/>
          </a:p>
          <a:p>
            <a:r>
              <a:rPr lang="en-US" sz="1600" b="1" dirty="0"/>
              <a:t>HAVING - Filters groups after aggregation</a:t>
            </a:r>
          </a:p>
          <a:p>
            <a:r>
              <a:rPr lang="en-US" sz="1600" dirty="0"/>
              <a:t>Filters the results of a GROUP BY query based on aggregate function results. It's like WHERE, but for grouped data.</a:t>
            </a:r>
          </a:p>
        </p:txBody>
      </p:sp>
    </p:spTree>
    <p:extLst>
      <p:ext uri="{BB962C8B-B14F-4D97-AF65-F5344CB8AC3E}">
        <p14:creationId xmlns:p14="http://schemas.microsoft.com/office/powerpoint/2010/main" val="91167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5CF8-F087-9EBD-A552-CF33F9145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568B7-802C-307A-A8B0-67C78985209C}"/>
              </a:ext>
            </a:extLst>
          </p:cNvPr>
          <p:cNvSpPr>
            <a:spLocks noGrp="1"/>
          </p:cNvSpPr>
          <p:nvPr>
            <p:ph type="title"/>
          </p:nvPr>
        </p:nvSpPr>
        <p:spPr/>
        <p:txBody>
          <a:bodyPr>
            <a:normAutofit fontScale="90000"/>
          </a:bodyPr>
          <a:lstStyle/>
          <a:p>
            <a:r>
              <a:rPr lang="en-US" dirty="0"/>
              <a:t>Aggregate Functions - Example</a:t>
            </a:r>
          </a:p>
        </p:txBody>
      </p:sp>
      <p:sp>
        <p:nvSpPr>
          <p:cNvPr id="3" name="Content Placeholder 2">
            <a:extLst>
              <a:ext uri="{FF2B5EF4-FFF2-40B4-BE49-F238E27FC236}">
                <a16:creationId xmlns:a16="http://schemas.microsoft.com/office/drawing/2014/main" id="{DC735E43-D6A5-D51B-3EA9-80709D83704A}"/>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A7B7004-4092-C3B4-91F3-C16A16E345BA}"/>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13A32548-5D77-3DBB-7318-5DBF03ED3573}"/>
              </a:ext>
            </a:extLst>
          </p:cNvPr>
          <p:cNvSpPr>
            <a:spLocks noGrp="1"/>
          </p:cNvSpPr>
          <p:nvPr>
            <p:ph type="sldNum" sz="quarter" idx="12"/>
          </p:nvPr>
        </p:nvSpPr>
        <p:spPr/>
        <p:txBody>
          <a:bodyPr/>
          <a:lstStyle/>
          <a:p>
            <a:fld id="{F6C56E59-C124-411E-B3E7-95D014FC7158}" type="slidenum">
              <a:rPr lang="en-US" smtClean="0"/>
              <a:pPr/>
              <a:t>77</a:t>
            </a:fld>
            <a:endParaRPr lang="en-US"/>
          </a:p>
        </p:txBody>
      </p:sp>
      <p:sp>
        <p:nvSpPr>
          <p:cNvPr id="7" name="TextBox 6">
            <a:extLst>
              <a:ext uri="{FF2B5EF4-FFF2-40B4-BE49-F238E27FC236}">
                <a16:creationId xmlns:a16="http://schemas.microsoft.com/office/drawing/2014/main" id="{63C469E9-CA8E-D111-DCAC-1DAF5216E40F}"/>
              </a:ext>
            </a:extLst>
          </p:cNvPr>
          <p:cNvSpPr txBox="1"/>
          <p:nvPr/>
        </p:nvSpPr>
        <p:spPr>
          <a:xfrm>
            <a:off x="2309990" y="1767155"/>
            <a:ext cx="7586001" cy="3785652"/>
          </a:xfrm>
          <a:prstGeom prst="rect">
            <a:avLst/>
          </a:prstGeom>
          <a:noFill/>
        </p:spPr>
        <p:txBody>
          <a:bodyPr wrap="square" rtlCol="0">
            <a:spAutoFit/>
          </a:bodyPr>
          <a:lstStyle/>
          <a:p>
            <a:r>
              <a:rPr lang="en-US" sz="1600" dirty="0"/>
              <a:t>-- Player Performance Summary by Position</a:t>
            </a:r>
          </a:p>
          <a:p>
            <a:r>
              <a:rPr lang="en-US" sz="1600" dirty="0"/>
              <a:t>SELECT </a:t>
            </a:r>
            <a:r>
              <a:rPr lang="en-US" sz="1600" dirty="0" err="1"/>
              <a:t>p.Position</a:t>
            </a:r>
            <a:r>
              <a:rPr lang="en-US" sz="1600" dirty="0"/>
              <a:t>,</a:t>
            </a:r>
          </a:p>
          <a:p>
            <a:r>
              <a:rPr lang="en-US" sz="1600" dirty="0"/>
              <a:t>                 </a:t>
            </a:r>
            <a:r>
              <a:rPr lang="en-US" sz="1600" b="1" dirty="0"/>
              <a:t>COUNT</a:t>
            </a:r>
            <a:r>
              <a:rPr lang="en-US" sz="1600" dirty="0"/>
              <a:t>(</a:t>
            </a:r>
            <a:r>
              <a:rPr lang="en-US" sz="1600" dirty="0" err="1"/>
              <a:t>p.Id</a:t>
            </a:r>
            <a:r>
              <a:rPr lang="en-US" sz="1600" dirty="0"/>
              <a:t>) AS </a:t>
            </a:r>
            <a:r>
              <a:rPr lang="en-US" sz="1600" dirty="0" err="1"/>
              <a:t>TotalPlayers</a:t>
            </a:r>
            <a:r>
              <a:rPr lang="en-US" sz="1600" dirty="0"/>
              <a:t>,                                                 -- Total count</a:t>
            </a:r>
          </a:p>
          <a:p>
            <a:r>
              <a:rPr lang="en-US" sz="1600" dirty="0"/>
              <a:t>                 </a:t>
            </a:r>
            <a:r>
              <a:rPr lang="en-US" sz="1600" b="1" dirty="0"/>
              <a:t>COUNT</a:t>
            </a:r>
            <a:r>
              <a:rPr lang="en-US" sz="1600" dirty="0"/>
              <a:t>(DISTINCT </a:t>
            </a:r>
            <a:r>
              <a:rPr lang="en-US" sz="1600" dirty="0" err="1"/>
              <a:t>p.TeamId</a:t>
            </a:r>
            <a:r>
              <a:rPr lang="en-US" sz="1600" dirty="0"/>
              <a:t>) AS </a:t>
            </a:r>
            <a:r>
              <a:rPr lang="en-US" sz="1600" dirty="0" err="1"/>
              <a:t>TeamsWithPosition</a:t>
            </a:r>
            <a:r>
              <a:rPr lang="en-US" sz="1600" dirty="0"/>
              <a:t>,  -- Distinct teams count</a:t>
            </a:r>
          </a:p>
          <a:p>
            <a:r>
              <a:rPr lang="en-US" sz="1600" dirty="0"/>
              <a:t>                 </a:t>
            </a:r>
            <a:r>
              <a:rPr lang="en-US" sz="1600" b="1" dirty="0"/>
              <a:t>AVG</a:t>
            </a:r>
            <a:r>
              <a:rPr lang="en-US" sz="1600" dirty="0"/>
              <a:t>(</a:t>
            </a:r>
            <a:r>
              <a:rPr lang="en-US" sz="1600" dirty="0" err="1"/>
              <a:t>pos.TotalPoints</a:t>
            </a:r>
            <a:r>
              <a:rPr lang="en-US" sz="1600" dirty="0"/>
              <a:t>) AS </a:t>
            </a:r>
            <a:r>
              <a:rPr lang="en-US" sz="1600" dirty="0" err="1"/>
              <a:t>AvgPoints</a:t>
            </a:r>
            <a:r>
              <a:rPr lang="en-US" sz="1600" dirty="0"/>
              <a:t>,</a:t>
            </a:r>
          </a:p>
          <a:p>
            <a:r>
              <a:rPr lang="en-US" sz="1600" dirty="0"/>
              <a:t>                 </a:t>
            </a:r>
            <a:r>
              <a:rPr lang="en-US" sz="1600" b="1" dirty="0"/>
              <a:t>MIN</a:t>
            </a:r>
            <a:r>
              <a:rPr lang="en-US" sz="1600" dirty="0"/>
              <a:t>(</a:t>
            </a:r>
            <a:r>
              <a:rPr lang="en-US" sz="1600" dirty="0" err="1"/>
              <a:t>pos.TotalPoints</a:t>
            </a:r>
            <a:r>
              <a:rPr lang="en-US" sz="1600" dirty="0"/>
              <a:t>) AS </a:t>
            </a:r>
            <a:r>
              <a:rPr lang="en-US" sz="1600" dirty="0" err="1"/>
              <a:t>MinPoints</a:t>
            </a:r>
            <a:r>
              <a:rPr lang="en-US" sz="1600" dirty="0"/>
              <a:t>,</a:t>
            </a:r>
          </a:p>
          <a:p>
            <a:r>
              <a:rPr lang="en-US" sz="1600" dirty="0"/>
              <a:t>                 </a:t>
            </a:r>
            <a:r>
              <a:rPr lang="en-US" sz="1600" b="1" dirty="0"/>
              <a:t>MAX</a:t>
            </a:r>
            <a:r>
              <a:rPr lang="en-US" sz="1600" dirty="0"/>
              <a:t>(</a:t>
            </a:r>
            <a:r>
              <a:rPr lang="en-US" sz="1600" dirty="0" err="1"/>
              <a:t>pos.TotalPoints</a:t>
            </a:r>
            <a:r>
              <a:rPr lang="en-US" sz="1600" dirty="0"/>
              <a:t>) AS </a:t>
            </a:r>
            <a:r>
              <a:rPr lang="en-US" sz="1600" dirty="0" err="1"/>
              <a:t>MaxPoints</a:t>
            </a:r>
            <a:r>
              <a:rPr lang="en-US" sz="1600" dirty="0"/>
              <a:t>, </a:t>
            </a:r>
          </a:p>
          <a:p>
            <a:r>
              <a:rPr lang="en-US" sz="1600" dirty="0"/>
              <a:t>                 </a:t>
            </a:r>
            <a:r>
              <a:rPr lang="en-US" sz="1600" b="1" dirty="0"/>
              <a:t>SUM</a:t>
            </a:r>
            <a:r>
              <a:rPr lang="en-US" sz="1600" dirty="0"/>
              <a:t>(</a:t>
            </a:r>
            <a:r>
              <a:rPr lang="en-US" sz="1600" dirty="0" err="1"/>
              <a:t>pos.GamesPlayed</a:t>
            </a:r>
            <a:r>
              <a:rPr lang="en-US" sz="1600" dirty="0"/>
              <a:t>) AS </a:t>
            </a:r>
            <a:r>
              <a:rPr lang="en-US" sz="1600" dirty="0" err="1"/>
              <a:t>TotalGamesAllPlayers</a:t>
            </a:r>
            <a:endParaRPr lang="en-US" sz="1600" dirty="0"/>
          </a:p>
          <a:p>
            <a:r>
              <a:rPr lang="en-US" sz="1600" dirty="0"/>
              <a:t>FROM </a:t>
            </a:r>
            <a:r>
              <a:rPr lang="en-US" sz="1600" dirty="0" err="1"/>
              <a:t>dbo.Player</a:t>
            </a:r>
            <a:r>
              <a:rPr lang="en-US" sz="1600" dirty="0"/>
              <a:t> p</a:t>
            </a:r>
          </a:p>
          <a:p>
            <a:r>
              <a:rPr lang="en-US" sz="1600" dirty="0"/>
              <a:t>INNER JOIN </a:t>
            </a:r>
            <a:r>
              <a:rPr lang="en-US" sz="1600" dirty="0" err="1"/>
              <a:t>dbo.PlayerOverallStatistics</a:t>
            </a:r>
            <a:r>
              <a:rPr lang="en-US" sz="1600" dirty="0"/>
              <a:t> pos ON </a:t>
            </a:r>
            <a:r>
              <a:rPr lang="en-US" sz="1600" dirty="0" err="1"/>
              <a:t>p.Id</a:t>
            </a:r>
            <a:r>
              <a:rPr lang="en-US" sz="1600" dirty="0"/>
              <a:t> = </a:t>
            </a:r>
            <a:r>
              <a:rPr lang="en-US" sz="1600" dirty="0" err="1"/>
              <a:t>pos.PlayerId</a:t>
            </a:r>
            <a:endParaRPr lang="en-US" sz="1600" dirty="0"/>
          </a:p>
          <a:p>
            <a:r>
              <a:rPr lang="en-US" sz="1600" dirty="0"/>
              <a:t>WHERE </a:t>
            </a:r>
            <a:r>
              <a:rPr lang="en-US" sz="1600" dirty="0" err="1"/>
              <a:t>p.IsActive</a:t>
            </a:r>
            <a:r>
              <a:rPr lang="en-US" sz="1600" dirty="0"/>
              <a:t> = 1</a:t>
            </a:r>
          </a:p>
          <a:p>
            <a:r>
              <a:rPr lang="en-US" sz="1600" b="1" dirty="0"/>
              <a:t>GROUP BY </a:t>
            </a:r>
            <a:r>
              <a:rPr lang="en-US" sz="1600" dirty="0" err="1"/>
              <a:t>p.Position</a:t>
            </a:r>
            <a:endParaRPr lang="en-US" sz="1600" dirty="0"/>
          </a:p>
          <a:p>
            <a:r>
              <a:rPr lang="en-US" sz="1600" b="1" dirty="0"/>
              <a:t>HAVING</a:t>
            </a:r>
            <a:r>
              <a:rPr lang="en-US" sz="1600" dirty="0"/>
              <a:t> COUNT(</a:t>
            </a:r>
            <a:r>
              <a:rPr lang="en-US" sz="1600" dirty="0" err="1"/>
              <a:t>p.Id</a:t>
            </a:r>
            <a:r>
              <a:rPr lang="en-US" sz="1600" dirty="0"/>
              <a:t>) &gt;= 10 AND                     -- Positions with 10+ players</a:t>
            </a:r>
          </a:p>
          <a:p>
            <a:r>
              <a:rPr lang="en-US" sz="1600" dirty="0"/>
              <a:t>                   AVG(</a:t>
            </a:r>
            <a:r>
              <a:rPr lang="en-US" sz="1600" dirty="0" err="1"/>
              <a:t>pos.TotalPoints</a:t>
            </a:r>
            <a:r>
              <a:rPr lang="en-US" sz="1600" dirty="0"/>
              <a:t>) &gt;= 350            -- Average over 350 points</a:t>
            </a:r>
          </a:p>
          <a:p>
            <a:r>
              <a:rPr lang="en-US" sz="1600" dirty="0"/>
              <a:t>ORDER BY </a:t>
            </a:r>
            <a:r>
              <a:rPr lang="en-US" sz="1600" dirty="0" err="1"/>
              <a:t>AvgPoints</a:t>
            </a:r>
            <a:r>
              <a:rPr lang="en-US" sz="1600" dirty="0"/>
              <a:t> DESC;</a:t>
            </a:r>
          </a:p>
        </p:txBody>
      </p:sp>
    </p:spTree>
    <p:extLst>
      <p:ext uri="{BB962C8B-B14F-4D97-AF65-F5344CB8AC3E}">
        <p14:creationId xmlns:p14="http://schemas.microsoft.com/office/powerpoint/2010/main" val="24689290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71D80-9AD6-D66F-42CA-2B60C1418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47F02-191B-F3B7-246C-0B9146126209}"/>
              </a:ext>
            </a:extLst>
          </p:cNvPr>
          <p:cNvSpPr>
            <a:spLocks noGrp="1"/>
          </p:cNvSpPr>
          <p:nvPr>
            <p:ph type="title"/>
          </p:nvPr>
        </p:nvSpPr>
        <p:spPr/>
        <p:txBody>
          <a:bodyPr>
            <a:normAutofit fontScale="90000"/>
          </a:bodyPr>
          <a:lstStyle/>
          <a:p>
            <a:r>
              <a:rPr lang="en-US" dirty="0"/>
              <a:t>WHERE vs HAVING</a:t>
            </a:r>
          </a:p>
        </p:txBody>
      </p:sp>
      <p:sp>
        <p:nvSpPr>
          <p:cNvPr id="3" name="Content Placeholder 2">
            <a:extLst>
              <a:ext uri="{FF2B5EF4-FFF2-40B4-BE49-F238E27FC236}">
                <a16:creationId xmlns:a16="http://schemas.microsoft.com/office/drawing/2014/main" id="{95B9BD89-3910-FD60-0EFC-5979901B4385}"/>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3D597399-893B-37F8-B91D-D42CBA6B99F0}"/>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B88828B6-526B-5E28-63A1-FE180A696608}"/>
              </a:ext>
            </a:extLst>
          </p:cNvPr>
          <p:cNvSpPr>
            <a:spLocks noGrp="1"/>
          </p:cNvSpPr>
          <p:nvPr>
            <p:ph type="sldNum" sz="quarter" idx="12"/>
          </p:nvPr>
        </p:nvSpPr>
        <p:spPr/>
        <p:txBody>
          <a:bodyPr/>
          <a:lstStyle/>
          <a:p>
            <a:fld id="{F6C56E59-C124-411E-B3E7-95D014FC7158}" type="slidenum">
              <a:rPr lang="en-US" smtClean="0"/>
              <a:pPr/>
              <a:t>78</a:t>
            </a:fld>
            <a:endParaRPr lang="en-US"/>
          </a:p>
        </p:txBody>
      </p:sp>
      <p:sp>
        <p:nvSpPr>
          <p:cNvPr id="7" name="TextBox 6">
            <a:extLst>
              <a:ext uri="{FF2B5EF4-FFF2-40B4-BE49-F238E27FC236}">
                <a16:creationId xmlns:a16="http://schemas.microsoft.com/office/drawing/2014/main" id="{30A3B6D6-56B3-9A25-033E-EC48C29BC949}"/>
              </a:ext>
            </a:extLst>
          </p:cNvPr>
          <p:cNvSpPr txBox="1"/>
          <p:nvPr/>
        </p:nvSpPr>
        <p:spPr>
          <a:xfrm>
            <a:off x="2302999" y="1803267"/>
            <a:ext cx="7586001" cy="1754326"/>
          </a:xfrm>
          <a:prstGeom prst="rect">
            <a:avLst/>
          </a:prstGeom>
          <a:noFill/>
        </p:spPr>
        <p:txBody>
          <a:bodyPr wrap="square" rtlCol="0">
            <a:spAutoFit/>
          </a:bodyPr>
          <a:lstStyle/>
          <a:p>
            <a:r>
              <a:rPr lang="en-US" b="1" dirty="0"/>
              <a:t>WHERE</a:t>
            </a:r>
            <a:r>
              <a:rPr lang="en-US" dirty="0"/>
              <a:t> filters individual rows BEFORE grouping (can't use aggregate functions)</a:t>
            </a:r>
          </a:p>
          <a:p>
            <a:endParaRPr lang="en-US" dirty="0"/>
          </a:p>
          <a:p>
            <a:r>
              <a:rPr lang="en-US" b="1" dirty="0"/>
              <a:t>HAVING</a:t>
            </a:r>
            <a:r>
              <a:rPr lang="en-US" dirty="0"/>
              <a:t> filters groups AFTER aggregation (can use aggregate functions like COUNT, AVG, SUM)</a:t>
            </a:r>
          </a:p>
          <a:p>
            <a:endParaRPr lang="en-US" dirty="0"/>
          </a:p>
        </p:txBody>
      </p:sp>
    </p:spTree>
    <p:extLst>
      <p:ext uri="{BB962C8B-B14F-4D97-AF65-F5344CB8AC3E}">
        <p14:creationId xmlns:p14="http://schemas.microsoft.com/office/powerpoint/2010/main" val="4796853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72FA-F67F-F4A4-AF17-60CB5A5B7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07F57-8A6B-714A-8325-16E7814A1A0C}"/>
              </a:ext>
            </a:extLst>
          </p:cNvPr>
          <p:cNvSpPr>
            <a:spLocks noGrp="1"/>
          </p:cNvSpPr>
          <p:nvPr>
            <p:ph type="title"/>
          </p:nvPr>
        </p:nvSpPr>
        <p:spPr/>
        <p:txBody>
          <a:bodyPr>
            <a:normAutofit fontScale="90000"/>
          </a:bodyPr>
          <a:lstStyle/>
          <a:p>
            <a:r>
              <a:rPr lang="en-US" dirty="0"/>
              <a:t>Practice Time</a:t>
            </a:r>
          </a:p>
        </p:txBody>
      </p:sp>
      <p:sp>
        <p:nvSpPr>
          <p:cNvPr id="3" name="Content Placeholder 2">
            <a:extLst>
              <a:ext uri="{FF2B5EF4-FFF2-40B4-BE49-F238E27FC236}">
                <a16:creationId xmlns:a16="http://schemas.microsoft.com/office/drawing/2014/main" id="{7D82A347-7962-49ED-DE3D-2AA7F80727B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105718A8-2A0D-3D61-817F-E2755D309498}"/>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99F92E58-4060-723C-4E6A-DE134C8D7DB2}"/>
              </a:ext>
            </a:extLst>
          </p:cNvPr>
          <p:cNvSpPr>
            <a:spLocks noGrp="1"/>
          </p:cNvSpPr>
          <p:nvPr>
            <p:ph type="sldNum" sz="quarter" idx="12"/>
          </p:nvPr>
        </p:nvSpPr>
        <p:spPr/>
        <p:txBody>
          <a:bodyPr/>
          <a:lstStyle/>
          <a:p>
            <a:fld id="{F6C56E59-C124-411E-B3E7-95D014FC7158}" type="slidenum">
              <a:rPr lang="en-US" smtClean="0"/>
              <a:pPr/>
              <a:t>79</a:t>
            </a:fld>
            <a:endParaRPr lang="en-US"/>
          </a:p>
        </p:txBody>
      </p:sp>
      <p:sp>
        <p:nvSpPr>
          <p:cNvPr id="6" name="TextBox 5">
            <a:extLst>
              <a:ext uri="{FF2B5EF4-FFF2-40B4-BE49-F238E27FC236}">
                <a16:creationId xmlns:a16="http://schemas.microsoft.com/office/drawing/2014/main" id="{C212ABB0-52BA-0A1E-A411-AB8CB732715B}"/>
              </a:ext>
            </a:extLst>
          </p:cNvPr>
          <p:cNvSpPr txBox="1"/>
          <p:nvPr/>
        </p:nvSpPr>
        <p:spPr>
          <a:xfrm>
            <a:off x="2969703" y="1763086"/>
            <a:ext cx="6569242" cy="3139321"/>
          </a:xfrm>
          <a:prstGeom prst="rect">
            <a:avLst/>
          </a:prstGeom>
          <a:noFill/>
        </p:spPr>
        <p:txBody>
          <a:bodyPr wrap="square" rtlCol="0">
            <a:spAutoFit/>
          </a:bodyPr>
          <a:lstStyle/>
          <a:p>
            <a:r>
              <a:rPr lang="en-US" b="1" dirty="0"/>
              <a:t>Task:</a:t>
            </a:r>
          </a:p>
          <a:p>
            <a:endParaRPr lang="en-US" dirty="0"/>
          </a:p>
          <a:p>
            <a:r>
              <a:rPr lang="en-US" dirty="0"/>
              <a:t>Write a query that counts how many players are on each team. </a:t>
            </a:r>
          </a:p>
          <a:p>
            <a:endParaRPr lang="en-US" dirty="0"/>
          </a:p>
          <a:p>
            <a:r>
              <a:rPr lang="en-US" dirty="0"/>
              <a:t>Show:</a:t>
            </a:r>
          </a:p>
          <a:p>
            <a:pPr marL="285750" indent="-285750">
              <a:buFont typeface="Arial" panose="020B0604020202020204" pitchFamily="34" charset="0"/>
              <a:buChar char="•"/>
            </a:pPr>
            <a:r>
              <a:rPr lang="en-US" dirty="0"/>
              <a:t>Team name</a:t>
            </a:r>
          </a:p>
          <a:p>
            <a:pPr marL="285750" indent="-285750">
              <a:buFont typeface="Arial" panose="020B0604020202020204" pitchFamily="34" charset="0"/>
              <a:buChar char="•"/>
            </a:pPr>
            <a:r>
              <a:rPr lang="en-US" dirty="0"/>
              <a:t>Number of players</a:t>
            </a:r>
          </a:p>
          <a:p>
            <a:pPr marL="285750" indent="-285750">
              <a:buFont typeface="Arial" panose="020B0604020202020204" pitchFamily="34" charset="0"/>
              <a:buChar char="•"/>
            </a:pPr>
            <a:endParaRPr lang="en-US" dirty="0"/>
          </a:p>
          <a:p>
            <a:r>
              <a:rPr lang="en-US" dirty="0"/>
              <a:t>Show ONLY teams that have more than 3 players.</a:t>
            </a:r>
          </a:p>
          <a:p>
            <a:endParaRPr lang="en-US" dirty="0"/>
          </a:p>
          <a:p>
            <a:r>
              <a:rPr lang="en-US" dirty="0"/>
              <a:t>Sort by player count (highest first).</a:t>
            </a:r>
          </a:p>
        </p:txBody>
      </p:sp>
    </p:spTree>
    <p:extLst>
      <p:ext uri="{BB962C8B-B14F-4D97-AF65-F5344CB8AC3E}">
        <p14:creationId xmlns:p14="http://schemas.microsoft.com/office/powerpoint/2010/main" val="16812871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0D741-BEDF-BFD5-4F2F-1F9B98FD3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D99A0-A10B-2242-ED51-80712EB0D5A1}"/>
              </a:ext>
            </a:extLst>
          </p:cNvPr>
          <p:cNvSpPr>
            <a:spLocks noGrp="1"/>
          </p:cNvSpPr>
          <p:nvPr>
            <p:ph type="title"/>
          </p:nvPr>
        </p:nvSpPr>
        <p:spPr/>
        <p:txBody>
          <a:bodyPr>
            <a:normAutofit fontScale="90000"/>
          </a:bodyPr>
          <a:lstStyle/>
          <a:p>
            <a:r>
              <a:rPr lang="en-US" b="1" dirty="0"/>
              <a:t>ROLLUP operator</a:t>
            </a:r>
            <a:endParaRPr lang="en-US" dirty="0"/>
          </a:p>
        </p:txBody>
      </p:sp>
      <p:sp>
        <p:nvSpPr>
          <p:cNvPr id="3" name="Content Placeholder 2">
            <a:extLst>
              <a:ext uri="{FF2B5EF4-FFF2-40B4-BE49-F238E27FC236}">
                <a16:creationId xmlns:a16="http://schemas.microsoft.com/office/drawing/2014/main" id="{13625F37-F348-1B91-8718-C1A5AC2CC654}"/>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5F6B2839-54D1-B204-9CBF-46868CE0CEDE}"/>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3DAC266B-30BE-2538-5E08-D4C531D72A45}"/>
              </a:ext>
            </a:extLst>
          </p:cNvPr>
          <p:cNvSpPr>
            <a:spLocks noGrp="1"/>
          </p:cNvSpPr>
          <p:nvPr>
            <p:ph type="sldNum" sz="quarter" idx="12"/>
          </p:nvPr>
        </p:nvSpPr>
        <p:spPr/>
        <p:txBody>
          <a:bodyPr/>
          <a:lstStyle/>
          <a:p>
            <a:fld id="{F6C56E59-C124-411E-B3E7-95D014FC7158}" type="slidenum">
              <a:rPr lang="en-US" smtClean="0"/>
              <a:pPr/>
              <a:t>80</a:t>
            </a:fld>
            <a:endParaRPr lang="en-US"/>
          </a:p>
        </p:txBody>
      </p:sp>
      <p:sp>
        <p:nvSpPr>
          <p:cNvPr id="7" name="TextBox 6">
            <a:extLst>
              <a:ext uri="{FF2B5EF4-FFF2-40B4-BE49-F238E27FC236}">
                <a16:creationId xmlns:a16="http://schemas.microsoft.com/office/drawing/2014/main" id="{61323782-9D86-AA64-A15A-CA55A2BEFCB5}"/>
              </a:ext>
            </a:extLst>
          </p:cNvPr>
          <p:cNvSpPr txBox="1"/>
          <p:nvPr/>
        </p:nvSpPr>
        <p:spPr>
          <a:xfrm>
            <a:off x="445095" y="1334035"/>
            <a:ext cx="7586001" cy="1477328"/>
          </a:xfrm>
          <a:prstGeom prst="rect">
            <a:avLst/>
          </a:prstGeom>
          <a:noFill/>
        </p:spPr>
        <p:txBody>
          <a:bodyPr wrap="square" rtlCol="0">
            <a:spAutoFit/>
          </a:bodyPr>
          <a:lstStyle/>
          <a:p>
            <a:r>
              <a:rPr lang="en-US" b="1" dirty="0"/>
              <a:t>ROLLUP</a:t>
            </a:r>
            <a:r>
              <a:rPr lang="en-US" dirty="0"/>
              <a:t> is a GROUP BY extension that creates subtotals and grand totals for hierarchical data.</a:t>
            </a:r>
          </a:p>
          <a:p>
            <a:endParaRPr lang="en-US" dirty="0"/>
          </a:p>
          <a:p>
            <a:r>
              <a:rPr lang="en-US" b="1" dirty="0"/>
              <a:t>Syntax:</a:t>
            </a:r>
          </a:p>
          <a:p>
            <a:r>
              <a:rPr lang="en-US" dirty="0"/>
              <a:t>GROUP BY </a:t>
            </a:r>
            <a:r>
              <a:rPr lang="en-US" b="1" dirty="0"/>
              <a:t>ROLLUP(column1, column2, column3)</a:t>
            </a:r>
          </a:p>
        </p:txBody>
      </p:sp>
      <p:sp>
        <p:nvSpPr>
          <p:cNvPr id="6" name="TextBox 5">
            <a:extLst>
              <a:ext uri="{FF2B5EF4-FFF2-40B4-BE49-F238E27FC236}">
                <a16:creationId xmlns:a16="http://schemas.microsoft.com/office/drawing/2014/main" id="{CD8B1848-9664-C678-47EE-4C8C2E414FB6}"/>
              </a:ext>
            </a:extLst>
          </p:cNvPr>
          <p:cNvSpPr txBox="1"/>
          <p:nvPr/>
        </p:nvSpPr>
        <p:spPr>
          <a:xfrm>
            <a:off x="2425981" y="3558825"/>
            <a:ext cx="4171418" cy="1477328"/>
          </a:xfrm>
          <a:prstGeom prst="rect">
            <a:avLst/>
          </a:prstGeom>
          <a:noFill/>
        </p:spPr>
        <p:txBody>
          <a:bodyPr wrap="square" rtlCol="0">
            <a:spAutoFit/>
          </a:bodyPr>
          <a:lstStyle/>
          <a:p>
            <a:r>
              <a:rPr lang="en-US" dirty="0"/>
              <a:t>SELECT Country,</a:t>
            </a:r>
          </a:p>
          <a:p>
            <a:r>
              <a:rPr lang="en-US" dirty="0"/>
              <a:t>                  City,</a:t>
            </a:r>
          </a:p>
          <a:p>
            <a:r>
              <a:rPr lang="en-US" dirty="0"/>
              <a:t>                  COUNT(*) AS </a:t>
            </a:r>
            <a:r>
              <a:rPr lang="en-US" dirty="0" err="1"/>
              <a:t>StadiumCount</a:t>
            </a:r>
            <a:endParaRPr lang="en-US" dirty="0"/>
          </a:p>
          <a:p>
            <a:r>
              <a:rPr lang="en-US" dirty="0"/>
              <a:t>FROM </a:t>
            </a:r>
            <a:r>
              <a:rPr lang="en-US" dirty="0" err="1"/>
              <a:t>dbo.Stadium</a:t>
            </a:r>
            <a:endParaRPr lang="en-US" dirty="0"/>
          </a:p>
          <a:p>
            <a:r>
              <a:rPr lang="en-US" dirty="0"/>
              <a:t>GROUP BY </a:t>
            </a:r>
            <a:r>
              <a:rPr lang="en-US" b="1" dirty="0"/>
              <a:t>ROLLUP(Country, City)</a:t>
            </a:r>
            <a:r>
              <a:rPr lang="en-US" dirty="0"/>
              <a:t>;</a:t>
            </a:r>
          </a:p>
        </p:txBody>
      </p:sp>
      <p:pic>
        <p:nvPicPr>
          <p:cNvPr id="9" name="Picture 8">
            <a:extLst>
              <a:ext uri="{FF2B5EF4-FFF2-40B4-BE49-F238E27FC236}">
                <a16:creationId xmlns:a16="http://schemas.microsoft.com/office/drawing/2014/main" id="{B59B23B0-2EB9-1D11-5DFF-5D3E652854ED}"/>
              </a:ext>
            </a:extLst>
          </p:cNvPr>
          <p:cNvPicPr>
            <a:picLocks noChangeAspect="1"/>
          </p:cNvPicPr>
          <p:nvPr/>
        </p:nvPicPr>
        <p:blipFill>
          <a:blip r:embed="rId2"/>
          <a:stretch>
            <a:fillRect/>
          </a:stretch>
        </p:blipFill>
        <p:spPr>
          <a:xfrm>
            <a:off x="6973160" y="2948397"/>
            <a:ext cx="2553056" cy="3105583"/>
          </a:xfrm>
          <a:prstGeom prst="rect">
            <a:avLst/>
          </a:prstGeom>
        </p:spPr>
      </p:pic>
      <p:sp>
        <p:nvSpPr>
          <p:cNvPr id="10" name="TextBox 9">
            <a:extLst>
              <a:ext uri="{FF2B5EF4-FFF2-40B4-BE49-F238E27FC236}">
                <a16:creationId xmlns:a16="http://schemas.microsoft.com/office/drawing/2014/main" id="{39F21438-8F7E-4016-617E-A16CDAF93476}"/>
              </a:ext>
            </a:extLst>
          </p:cNvPr>
          <p:cNvSpPr txBox="1"/>
          <p:nvPr/>
        </p:nvSpPr>
        <p:spPr>
          <a:xfrm>
            <a:off x="7506897" y="2579065"/>
            <a:ext cx="1501996" cy="369332"/>
          </a:xfrm>
          <a:prstGeom prst="rect">
            <a:avLst/>
          </a:prstGeom>
          <a:noFill/>
        </p:spPr>
        <p:txBody>
          <a:bodyPr wrap="square" rtlCol="0">
            <a:spAutoFit/>
          </a:bodyPr>
          <a:lstStyle/>
          <a:p>
            <a:r>
              <a:rPr lang="en-US" b="1" dirty="0"/>
              <a:t>Demo this!</a:t>
            </a:r>
          </a:p>
        </p:txBody>
      </p:sp>
    </p:spTree>
    <p:extLst>
      <p:ext uri="{BB962C8B-B14F-4D97-AF65-F5344CB8AC3E}">
        <p14:creationId xmlns:p14="http://schemas.microsoft.com/office/powerpoint/2010/main" val="25142520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1E212-DB9A-84AA-3E60-F24F08AF2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FDF5E-6334-CC8F-BCFB-C1D750904AF1}"/>
              </a:ext>
            </a:extLst>
          </p:cNvPr>
          <p:cNvSpPr>
            <a:spLocks noGrp="1"/>
          </p:cNvSpPr>
          <p:nvPr>
            <p:ph type="title"/>
          </p:nvPr>
        </p:nvSpPr>
        <p:spPr/>
        <p:txBody>
          <a:bodyPr>
            <a:normAutofit fontScale="90000"/>
          </a:bodyPr>
          <a:lstStyle/>
          <a:p>
            <a:r>
              <a:rPr lang="en-US" b="1" dirty="0"/>
              <a:t>CUBE operator</a:t>
            </a:r>
            <a:endParaRPr lang="en-US" dirty="0"/>
          </a:p>
        </p:txBody>
      </p:sp>
      <p:sp>
        <p:nvSpPr>
          <p:cNvPr id="3" name="Content Placeholder 2">
            <a:extLst>
              <a:ext uri="{FF2B5EF4-FFF2-40B4-BE49-F238E27FC236}">
                <a16:creationId xmlns:a16="http://schemas.microsoft.com/office/drawing/2014/main" id="{967E8036-DE0B-C9FB-0AB7-E4701A18B0D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08FFDB90-F9CF-2441-D002-399BCD04E0E3}"/>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1849FDBD-4976-519D-DA8A-CFD77B44B7FF}"/>
              </a:ext>
            </a:extLst>
          </p:cNvPr>
          <p:cNvSpPr>
            <a:spLocks noGrp="1"/>
          </p:cNvSpPr>
          <p:nvPr>
            <p:ph type="sldNum" sz="quarter" idx="12"/>
          </p:nvPr>
        </p:nvSpPr>
        <p:spPr/>
        <p:txBody>
          <a:bodyPr/>
          <a:lstStyle/>
          <a:p>
            <a:fld id="{F6C56E59-C124-411E-B3E7-95D014FC7158}" type="slidenum">
              <a:rPr lang="en-US" smtClean="0"/>
              <a:pPr/>
              <a:t>81</a:t>
            </a:fld>
            <a:endParaRPr lang="en-US"/>
          </a:p>
        </p:txBody>
      </p:sp>
      <p:sp>
        <p:nvSpPr>
          <p:cNvPr id="7" name="TextBox 6">
            <a:extLst>
              <a:ext uri="{FF2B5EF4-FFF2-40B4-BE49-F238E27FC236}">
                <a16:creationId xmlns:a16="http://schemas.microsoft.com/office/drawing/2014/main" id="{78E64BF7-F26B-6640-15CC-7D076797DC5E}"/>
              </a:ext>
            </a:extLst>
          </p:cNvPr>
          <p:cNvSpPr txBox="1"/>
          <p:nvPr/>
        </p:nvSpPr>
        <p:spPr>
          <a:xfrm>
            <a:off x="384937" y="1274310"/>
            <a:ext cx="7586001" cy="1477328"/>
          </a:xfrm>
          <a:prstGeom prst="rect">
            <a:avLst/>
          </a:prstGeom>
          <a:noFill/>
        </p:spPr>
        <p:txBody>
          <a:bodyPr wrap="square" rtlCol="0">
            <a:spAutoFit/>
          </a:bodyPr>
          <a:lstStyle/>
          <a:p>
            <a:r>
              <a:rPr lang="en-US" b="1" dirty="0"/>
              <a:t>CUBE</a:t>
            </a:r>
            <a:r>
              <a:rPr lang="en-US" dirty="0"/>
              <a:t> is a GROUP BY extension that creates all possible combinations of subtotals for the specified columns.</a:t>
            </a:r>
          </a:p>
          <a:p>
            <a:endParaRPr lang="en-US" dirty="0"/>
          </a:p>
          <a:p>
            <a:r>
              <a:rPr lang="en-US" b="1" dirty="0"/>
              <a:t>Syntax:</a:t>
            </a:r>
          </a:p>
          <a:p>
            <a:r>
              <a:rPr lang="en-US" dirty="0"/>
              <a:t>GROUP BY </a:t>
            </a:r>
            <a:r>
              <a:rPr lang="en-US" b="1" dirty="0"/>
              <a:t>CUBE(column1, column2, column3)</a:t>
            </a:r>
          </a:p>
        </p:txBody>
      </p:sp>
      <p:sp>
        <p:nvSpPr>
          <p:cNvPr id="6" name="TextBox 5">
            <a:extLst>
              <a:ext uri="{FF2B5EF4-FFF2-40B4-BE49-F238E27FC236}">
                <a16:creationId xmlns:a16="http://schemas.microsoft.com/office/drawing/2014/main" id="{C2D35BED-D637-2C60-04B4-0418F1CBAC74}"/>
              </a:ext>
            </a:extLst>
          </p:cNvPr>
          <p:cNvSpPr txBox="1"/>
          <p:nvPr/>
        </p:nvSpPr>
        <p:spPr>
          <a:xfrm>
            <a:off x="1312885" y="3357023"/>
            <a:ext cx="4171418" cy="1477328"/>
          </a:xfrm>
          <a:prstGeom prst="rect">
            <a:avLst/>
          </a:prstGeom>
          <a:noFill/>
        </p:spPr>
        <p:txBody>
          <a:bodyPr wrap="square" rtlCol="0">
            <a:spAutoFit/>
          </a:bodyPr>
          <a:lstStyle/>
          <a:p>
            <a:r>
              <a:rPr lang="en-US" dirty="0"/>
              <a:t>SELECT Country,</a:t>
            </a:r>
          </a:p>
          <a:p>
            <a:r>
              <a:rPr lang="en-US" dirty="0"/>
              <a:t>                 </a:t>
            </a:r>
            <a:r>
              <a:rPr lang="en-US" dirty="0" err="1"/>
              <a:t>RoofType</a:t>
            </a:r>
            <a:r>
              <a:rPr lang="en-US" dirty="0"/>
              <a:t>,</a:t>
            </a:r>
          </a:p>
          <a:p>
            <a:r>
              <a:rPr lang="en-US" dirty="0"/>
              <a:t>                 COUNT(*) AS </a:t>
            </a:r>
            <a:r>
              <a:rPr lang="en-US" dirty="0" err="1"/>
              <a:t>StadiumCount</a:t>
            </a:r>
            <a:endParaRPr lang="en-US" dirty="0"/>
          </a:p>
          <a:p>
            <a:r>
              <a:rPr lang="en-US" dirty="0"/>
              <a:t>FROM </a:t>
            </a:r>
            <a:r>
              <a:rPr lang="en-US" dirty="0" err="1"/>
              <a:t>dbo.Stadium</a:t>
            </a:r>
            <a:endParaRPr lang="en-US" dirty="0"/>
          </a:p>
          <a:p>
            <a:r>
              <a:rPr lang="en-US" dirty="0"/>
              <a:t>GROUP BY </a:t>
            </a:r>
            <a:r>
              <a:rPr lang="en-US" b="1" dirty="0"/>
              <a:t>CUBE(Country, </a:t>
            </a:r>
            <a:r>
              <a:rPr lang="en-US" b="1" dirty="0" err="1"/>
              <a:t>RoofType</a:t>
            </a:r>
            <a:r>
              <a:rPr lang="en-US" b="1" dirty="0"/>
              <a:t>)</a:t>
            </a:r>
            <a:r>
              <a:rPr lang="en-US" dirty="0"/>
              <a:t>;</a:t>
            </a:r>
          </a:p>
        </p:txBody>
      </p:sp>
      <p:pic>
        <p:nvPicPr>
          <p:cNvPr id="9" name="Picture 8">
            <a:extLst>
              <a:ext uri="{FF2B5EF4-FFF2-40B4-BE49-F238E27FC236}">
                <a16:creationId xmlns:a16="http://schemas.microsoft.com/office/drawing/2014/main" id="{C51A2B44-1182-ACA7-3969-BB2B5DF53F53}"/>
              </a:ext>
            </a:extLst>
          </p:cNvPr>
          <p:cNvPicPr>
            <a:picLocks noChangeAspect="1"/>
          </p:cNvPicPr>
          <p:nvPr/>
        </p:nvPicPr>
        <p:blipFill>
          <a:blip r:embed="rId2"/>
          <a:stretch>
            <a:fillRect/>
          </a:stretch>
        </p:blipFill>
        <p:spPr>
          <a:xfrm>
            <a:off x="7157371" y="3320780"/>
            <a:ext cx="2353003" cy="2353003"/>
          </a:xfrm>
          <a:prstGeom prst="rect">
            <a:avLst/>
          </a:prstGeom>
        </p:spPr>
      </p:pic>
      <p:sp>
        <p:nvSpPr>
          <p:cNvPr id="12" name="TextBox 11">
            <a:extLst>
              <a:ext uri="{FF2B5EF4-FFF2-40B4-BE49-F238E27FC236}">
                <a16:creationId xmlns:a16="http://schemas.microsoft.com/office/drawing/2014/main" id="{C06DC4D0-F5D3-81F3-F51A-1FB6AFADF4AB}"/>
              </a:ext>
            </a:extLst>
          </p:cNvPr>
          <p:cNvSpPr txBox="1"/>
          <p:nvPr/>
        </p:nvSpPr>
        <p:spPr>
          <a:xfrm>
            <a:off x="7582874" y="2938898"/>
            <a:ext cx="1501996" cy="369332"/>
          </a:xfrm>
          <a:prstGeom prst="rect">
            <a:avLst/>
          </a:prstGeom>
          <a:noFill/>
        </p:spPr>
        <p:txBody>
          <a:bodyPr wrap="square" rtlCol="0">
            <a:spAutoFit/>
          </a:bodyPr>
          <a:lstStyle/>
          <a:p>
            <a:r>
              <a:rPr lang="en-US" b="1" dirty="0"/>
              <a:t>Demo this!</a:t>
            </a:r>
          </a:p>
        </p:txBody>
      </p:sp>
    </p:spTree>
    <p:extLst>
      <p:ext uri="{BB962C8B-B14F-4D97-AF65-F5344CB8AC3E}">
        <p14:creationId xmlns:p14="http://schemas.microsoft.com/office/powerpoint/2010/main" val="28261162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8563B-4DA1-C4F8-E461-C59B45AB5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E6E03-A58E-3640-B5AA-B29FB57EC14D}"/>
              </a:ext>
            </a:extLst>
          </p:cNvPr>
          <p:cNvSpPr>
            <a:spLocks noGrp="1"/>
          </p:cNvSpPr>
          <p:nvPr>
            <p:ph type="title"/>
          </p:nvPr>
        </p:nvSpPr>
        <p:spPr/>
        <p:txBody>
          <a:bodyPr>
            <a:normAutofit fontScale="90000"/>
          </a:bodyPr>
          <a:lstStyle/>
          <a:p>
            <a:r>
              <a:rPr lang="en-US" b="1" dirty="0"/>
              <a:t>GROUPING SETS operator</a:t>
            </a:r>
            <a:endParaRPr lang="en-US" dirty="0"/>
          </a:p>
        </p:txBody>
      </p:sp>
      <p:sp>
        <p:nvSpPr>
          <p:cNvPr id="3" name="Content Placeholder 2">
            <a:extLst>
              <a:ext uri="{FF2B5EF4-FFF2-40B4-BE49-F238E27FC236}">
                <a16:creationId xmlns:a16="http://schemas.microsoft.com/office/drawing/2014/main" id="{397DE92C-64C8-92D3-0E4B-CA8199698E73}"/>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E5DD5D1-3922-5A9E-D77B-F627973582F7}"/>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17A0C522-B616-D813-E1FA-415A3CBD583B}"/>
              </a:ext>
            </a:extLst>
          </p:cNvPr>
          <p:cNvSpPr>
            <a:spLocks noGrp="1"/>
          </p:cNvSpPr>
          <p:nvPr>
            <p:ph type="sldNum" sz="quarter" idx="12"/>
          </p:nvPr>
        </p:nvSpPr>
        <p:spPr/>
        <p:txBody>
          <a:bodyPr/>
          <a:lstStyle/>
          <a:p>
            <a:fld id="{F6C56E59-C124-411E-B3E7-95D014FC7158}" type="slidenum">
              <a:rPr lang="en-US" smtClean="0"/>
              <a:pPr/>
              <a:t>82</a:t>
            </a:fld>
            <a:endParaRPr lang="en-US"/>
          </a:p>
        </p:txBody>
      </p:sp>
      <p:sp>
        <p:nvSpPr>
          <p:cNvPr id="7" name="TextBox 6">
            <a:extLst>
              <a:ext uri="{FF2B5EF4-FFF2-40B4-BE49-F238E27FC236}">
                <a16:creationId xmlns:a16="http://schemas.microsoft.com/office/drawing/2014/main" id="{3589B1CA-FB16-C15B-5FC1-74F65CFED5B5}"/>
              </a:ext>
            </a:extLst>
          </p:cNvPr>
          <p:cNvSpPr txBox="1"/>
          <p:nvPr/>
        </p:nvSpPr>
        <p:spPr>
          <a:xfrm>
            <a:off x="384937" y="1274310"/>
            <a:ext cx="7586001" cy="2308324"/>
          </a:xfrm>
          <a:prstGeom prst="rect">
            <a:avLst/>
          </a:prstGeom>
          <a:noFill/>
        </p:spPr>
        <p:txBody>
          <a:bodyPr wrap="square" rtlCol="0">
            <a:spAutoFit/>
          </a:bodyPr>
          <a:lstStyle/>
          <a:p>
            <a:r>
              <a:rPr lang="en-US" sz="1600" b="1" dirty="0"/>
              <a:t>GROUPING SETS</a:t>
            </a:r>
            <a:r>
              <a:rPr lang="en-US" sz="1600" dirty="0"/>
              <a:t> allows you to define specific grouping combinations in a single query, giving you precise control over which subtotals to generate.</a:t>
            </a:r>
          </a:p>
          <a:p>
            <a:endParaRPr lang="en-US" sz="1600" b="1" dirty="0"/>
          </a:p>
          <a:p>
            <a:r>
              <a:rPr lang="en-US" sz="1600" b="1" dirty="0"/>
              <a:t>Syntax:</a:t>
            </a:r>
          </a:p>
          <a:p>
            <a:r>
              <a:rPr lang="en-US" sz="1600" dirty="0"/>
              <a:t>GROUP BY </a:t>
            </a:r>
            <a:r>
              <a:rPr lang="en-US" sz="1600" b="1" dirty="0"/>
              <a:t>GROUPING SETS (</a:t>
            </a:r>
          </a:p>
          <a:p>
            <a:r>
              <a:rPr lang="en-US" sz="1600" b="1" dirty="0"/>
              <a:t>    (column1, column2),</a:t>
            </a:r>
          </a:p>
          <a:p>
            <a:r>
              <a:rPr lang="en-US" sz="1600" b="1" dirty="0"/>
              <a:t>    (column1),</a:t>
            </a:r>
          </a:p>
          <a:p>
            <a:r>
              <a:rPr lang="en-US" sz="1600" b="1" dirty="0"/>
              <a:t>    ()</a:t>
            </a:r>
          </a:p>
          <a:p>
            <a:r>
              <a:rPr lang="en-US" sz="1600" b="1" dirty="0"/>
              <a:t>)</a:t>
            </a:r>
          </a:p>
        </p:txBody>
      </p:sp>
      <p:sp>
        <p:nvSpPr>
          <p:cNvPr id="6" name="TextBox 5">
            <a:extLst>
              <a:ext uri="{FF2B5EF4-FFF2-40B4-BE49-F238E27FC236}">
                <a16:creationId xmlns:a16="http://schemas.microsoft.com/office/drawing/2014/main" id="{ACBDFE3C-3B7F-3529-B1A9-65730B3A2D88}"/>
              </a:ext>
            </a:extLst>
          </p:cNvPr>
          <p:cNvSpPr txBox="1"/>
          <p:nvPr/>
        </p:nvSpPr>
        <p:spPr>
          <a:xfrm>
            <a:off x="2238375" y="3608741"/>
            <a:ext cx="4692638" cy="2308324"/>
          </a:xfrm>
          <a:prstGeom prst="rect">
            <a:avLst/>
          </a:prstGeom>
          <a:noFill/>
        </p:spPr>
        <p:txBody>
          <a:bodyPr wrap="square" rtlCol="0">
            <a:spAutoFit/>
          </a:bodyPr>
          <a:lstStyle/>
          <a:p>
            <a:r>
              <a:rPr lang="en-US" sz="1600" dirty="0"/>
              <a:t>SELECT Country,</a:t>
            </a:r>
          </a:p>
          <a:p>
            <a:r>
              <a:rPr lang="en-US" sz="1600" dirty="0"/>
              <a:t>                 City,</a:t>
            </a:r>
          </a:p>
          <a:p>
            <a:r>
              <a:rPr lang="en-US" sz="1600" dirty="0"/>
              <a:t>                 COUNT(*) AS </a:t>
            </a:r>
            <a:r>
              <a:rPr lang="en-US" sz="1600" dirty="0" err="1"/>
              <a:t>StadiumCount</a:t>
            </a:r>
            <a:endParaRPr lang="en-US" sz="1600" dirty="0"/>
          </a:p>
          <a:p>
            <a:r>
              <a:rPr lang="en-US" sz="1600" dirty="0"/>
              <a:t>FROM </a:t>
            </a:r>
            <a:r>
              <a:rPr lang="en-US" sz="1600" dirty="0" err="1"/>
              <a:t>dbo.Stadium</a:t>
            </a:r>
            <a:endParaRPr lang="en-US" sz="1600" dirty="0"/>
          </a:p>
          <a:p>
            <a:r>
              <a:rPr lang="en-US" sz="1600" dirty="0"/>
              <a:t>GROUP BY </a:t>
            </a:r>
            <a:r>
              <a:rPr lang="en-US" sz="1600" b="1" dirty="0"/>
              <a:t>GROUPING SETS (</a:t>
            </a:r>
          </a:p>
          <a:p>
            <a:r>
              <a:rPr lang="en-US" sz="1600" b="1" dirty="0"/>
              <a:t>    (Country, City),    -- Each city in each country</a:t>
            </a:r>
          </a:p>
          <a:p>
            <a:r>
              <a:rPr lang="en-US" sz="1600" b="1" dirty="0"/>
              <a:t>    (Country),              -- Country totals</a:t>
            </a:r>
          </a:p>
          <a:p>
            <a:r>
              <a:rPr lang="en-US" sz="1600" b="1" dirty="0"/>
              <a:t>    ()                                 -- Grand total</a:t>
            </a:r>
          </a:p>
          <a:p>
            <a:r>
              <a:rPr lang="en-US" sz="1600" b="1" dirty="0"/>
              <a:t>)</a:t>
            </a:r>
            <a:r>
              <a:rPr lang="en-US" sz="1600" dirty="0"/>
              <a:t>;</a:t>
            </a:r>
          </a:p>
        </p:txBody>
      </p:sp>
      <p:sp>
        <p:nvSpPr>
          <p:cNvPr id="12" name="TextBox 11">
            <a:extLst>
              <a:ext uri="{FF2B5EF4-FFF2-40B4-BE49-F238E27FC236}">
                <a16:creationId xmlns:a16="http://schemas.microsoft.com/office/drawing/2014/main" id="{D96F35CF-061B-931C-CB20-E65195A9FAAF}"/>
              </a:ext>
            </a:extLst>
          </p:cNvPr>
          <p:cNvSpPr txBox="1"/>
          <p:nvPr/>
        </p:nvSpPr>
        <p:spPr>
          <a:xfrm>
            <a:off x="7582874" y="2808014"/>
            <a:ext cx="1501996" cy="369332"/>
          </a:xfrm>
          <a:prstGeom prst="rect">
            <a:avLst/>
          </a:prstGeom>
          <a:noFill/>
        </p:spPr>
        <p:txBody>
          <a:bodyPr wrap="square" rtlCol="0">
            <a:spAutoFit/>
          </a:bodyPr>
          <a:lstStyle/>
          <a:p>
            <a:r>
              <a:rPr lang="en-US" b="1" dirty="0"/>
              <a:t>Demo this!</a:t>
            </a:r>
          </a:p>
        </p:txBody>
      </p:sp>
      <p:pic>
        <p:nvPicPr>
          <p:cNvPr id="10" name="Picture 9">
            <a:extLst>
              <a:ext uri="{FF2B5EF4-FFF2-40B4-BE49-F238E27FC236}">
                <a16:creationId xmlns:a16="http://schemas.microsoft.com/office/drawing/2014/main" id="{A61BB170-7D3B-8AA4-96E0-9EC4B964ABDB}"/>
              </a:ext>
            </a:extLst>
          </p:cNvPr>
          <p:cNvPicPr>
            <a:picLocks noChangeAspect="1"/>
          </p:cNvPicPr>
          <p:nvPr/>
        </p:nvPicPr>
        <p:blipFill>
          <a:blip r:embed="rId2"/>
          <a:stretch>
            <a:fillRect/>
          </a:stretch>
        </p:blipFill>
        <p:spPr>
          <a:xfrm>
            <a:off x="7010230" y="3177346"/>
            <a:ext cx="2438740" cy="2829320"/>
          </a:xfrm>
          <a:prstGeom prst="rect">
            <a:avLst/>
          </a:prstGeom>
        </p:spPr>
      </p:pic>
    </p:spTree>
    <p:extLst>
      <p:ext uri="{BB962C8B-B14F-4D97-AF65-F5344CB8AC3E}">
        <p14:creationId xmlns:p14="http://schemas.microsoft.com/office/powerpoint/2010/main" val="2145160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DC6DD-DAAA-A788-CD68-A697C7789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645E5-8DD7-8861-8B07-FCF9E9AC00DB}"/>
              </a:ext>
            </a:extLst>
          </p:cNvPr>
          <p:cNvSpPr>
            <a:spLocks noGrp="1"/>
          </p:cNvSpPr>
          <p:nvPr>
            <p:ph type="title"/>
          </p:nvPr>
        </p:nvSpPr>
        <p:spPr/>
        <p:txBody>
          <a:bodyPr>
            <a:normAutofit fontScale="90000"/>
          </a:bodyPr>
          <a:lstStyle/>
          <a:p>
            <a:r>
              <a:rPr lang="en-US" b="1" dirty="0"/>
              <a:t>GROUPING SETS operator</a:t>
            </a:r>
            <a:endParaRPr lang="en-US" dirty="0"/>
          </a:p>
        </p:txBody>
      </p:sp>
      <p:sp>
        <p:nvSpPr>
          <p:cNvPr id="3" name="Content Placeholder 2">
            <a:extLst>
              <a:ext uri="{FF2B5EF4-FFF2-40B4-BE49-F238E27FC236}">
                <a16:creationId xmlns:a16="http://schemas.microsoft.com/office/drawing/2014/main" id="{7C328F44-8E50-2CE8-22B8-1F652D2D253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DC3F8531-6774-DA67-54AF-6A60B61AE7A7}"/>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2CBCBA41-BEF3-A363-8B3F-86506358D6C3}"/>
              </a:ext>
            </a:extLst>
          </p:cNvPr>
          <p:cNvSpPr>
            <a:spLocks noGrp="1"/>
          </p:cNvSpPr>
          <p:nvPr>
            <p:ph type="sldNum" sz="quarter" idx="12"/>
          </p:nvPr>
        </p:nvSpPr>
        <p:spPr/>
        <p:txBody>
          <a:bodyPr/>
          <a:lstStyle/>
          <a:p>
            <a:fld id="{F6C56E59-C124-411E-B3E7-95D014FC7158}" type="slidenum">
              <a:rPr lang="en-US" smtClean="0"/>
              <a:pPr/>
              <a:t>83</a:t>
            </a:fld>
            <a:endParaRPr lang="en-US"/>
          </a:p>
        </p:txBody>
      </p:sp>
      <p:sp>
        <p:nvSpPr>
          <p:cNvPr id="7" name="TextBox 6">
            <a:extLst>
              <a:ext uri="{FF2B5EF4-FFF2-40B4-BE49-F238E27FC236}">
                <a16:creationId xmlns:a16="http://schemas.microsoft.com/office/drawing/2014/main" id="{C1C7BB3D-1B2F-957C-A993-D2B738146E51}"/>
              </a:ext>
            </a:extLst>
          </p:cNvPr>
          <p:cNvSpPr txBox="1"/>
          <p:nvPr/>
        </p:nvSpPr>
        <p:spPr>
          <a:xfrm>
            <a:off x="384937" y="1274310"/>
            <a:ext cx="7586001" cy="2308324"/>
          </a:xfrm>
          <a:prstGeom prst="rect">
            <a:avLst/>
          </a:prstGeom>
          <a:noFill/>
        </p:spPr>
        <p:txBody>
          <a:bodyPr wrap="square" rtlCol="0">
            <a:spAutoFit/>
          </a:bodyPr>
          <a:lstStyle/>
          <a:p>
            <a:r>
              <a:rPr lang="en-US" sz="1600" b="1" dirty="0"/>
              <a:t>GROUPING SETS</a:t>
            </a:r>
            <a:r>
              <a:rPr lang="en-US" sz="1600" dirty="0"/>
              <a:t> allows you to define specific grouping combinations in a single query, giving you precise control over which subtotals to generate.</a:t>
            </a:r>
          </a:p>
          <a:p>
            <a:endParaRPr lang="en-US" sz="1600" b="1" dirty="0"/>
          </a:p>
          <a:p>
            <a:r>
              <a:rPr lang="en-US" sz="1600" b="1" dirty="0"/>
              <a:t>Syntax:</a:t>
            </a:r>
          </a:p>
          <a:p>
            <a:r>
              <a:rPr lang="en-US" sz="1600" dirty="0"/>
              <a:t>GROUP BY GROUPING SETS (</a:t>
            </a:r>
          </a:p>
          <a:p>
            <a:r>
              <a:rPr lang="en-US" sz="1600" dirty="0"/>
              <a:t>    (column1, column2),</a:t>
            </a:r>
          </a:p>
          <a:p>
            <a:r>
              <a:rPr lang="en-US" sz="1600" dirty="0"/>
              <a:t>    (column1),</a:t>
            </a:r>
          </a:p>
          <a:p>
            <a:r>
              <a:rPr lang="en-US" sz="1600" dirty="0"/>
              <a:t>    ()</a:t>
            </a:r>
          </a:p>
          <a:p>
            <a:r>
              <a:rPr lang="en-US" sz="1600" dirty="0"/>
              <a:t>)</a:t>
            </a:r>
          </a:p>
        </p:txBody>
      </p:sp>
      <p:sp>
        <p:nvSpPr>
          <p:cNvPr id="6" name="TextBox 5">
            <a:extLst>
              <a:ext uri="{FF2B5EF4-FFF2-40B4-BE49-F238E27FC236}">
                <a16:creationId xmlns:a16="http://schemas.microsoft.com/office/drawing/2014/main" id="{ED31FA66-D5D0-913C-226F-116461172F67}"/>
              </a:ext>
            </a:extLst>
          </p:cNvPr>
          <p:cNvSpPr txBox="1"/>
          <p:nvPr/>
        </p:nvSpPr>
        <p:spPr>
          <a:xfrm>
            <a:off x="2162175" y="3608741"/>
            <a:ext cx="4768838" cy="2308324"/>
          </a:xfrm>
          <a:prstGeom prst="rect">
            <a:avLst/>
          </a:prstGeom>
          <a:noFill/>
        </p:spPr>
        <p:txBody>
          <a:bodyPr wrap="square" rtlCol="0">
            <a:spAutoFit/>
          </a:bodyPr>
          <a:lstStyle/>
          <a:p>
            <a:r>
              <a:rPr lang="en-US" sz="1600" dirty="0"/>
              <a:t>SELECT Country,</a:t>
            </a:r>
          </a:p>
          <a:p>
            <a:r>
              <a:rPr lang="en-US" sz="1600" dirty="0"/>
              <a:t>                 City,</a:t>
            </a:r>
          </a:p>
          <a:p>
            <a:r>
              <a:rPr lang="en-US" sz="1600" dirty="0"/>
              <a:t>                 COUNT(*) AS </a:t>
            </a:r>
            <a:r>
              <a:rPr lang="en-US" sz="1600" dirty="0" err="1"/>
              <a:t>StadiumCount</a:t>
            </a:r>
            <a:endParaRPr lang="en-US" sz="1600" dirty="0"/>
          </a:p>
          <a:p>
            <a:r>
              <a:rPr lang="en-US" sz="1600" dirty="0"/>
              <a:t>FROM </a:t>
            </a:r>
            <a:r>
              <a:rPr lang="en-US" sz="1600" dirty="0" err="1"/>
              <a:t>dbo.Stadium</a:t>
            </a:r>
            <a:endParaRPr lang="en-US" sz="1600" dirty="0"/>
          </a:p>
          <a:p>
            <a:r>
              <a:rPr lang="en-US" sz="1600" dirty="0"/>
              <a:t>GROUP BY </a:t>
            </a:r>
            <a:r>
              <a:rPr lang="en-US" sz="1600" b="1" dirty="0"/>
              <a:t>GROUPING SETS (</a:t>
            </a:r>
          </a:p>
          <a:p>
            <a:r>
              <a:rPr lang="en-US" sz="1600" b="1" dirty="0"/>
              <a:t>    (Country, City),    -- Each city in each country</a:t>
            </a:r>
          </a:p>
          <a:p>
            <a:r>
              <a:rPr lang="en-US" sz="1600" b="1" dirty="0"/>
              <a:t>    (Country),              -- Country totals</a:t>
            </a:r>
          </a:p>
          <a:p>
            <a:r>
              <a:rPr lang="en-US" sz="1600" b="1" dirty="0"/>
              <a:t>    ()                                 -- Grand total</a:t>
            </a:r>
          </a:p>
          <a:p>
            <a:r>
              <a:rPr lang="en-US" sz="1600" b="1" dirty="0"/>
              <a:t>)</a:t>
            </a:r>
            <a:r>
              <a:rPr lang="en-US" sz="1600" dirty="0"/>
              <a:t>;</a:t>
            </a:r>
          </a:p>
        </p:txBody>
      </p:sp>
      <p:sp>
        <p:nvSpPr>
          <p:cNvPr id="12" name="TextBox 11">
            <a:extLst>
              <a:ext uri="{FF2B5EF4-FFF2-40B4-BE49-F238E27FC236}">
                <a16:creationId xmlns:a16="http://schemas.microsoft.com/office/drawing/2014/main" id="{4B426184-2E42-5727-60FA-549D30F16816}"/>
              </a:ext>
            </a:extLst>
          </p:cNvPr>
          <p:cNvSpPr txBox="1"/>
          <p:nvPr/>
        </p:nvSpPr>
        <p:spPr>
          <a:xfrm>
            <a:off x="7582874" y="2808014"/>
            <a:ext cx="1501996" cy="369332"/>
          </a:xfrm>
          <a:prstGeom prst="rect">
            <a:avLst/>
          </a:prstGeom>
          <a:noFill/>
        </p:spPr>
        <p:txBody>
          <a:bodyPr wrap="square" rtlCol="0">
            <a:spAutoFit/>
          </a:bodyPr>
          <a:lstStyle/>
          <a:p>
            <a:r>
              <a:rPr lang="en-US" b="1" dirty="0"/>
              <a:t>Demo this!</a:t>
            </a:r>
          </a:p>
        </p:txBody>
      </p:sp>
      <p:pic>
        <p:nvPicPr>
          <p:cNvPr id="10" name="Picture 9">
            <a:extLst>
              <a:ext uri="{FF2B5EF4-FFF2-40B4-BE49-F238E27FC236}">
                <a16:creationId xmlns:a16="http://schemas.microsoft.com/office/drawing/2014/main" id="{7E57F8B7-14B1-92F3-AE9B-4B78C3423B40}"/>
              </a:ext>
            </a:extLst>
          </p:cNvPr>
          <p:cNvPicPr>
            <a:picLocks noChangeAspect="1"/>
          </p:cNvPicPr>
          <p:nvPr/>
        </p:nvPicPr>
        <p:blipFill>
          <a:blip r:embed="rId2"/>
          <a:stretch>
            <a:fillRect/>
          </a:stretch>
        </p:blipFill>
        <p:spPr>
          <a:xfrm>
            <a:off x="7010230" y="3177346"/>
            <a:ext cx="2438740" cy="2829320"/>
          </a:xfrm>
          <a:prstGeom prst="rect">
            <a:avLst/>
          </a:prstGeom>
        </p:spPr>
      </p:pic>
    </p:spTree>
    <p:extLst>
      <p:ext uri="{BB962C8B-B14F-4D97-AF65-F5344CB8AC3E}">
        <p14:creationId xmlns:p14="http://schemas.microsoft.com/office/powerpoint/2010/main" val="1352661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28C12-A78D-C25E-BD95-45E189354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377C1-681C-A60D-2E0D-CA209CA1577F}"/>
              </a:ext>
            </a:extLst>
          </p:cNvPr>
          <p:cNvSpPr>
            <a:spLocks noGrp="1"/>
          </p:cNvSpPr>
          <p:nvPr>
            <p:ph type="title"/>
          </p:nvPr>
        </p:nvSpPr>
        <p:spPr/>
        <p:txBody>
          <a:bodyPr>
            <a:normAutofit fontScale="90000"/>
          </a:bodyPr>
          <a:lstStyle/>
          <a:p>
            <a:r>
              <a:rPr lang="en-US" b="1" dirty="0"/>
              <a:t>OVER Clause</a:t>
            </a:r>
            <a:endParaRPr lang="en-US" dirty="0"/>
          </a:p>
        </p:txBody>
      </p:sp>
      <p:sp>
        <p:nvSpPr>
          <p:cNvPr id="3" name="Content Placeholder 2">
            <a:extLst>
              <a:ext uri="{FF2B5EF4-FFF2-40B4-BE49-F238E27FC236}">
                <a16:creationId xmlns:a16="http://schemas.microsoft.com/office/drawing/2014/main" id="{28A70651-3DB8-53AA-326C-38DA482A2A61}"/>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665B31A5-6C3F-9EA7-3BD2-FCE8BC90AF3A}"/>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2FFE2BF0-6F70-8A75-59D5-B65752117D8D}"/>
              </a:ext>
            </a:extLst>
          </p:cNvPr>
          <p:cNvSpPr>
            <a:spLocks noGrp="1"/>
          </p:cNvSpPr>
          <p:nvPr>
            <p:ph type="sldNum" sz="quarter" idx="12"/>
          </p:nvPr>
        </p:nvSpPr>
        <p:spPr/>
        <p:txBody>
          <a:bodyPr/>
          <a:lstStyle/>
          <a:p>
            <a:fld id="{F6C56E59-C124-411E-B3E7-95D014FC7158}" type="slidenum">
              <a:rPr lang="en-US" smtClean="0"/>
              <a:pPr/>
              <a:t>84</a:t>
            </a:fld>
            <a:endParaRPr lang="en-US"/>
          </a:p>
        </p:txBody>
      </p:sp>
      <p:sp>
        <p:nvSpPr>
          <p:cNvPr id="7" name="TextBox 6">
            <a:extLst>
              <a:ext uri="{FF2B5EF4-FFF2-40B4-BE49-F238E27FC236}">
                <a16:creationId xmlns:a16="http://schemas.microsoft.com/office/drawing/2014/main" id="{C0344FE5-E512-16D7-9070-53A3EEFFC1EB}"/>
              </a:ext>
            </a:extLst>
          </p:cNvPr>
          <p:cNvSpPr txBox="1"/>
          <p:nvPr/>
        </p:nvSpPr>
        <p:spPr>
          <a:xfrm>
            <a:off x="327787" y="1206066"/>
            <a:ext cx="7586001" cy="584775"/>
          </a:xfrm>
          <a:prstGeom prst="rect">
            <a:avLst/>
          </a:prstGeom>
          <a:noFill/>
        </p:spPr>
        <p:txBody>
          <a:bodyPr wrap="square" rtlCol="0">
            <a:spAutoFit/>
          </a:bodyPr>
          <a:lstStyle/>
          <a:p>
            <a:r>
              <a:rPr lang="en-US" sz="1600" b="1" dirty="0"/>
              <a:t>OVER</a:t>
            </a:r>
            <a:r>
              <a:rPr lang="en-US" sz="1600" dirty="0"/>
              <a:t> Performs aggregate or ranking calculations over a "window" of rows while keeping all individual rows in the result set (unlike GROUP BY which collapses rows).</a:t>
            </a:r>
          </a:p>
        </p:txBody>
      </p:sp>
      <p:sp>
        <p:nvSpPr>
          <p:cNvPr id="6" name="TextBox 5">
            <a:extLst>
              <a:ext uri="{FF2B5EF4-FFF2-40B4-BE49-F238E27FC236}">
                <a16:creationId xmlns:a16="http://schemas.microsoft.com/office/drawing/2014/main" id="{2DE7D0B9-BD1C-3342-1729-48D779D93830}"/>
              </a:ext>
            </a:extLst>
          </p:cNvPr>
          <p:cNvSpPr txBox="1"/>
          <p:nvPr/>
        </p:nvSpPr>
        <p:spPr>
          <a:xfrm>
            <a:off x="418988" y="2088081"/>
            <a:ext cx="6639037" cy="4031873"/>
          </a:xfrm>
          <a:prstGeom prst="rect">
            <a:avLst/>
          </a:prstGeom>
          <a:noFill/>
        </p:spPr>
        <p:txBody>
          <a:bodyPr wrap="square" rtlCol="0">
            <a:spAutoFit/>
          </a:bodyPr>
          <a:lstStyle/>
          <a:p>
            <a:r>
              <a:rPr lang="en-US" sz="1600" dirty="0"/>
              <a:t>-- Add total player count to every row without GROUP BY</a:t>
            </a:r>
          </a:p>
          <a:p>
            <a:r>
              <a:rPr lang="en-US" sz="1600" dirty="0"/>
              <a:t>SELECT FirstName,</a:t>
            </a:r>
          </a:p>
          <a:p>
            <a:r>
              <a:rPr lang="en-US" sz="1600" dirty="0"/>
              <a:t>                 LastName,</a:t>
            </a:r>
          </a:p>
          <a:p>
            <a:r>
              <a:rPr lang="en-US" sz="1600" dirty="0"/>
              <a:t>                 </a:t>
            </a:r>
            <a:r>
              <a:rPr lang="en-US" sz="1600" dirty="0" err="1"/>
              <a:t>TeamId</a:t>
            </a:r>
            <a:r>
              <a:rPr lang="en-US" sz="1600" dirty="0"/>
              <a:t>,</a:t>
            </a:r>
          </a:p>
          <a:p>
            <a:r>
              <a:rPr lang="en-US" sz="1600" dirty="0"/>
              <a:t>                 COUNT(*) </a:t>
            </a:r>
            <a:r>
              <a:rPr lang="en-US" sz="1600" b="1" dirty="0"/>
              <a:t>OVER () </a:t>
            </a:r>
            <a:r>
              <a:rPr lang="en-US" sz="1600" dirty="0"/>
              <a:t>AS </a:t>
            </a:r>
            <a:r>
              <a:rPr lang="en-US" sz="1600" dirty="0" err="1"/>
              <a:t>TotalPlayers</a:t>
            </a:r>
            <a:endParaRPr lang="en-US" sz="1600" dirty="0"/>
          </a:p>
          <a:p>
            <a:r>
              <a:rPr lang="en-US" sz="1600" dirty="0"/>
              <a:t>FROM </a:t>
            </a:r>
            <a:r>
              <a:rPr lang="en-US" sz="1600" dirty="0" err="1"/>
              <a:t>dbo.Player</a:t>
            </a:r>
            <a:r>
              <a:rPr lang="en-US" sz="1600" dirty="0"/>
              <a:t>;</a:t>
            </a:r>
          </a:p>
          <a:p>
            <a:endParaRPr lang="en-US" sz="1600" dirty="0"/>
          </a:p>
          <a:p>
            <a:r>
              <a:rPr lang="en-US" sz="1600" dirty="0"/>
              <a:t>-- Count players per team, showing on each player row</a:t>
            </a:r>
          </a:p>
          <a:p>
            <a:r>
              <a:rPr lang="en-US" sz="1600" dirty="0"/>
              <a:t>SELECT </a:t>
            </a:r>
            <a:r>
              <a:rPr lang="en-US" sz="1600" dirty="0" err="1"/>
              <a:t>p.FirstName</a:t>
            </a:r>
            <a:r>
              <a:rPr lang="en-US" sz="1600" dirty="0"/>
              <a:t>,</a:t>
            </a:r>
          </a:p>
          <a:p>
            <a:r>
              <a:rPr lang="en-US" sz="1600" dirty="0"/>
              <a:t>                 </a:t>
            </a:r>
            <a:r>
              <a:rPr lang="en-US" sz="1600" dirty="0" err="1"/>
              <a:t>p.LastName</a:t>
            </a:r>
            <a:r>
              <a:rPr lang="en-US" sz="1600" dirty="0"/>
              <a:t>,</a:t>
            </a:r>
          </a:p>
          <a:p>
            <a:r>
              <a:rPr lang="en-US" sz="1600" dirty="0"/>
              <a:t>                 </a:t>
            </a:r>
            <a:r>
              <a:rPr lang="en-US" sz="1600" dirty="0" err="1"/>
              <a:t>t.Name</a:t>
            </a:r>
            <a:r>
              <a:rPr lang="en-US" sz="1600" dirty="0"/>
              <a:t> AS </a:t>
            </a:r>
            <a:r>
              <a:rPr lang="en-US" sz="1600" dirty="0" err="1"/>
              <a:t>TeamName</a:t>
            </a:r>
            <a:r>
              <a:rPr lang="en-US" sz="1600" dirty="0"/>
              <a:t>,</a:t>
            </a:r>
          </a:p>
          <a:p>
            <a:r>
              <a:rPr lang="en-US" sz="1600" dirty="0"/>
              <a:t>                 COUNT(*) </a:t>
            </a:r>
            <a:r>
              <a:rPr lang="en-US" sz="1600" b="1" dirty="0"/>
              <a:t>OVER</a:t>
            </a:r>
            <a:r>
              <a:rPr lang="en-US" sz="1600" dirty="0"/>
              <a:t> (</a:t>
            </a:r>
            <a:r>
              <a:rPr lang="en-US" sz="1600" b="1" dirty="0"/>
              <a:t>PARTITION BY</a:t>
            </a:r>
            <a:r>
              <a:rPr lang="en-US" sz="1600" dirty="0"/>
              <a:t> </a:t>
            </a:r>
            <a:r>
              <a:rPr lang="en-US" sz="1600" dirty="0" err="1"/>
              <a:t>p.TeamId</a:t>
            </a:r>
            <a:r>
              <a:rPr lang="en-US" sz="1600" dirty="0"/>
              <a:t>) AS </a:t>
            </a:r>
            <a:r>
              <a:rPr lang="en-US" sz="1600" dirty="0" err="1"/>
              <a:t>TeamPlayerCount</a:t>
            </a:r>
            <a:endParaRPr lang="en-US" sz="1600" dirty="0"/>
          </a:p>
          <a:p>
            <a:r>
              <a:rPr lang="en-US" sz="1600" dirty="0"/>
              <a:t>FROM </a:t>
            </a:r>
            <a:r>
              <a:rPr lang="en-US" sz="1600" dirty="0" err="1"/>
              <a:t>dbo.Player</a:t>
            </a:r>
            <a:r>
              <a:rPr lang="en-US" sz="1600" dirty="0"/>
              <a:t> p</a:t>
            </a:r>
          </a:p>
          <a:p>
            <a:r>
              <a:rPr lang="en-US" sz="1600" dirty="0"/>
              <a:t>JOIN </a:t>
            </a:r>
            <a:r>
              <a:rPr lang="en-US" sz="1600" dirty="0" err="1"/>
              <a:t>dbo.Team</a:t>
            </a:r>
            <a:r>
              <a:rPr lang="en-US" sz="1600" dirty="0"/>
              <a:t> t ON </a:t>
            </a:r>
            <a:r>
              <a:rPr lang="en-US" sz="1600" dirty="0" err="1"/>
              <a:t>p.TeamId</a:t>
            </a:r>
            <a:r>
              <a:rPr lang="en-US" sz="1600" dirty="0"/>
              <a:t> = </a:t>
            </a:r>
            <a:r>
              <a:rPr lang="en-US" sz="1600" dirty="0" err="1"/>
              <a:t>t.Id</a:t>
            </a:r>
            <a:endParaRPr lang="en-US" sz="1600" dirty="0"/>
          </a:p>
          <a:p>
            <a:r>
              <a:rPr lang="en-US" sz="1600" dirty="0"/>
              <a:t>ORDER BY </a:t>
            </a:r>
            <a:r>
              <a:rPr lang="en-US" sz="1600" dirty="0" err="1"/>
              <a:t>t.Name</a:t>
            </a:r>
            <a:r>
              <a:rPr lang="en-US" sz="1600" dirty="0"/>
              <a:t>, </a:t>
            </a:r>
            <a:r>
              <a:rPr lang="en-US" sz="1600" dirty="0" err="1"/>
              <a:t>p.LastName</a:t>
            </a:r>
            <a:r>
              <a:rPr lang="en-US" sz="1600" dirty="0"/>
              <a:t>;</a:t>
            </a:r>
          </a:p>
          <a:p>
            <a:endParaRPr lang="en-US" sz="1600" dirty="0"/>
          </a:p>
        </p:txBody>
      </p:sp>
      <p:sp>
        <p:nvSpPr>
          <p:cNvPr id="12" name="TextBox 11">
            <a:extLst>
              <a:ext uri="{FF2B5EF4-FFF2-40B4-BE49-F238E27FC236}">
                <a16:creationId xmlns:a16="http://schemas.microsoft.com/office/drawing/2014/main" id="{80E0E939-A3F6-41E1-BACF-30A781D96426}"/>
              </a:ext>
            </a:extLst>
          </p:cNvPr>
          <p:cNvSpPr txBox="1"/>
          <p:nvPr/>
        </p:nvSpPr>
        <p:spPr>
          <a:xfrm>
            <a:off x="7913788" y="3475315"/>
            <a:ext cx="1501996" cy="369332"/>
          </a:xfrm>
          <a:prstGeom prst="rect">
            <a:avLst/>
          </a:prstGeom>
          <a:noFill/>
        </p:spPr>
        <p:txBody>
          <a:bodyPr wrap="square" rtlCol="0">
            <a:spAutoFit/>
          </a:bodyPr>
          <a:lstStyle/>
          <a:p>
            <a:r>
              <a:rPr lang="en-US" b="1" dirty="0"/>
              <a:t>Demo this!</a:t>
            </a:r>
          </a:p>
        </p:txBody>
      </p:sp>
    </p:spTree>
    <p:extLst>
      <p:ext uri="{BB962C8B-B14F-4D97-AF65-F5344CB8AC3E}">
        <p14:creationId xmlns:p14="http://schemas.microsoft.com/office/powerpoint/2010/main" val="18192411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9351-2033-A284-6DD0-31C8AE8CE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1B429-F9EA-C5B2-B7D6-26CE8CED6616}"/>
              </a:ext>
            </a:extLst>
          </p:cNvPr>
          <p:cNvSpPr>
            <a:spLocks noGrp="1"/>
          </p:cNvSpPr>
          <p:nvPr>
            <p:ph type="title"/>
          </p:nvPr>
        </p:nvSpPr>
        <p:spPr/>
        <p:txBody>
          <a:bodyPr>
            <a:normAutofit fontScale="90000"/>
          </a:bodyPr>
          <a:lstStyle/>
          <a:p>
            <a:r>
              <a:rPr lang="en-US" b="1" dirty="0"/>
              <a:t>OVER Clause – part 2</a:t>
            </a:r>
            <a:endParaRPr lang="en-US" dirty="0"/>
          </a:p>
        </p:txBody>
      </p:sp>
      <p:sp>
        <p:nvSpPr>
          <p:cNvPr id="3" name="Content Placeholder 2">
            <a:extLst>
              <a:ext uri="{FF2B5EF4-FFF2-40B4-BE49-F238E27FC236}">
                <a16:creationId xmlns:a16="http://schemas.microsoft.com/office/drawing/2014/main" id="{FE051929-CCED-E19F-5E0F-CFADA24AF86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54191BE7-572A-1FD1-6734-D8D85E0282B0}"/>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2635BE10-87BA-A95B-C05E-2A0EF3DDCA22}"/>
              </a:ext>
            </a:extLst>
          </p:cNvPr>
          <p:cNvSpPr>
            <a:spLocks noGrp="1"/>
          </p:cNvSpPr>
          <p:nvPr>
            <p:ph type="sldNum" sz="quarter" idx="12"/>
          </p:nvPr>
        </p:nvSpPr>
        <p:spPr/>
        <p:txBody>
          <a:bodyPr/>
          <a:lstStyle/>
          <a:p>
            <a:fld id="{F6C56E59-C124-411E-B3E7-95D014FC7158}" type="slidenum">
              <a:rPr lang="en-US" smtClean="0"/>
              <a:pPr/>
              <a:t>85</a:t>
            </a:fld>
            <a:endParaRPr lang="en-US"/>
          </a:p>
        </p:txBody>
      </p:sp>
      <p:sp>
        <p:nvSpPr>
          <p:cNvPr id="7" name="TextBox 6">
            <a:extLst>
              <a:ext uri="{FF2B5EF4-FFF2-40B4-BE49-F238E27FC236}">
                <a16:creationId xmlns:a16="http://schemas.microsoft.com/office/drawing/2014/main" id="{EBB7FD21-A19B-E12E-AAAA-BD8127677B89}"/>
              </a:ext>
            </a:extLst>
          </p:cNvPr>
          <p:cNvSpPr txBox="1"/>
          <p:nvPr/>
        </p:nvSpPr>
        <p:spPr>
          <a:xfrm>
            <a:off x="327787" y="1193226"/>
            <a:ext cx="7586001" cy="646331"/>
          </a:xfrm>
          <a:prstGeom prst="rect">
            <a:avLst/>
          </a:prstGeom>
          <a:noFill/>
        </p:spPr>
        <p:txBody>
          <a:bodyPr wrap="square" rtlCol="0">
            <a:spAutoFit/>
          </a:bodyPr>
          <a:lstStyle/>
          <a:p>
            <a:r>
              <a:rPr lang="en-US" sz="1600" b="1" dirty="0"/>
              <a:t>ROW_NUMBER - </a:t>
            </a:r>
            <a:r>
              <a:rPr lang="en-US" dirty="0"/>
              <a:t>Numbers rows starting from 1, with no gaps or ties, based on the specified ORDER BY clause.</a:t>
            </a:r>
            <a:endParaRPr lang="en-US" sz="1600" dirty="0"/>
          </a:p>
        </p:txBody>
      </p:sp>
      <p:sp>
        <p:nvSpPr>
          <p:cNvPr id="6" name="TextBox 5">
            <a:extLst>
              <a:ext uri="{FF2B5EF4-FFF2-40B4-BE49-F238E27FC236}">
                <a16:creationId xmlns:a16="http://schemas.microsoft.com/office/drawing/2014/main" id="{FD3BA438-54E6-0ADC-1ABD-66263613AF1C}"/>
              </a:ext>
            </a:extLst>
          </p:cNvPr>
          <p:cNvSpPr txBox="1"/>
          <p:nvPr/>
        </p:nvSpPr>
        <p:spPr>
          <a:xfrm>
            <a:off x="801268" y="2198042"/>
            <a:ext cx="6639037" cy="3293209"/>
          </a:xfrm>
          <a:prstGeom prst="rect">
            <a:avLst/>
          </a:prstGeom>
          <a:noFill/>
        </p:spPr>
        <p:txBody>
          <a:bodyPr wrap="square" rtlCol="0">
            <a:spAutoFit/>
          </a:bodyPr>
          <a:lstStyle/>
          <a:p>
            <a:r>
              <a:rPr lang="en-US" sz="1600" dirty="0"/>
              <a:t>SELECT </a:t>
            </a:r>
          </a:p>
          <a:p>
            <a:r>
              <a:rPr lang="en-US" sz="1600" dirty="0"/>
              <a:t>    </a:t>
            </a:r>
            <a:r>
              <a:rPr lang="en-US" sz="1600" dirty="0" err="1"/>
              <a:t>t.Name</a:t>
            </a:r>
            <a:r>
              <a:rPr lang="en-US" sz="1600" dirty="0"/>
              <a:t> AS </a:t>
            </a:r>
            <a:r>
              <a:rPr lang="en-US" sz="1600" dirty="0" err="1"/>
              <a:t>TeamName</a:t>
            </a:r>
            <a:r>
              <a:rPr lang="en-US" sz="1600" dirty="0"/>
              <a:t>,</a:t>
            </a:r>
          </a:p>
          <a:p>
            <a:r>
              <a:rPr lang="en-US" sz="1600" dirty="0"/>
              <a:t>    </a:t>
            </a:r>
            <a:r>
              <a:rPr lang="en-US" sz="1600" dirty="0" err="1"/>
              <a:t>p.FirstName</a:t>
            </a:r>
            <a:r>
              <a:rPr lang="en-US" sz="1600" dirty="0"/>
              <a:t> + ' ' + </a:t>
            </a:r>
            <a:r>
              <a:rPr lang="en-US" sz="1600" dirty="0" err="1"/>
              <a:t>p.LastName</a:t>
            </a:r>
            <a:r>
              <a:rPr lang="en-US" sz="1600" dirty="0"/>
              <a:t> AS </a:t>
            </a:r>
            <a:r>
              <a:rPr lang="en-US" sz="1600" dirty="0" err="1"/>
              <a:t>PlayerName</a:t>
            </a:r>
            <a:r>
              <a:rPr lang="en-US" sz="1600" dirty="0"/>
              <a:t>,</a:t>
            </a:r>
          </a:p>
          <a:p>
            <a:r>
              <a:rPr lang="en-US" sz="1600" dirty="0"/>
              <a:t>    </a:t>
            </a:r>
            <a:r>
              <a:rPr lang="en-US" sz="1600" dirty="0" err="1"/>
              <a:t>pos.TotalPoints</a:t>
            </a:r>
            <a:r>
              <a:rPr lang="en-US" sz="1600" dirty="0"/>
              <a:t>,</a:t>
            </a:r>
          </a:p>
          <a:p>
            <a:r>
              <a:rPr lang="en-US" sz="1600" dirty="0"/>
              <a:t>    </a:t>
            </a:r>
            <a:r>
              <a:rPr lang="en-US" sz="1600" b="1" dirty="0"/>
              <a:t>ROW_NUMBER()</a:t>
            </a:r>
            <a:r>
              <a:rPr lang="en-US" sz="1600" dirty="0"/>
              <a:t> </a:t>
            </a:r>
            <a:r>
              <a:rPr lang="en-US" sz="1600" b="1" dirty="0"/>
              <a:t>OVER</a:t>
            </a:r>
            <a:r>
              <a:rPr lang="en-US" sz="1600" dirty="0"/>
              <a:t> (</a:t>
            </a:r>
          </a:p>
          <a:p>
            <a:r>
              <a:rPr lang="en-US" sz="1600" dirty="0"/>
              <a:t>        </a:t>
            </a:r>
            <a:r>
              <a:rPr lang="en-US" sz="1600" b="1" dirty="0"/>
              <a:t>PARTITION BY</a:t>
            </a:r>
            <a:r>
              <a:rPr lang="en-US" sz="1600" dirty="0"/>
              <a:t> </a:t>
            </a:r>
            <a:r>
              <a:rPr lang="en-US" sz="1600" dirty="0" err="1"/>
              <a:t>t.Id</a:t>
            </a:r>
            <a:r>
              <a:rPr lang="en-US" sz="1600" dirty="0"/>
              <a:t>       	                 -- Separate ranking per team</a:t>
            </a:r>
          </a:p>
          <a:p>
            <a:r>
              <a:rPr lang="en-US" sz="1600" dirty="0"/>
              <a:t>        </a:t>
            </a:r>
            <a:r>
              <a:rPr lang="en-US" sz="1600" b="1" dirty="0"/>
              <a:t>ORDER BY</a:t>
            </a:r>
            <a:r>
              <a:rPr lang="en-US" sz="1600" dirty="0"/>
              <a:t> </a:t>
            </a:r>
            <a:r>
              <a:rPr lang="en-US" sz="1600" dirty="0" err="1"/>
              <a:t>pos.TotalPoints</a:t>
            </a:r>
            <a:r>
              <a:rPr lang="en-US" sz="1600" dirty="0"/>
              <a:t> DESC      -- Ranked by points</a:t>
            </a:r>
          </a:p>
          <a:p>
            <a:r>
              <a:rPr lang="en-US" sz="1600" dirty="0"/>
              <a:t>    ) AS </a:t>
            </a:r>
            <a:r>
              <a:rPr lang="en-US" sz="1600" dirty="0" err="1"/>
              <a:t>TeamRank</a:t>
            </a:r>
            <a:endParaRPr lang="en-US" sz="1600" dirty="0"/>
          </a:p>
          <a:p>
            <a:r>
              <a:rPr lang="en-US" sz="1600" dirty="0"/>
              <a:t>FROM </a:t>
            </a:r>
            <a:r>
              <a:rPr lang="en-US" sz="1600" dirty="0" err="1"/>
              <a:t>dbo.Player</a:t>
            </a:r>
            <a:r>
              <a:rPr lang="en-US" sz="1600" dirty="0"/>
              <a:t> p</a:t>
            </a:r>
          </a:p>
          <a:p>
            <a:r>
              <a:rPr lang="en-US" sz="1600" dirty="0"/>
              <a:t>JOIN </a:t>
            </a:r>
            <a:r>
              <a:rPr lang="en-US" sz="1600" dirty="0" err="1"/>
              <a:t>dbo.Team</a:t>
            </a:r>
            <a:r>
              <a:rPr lang="en-US" sz="1600" dirty="0"/>
              <a:t> t ON </a:t>
            </a:r>
            <a:r>
              <a:rPr lang="en-US" sz="1600" dirty="0" err="1"/>
              <a:t>p.TeamId</a:t>
            </a:r>
            <a:r>
              <a:rPr lang="en-US" sz="1600" dirty="0"/>
              <a:t> = </a:t>
            </a:r>
            <a:r>
              <a:rPr lang="en-US" sz="1600" dirty="0" err="1"/>
              <a:t>t.Id</a:t>
            </a:r>
            <a:endParaRPr lang="en-US" sz="1600" dirty="0"/>
          </a:p>
          <a:p>
            <a:r>
              <a:rPr lang="en-US" sz="1600" dirty="0"/>
              <a:t>JOIN </a:t>
            </a:r>
            <a:r>
              <a:rPr lang="en-US" sz="1600" dirty="0" err="1"/>
              <a:t>dbo.PlayerOverallStatistics</a:t>
            </a:r>
            <a:r>
              <a:rPr lang="en-US" sz="1600" dirty="0"/>
              <a:t> pos ON </a:t>
            </a:r>
            <a:r>
              <a:rPr lang="en-US" sz="1600" dirty="0" err="1"/>
              <a:t>p.Id</a:t>
            </a:r>
            <a:r>
              <a:rPr lang="en-US" sz="1600" dirty="0"/>
              <a:t> = </a:t>
            </a:r>
            <a:r>
              <a:rPr lang="en-US" sz="1600" dirty="0" err="1"/>
              <a:t>pos.PlayerId</a:t>
            </a:r>
            <a:endParaRPr lang="en-US" sz="1600" dirty="0"/>
          </a:p>
          <a:p>
            <a:r>
              <a:rPr lang="en-US" sz="1600" dirty="0"/>
              <a:t>ORDER BY </a:t>
            </a:r>
            <a:r>
              <a:rPr lang="en-US" sz="1600" dirty="0" err="1"/>
              <a:t>t.Name</a:t>
            </a:r>
            <a:r>
              <a:rPr lang="en-US" sz="1600" dirty="0"/>
              <a:t>, </a:t>
            </a:r>
            <a:r>
              <a:rPr lang="en-US" sz="1600" dirty="0" err="1"/>
              <a:t>TeamRank</a:t>
            </a:r>
            <a:r>
              <a:rPr lang="en-US" sz="1600" dirty="0"/>
              <a:t>;</a:t>
            </a:r>
          </a:p>
          <a:p>
            <a:endParaRPr lang="en-US" sz="1600" dirty="0"/>
          </a:p>
        </p:txBody>
      </p:sp>
      <p:sp>
        <p:nvSpPr>
          <p:cNvPr id="12" name="TextBox 11">
            <a:extLst>
              <a:ext uri="{FF2B5EF4-FFF2-40B4-BE49-F238E27FC236}">
                <a16:creationId xmlns:a16="http://schemas.microsoft.com/office/drawing/2014/main" id="{74FA193E-029D-2FA1-3791-AF00194C05E9}"/>
              </a:ext>
            </a:extLst>
          </p:cNvPr>
          <p:cNvSpPr txBox="1"/>
          <p:nvPr/>
        </p:nvSpPr>
        <p:spPr>
          <a:xfrm>
            <a:off x="7913788" y="3475315"/>
            <a:ext cx="1501996" cy="369332"/>
          </a:xfrm>
          <a:prstGeom prst="rect">
            <a:avLst/>
          </a:prstGeom>
          <a:noFill/>
        </p:spPr>
        <p:txBody>
          <a:bodyPr wrap="square" rtlCol="0">
            <a:spAutoFit/>
          </a:bodyPr>
          <a:lstStyle/>
          <a:p>
            <a:r>
              <a:rPr lang="en-US" b="1" dirty="0"/>
              <a:t>Demo this!</a:t>
            </a:r>
          </a:p>
        </p:txBody>
      </p:sp>
    </p:spTree>
    <p:extLst>
      <p:ext uri="{BB962C8B-B14F-4D97-AF65-F5344CB8AC3E}">
        <p14:creationId xmlns:p14="http://schemas.microsoft.com/office/powerpoint/2010/main" val="28301667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2BCD-696A-498A-D0A3-A5B4D76CE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9307C-8E63-A353-1C36-D1ACA4D6A802}"/>
              </a:ext>
            </a:extLst>
          </p:cNvPr>
          <p:cNvSpPr>
            <a:spLocks noGrp="1"/>
          </p:cNvSpPr>
          <p:nvPr>
            <p:ph type="title"/>
          </p:nvPr>
        </p:nvSpPr>
        <p:spPr/>
        <p:txBody>
          <a:bodyPr/>
          <a:lstStyle/>
          <a:p>
            <a:r>
              <a:rPr lang="en-US" dirty="0"/>
              <a:t>Subqueries</a:t>
            </a:r>
          </a:p>
        </p:txBody>
      </p:sp>
      <p:sp>
        <p:nvSpPr>
          <p:cNvPr id="3" name="Text Placeholder 2">
            <a:extLst>
              <a:ext uri="{FF2B5EF4-FFF2-40B4-BE49-F238E27FC236}">
                <a16:creationId xmlns:a16="http://schemas.microsoft.com/office/drawing/2014/main" id="{9722ED41-CD6C-8C29-48F3-F0AE040AED57}"/>
              </a:ext>
            </a:extLst>
          </p:cNvPr>
          <p:cNvSpPr>
            <a:spLocks noGrp="1"/>
          </p:cNvSpPr>
          <p:nvPr>
            <p:ph type="body" idx="1"/>
          </p:nvPr>
        </p:nvSpPr>
        <p:spPr/>
        <p:txBody>
          <a:bodyPr/>
          <a:lstStyle/>
          <a:p>
            <a:r>
              <a:rPr lang="en-US" dirty="0"/>
              <a:t>Anything tables can do can be replaced by an inner query.</a:t>
            </a:r>
          </a:p>
        </p:txBody>
      </p:sp>
      <p:sp>
        <p:nvSpPr>
          <p:cNvPr id="4" name="Date Placeholder 3">
            <a:extLst>
              <a:ext uri="{FF2B5EF4-FFF2-40B4-BE49-F238E27FC236}">
                <a16:creationId xmlns:a16="http://schemas.microsoft.com/office/drawing/2014/main" id="{2B1F951F-D992-A1A9-CE07-E647B4527D51}"/>
              </a:ext>
            </a:extLst>
          </p:cNvPr>
          <p:cNvSpPr>
            <a:spLocks noGrp="1"/>
          </p:cNvSpPr>
          <p:nvPr>
            <p:ph type="dt" sz="half" idx="10"/>
          </p:nvPr>
        </p:nvSpPr>
        <p:spPr/>
        <p:txBody>
          <a:bodyPr/>
          <a:lstStyle/>
          <a:p>
            <a:fld id="{2913C182-2752-4C8A-971A-A0E34A11F99A}" type="datetime1">
              <a:rPr lang="en-US" smtClean="0"/>
              <a:t>1/14/2026</a:t>
            </a:fld>
            <a:endParaRPr lang="en-US"/>
          </a:p>
        </p:txBody>
      </p:sp>
      <p:sp>
        <p:nvSpPr>
          <p:cNvPr id="5" name="Slide Number Placeholder 4">
            <a:extLst>
              <a:ext uri="{FF2B5EF4-FFF2-40B4-BE49-F238E27FC236}">
                <a16:creationId xmlns:a16="http://schemas.microsoft.com/office/drawing/2014/main" id="{FFFB67A5-AE99-83E4-ACED-69947F7B2B37}"/>
              </a:ext>
            </a:extLst>
          </p:cNvPr>
          <p:cNvSpPr>
            <a:spLocks noGrp="1"/>
          </p:cNvSpPr>
          <p:nvPr>
            <p:ph type="sldNum" sz="quarter" idx="12"/>
          </p:nvPr>
        </p:nvSpPr>
        <p:spPr/>
        <p:txBody>
          <a:bodyPr/>
          <a:lstStyle/>
          <a:p>
            <a:fld id="{F6C56E59-C124-411E-B3E7-95D014FC7158}" type="slidenum">
              <a:rPr lang="en-US" smtClean="0"/>
              <a:pPr/>
              <a:t>86</a:t>
            </a:fld>
            <a:endParaRPr lang="en-US"/>
          </a:p>
        </p:txBody>
      </p:sp>
    </p:spTree>
    <p:extLst>
      <p:ext uri="{BB962C8B-B14F-4D97-AF65-F5344CB8AC3E}">
        <p14:creationId xmlns:p14="http://schemas.microsoft.com/office/powerpoint/2010/main" val="30326893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A528C-404C-57A6-6073-3853ED711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1721A-ADDF-A11C-1A0B-128DD1208558}"/>
              </a:ext>
            </a:extLst>
          </p:cNvPr>
          <p:cNvSpPr>
            <a:spLocks noGrp="1"/>
          </p:cNvSpPr>
          <p:nvPr>
            <p:ph type="title"/>
          </p:nvPr>
        </p:nvSpPr>
        <p:spPr/>
        <p:txBody>
          <a:bodyPr>
            <a:normAutofit fontScale="90000"/>
          </a:bodyPr>
          <a:lstStyle/>
          <a:p>
            <a:r>
              <a:rPr lang="en-US" b="1" dirty="0"/>
              <a:t>IN Operator</a:t>
            </a:r>
            <a:endParaRPr lang="en-US" dirty="0"/>
          </a:p>
        </p:txBody>
      </p:sp>
      <p:sp>
        <p:nvSpPr>
          <p:cNvPr id="3" name="Content Placeholder 2">
            <a:extLst>
              <a:ext uri="{FF2B5EF4-FFF2-40B4-BE49-F238E27FC236}">
                <a16:creationId xmlns:a16="http://schemas.microsoft.com/office/drawing/2014/main" id="{1165CE86-3169-DB49-B1A4-B7B8A910D8D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B6CA043-CE0C-6F12-45F5-280E5D1E42BF}"/>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DD1E852B-1FAB-84FD-A5FD-FF08BD585290}"/>
              </a:ext>
            </a:extLst>
          </p:cNvPr>
          <p:cNvSpPr>
            <a:spLocks noGrp="1"/>
          </p:cNvSpPr>
          <p:nvPr>
            <p:ph type="sldNum" sz="quarter" idx="12"/>
          </p:nvPr>
        </p:nvSpPr>
        <p:spPr/>
        <p:txBody>
          <a:bodyPr/>
          <a:lstStyle/>
          <a:p>
            <a:fld id="{F6C56E59-C124-411E-B3E7-95D014FC7158}" type="slidenum">
              <a:rPr lang="en-US" smtClean="0"/>
              <a:pPr/>
              <a:t>87</a:t>
            </a:fld>
            <a:endParaRPr lang="en-US"/>
          </a:p>
        </p:txBody>
      </p:sp>
      <p:sp>
        <p:nvSpPr>
          <p:cNvPr id="7" name="TextBox 6">
            <a:extLst>
              <a:ext uri="{FF2B5EF4-FFF2-40B4-BE49-F238E27FC236}">
                <a16:creationId xmlns:a16="http://schemas.microsoft.com/office/drawing/2014/main" id="{298428DD-BA19-C4F5-589C-6EEA846928BD}"/>
              </a:ext>
            </a:extLst>
          </p:cNvPr>
          <p:cNvSpPr txBox="1"/>
          <p:nvPr/>
        </p:nvSpPr>
        <p:spPr>
          <a:xfrm>
            <a:off x="499235" y="1297207"/>
            <a:ext cx="7586001" cy="646331"/>
          </a:xfrm>
          <a:prstGeom prst="rect">
            <a:avLst/>
          </a:prstGeom>
          <a:noFill/>
        </p:spPr>
        <p:txBody>
          <a:bodyPr wrap="square" rtlCol="0">
            <a:spAutoFit/>
          </a:bodyPr>
          <a:lstStyle/>
          <a:p>
            <a:r>
              <a:rPr lang="en-US" b="1" dirty="0"/>
              <a:t>IN</a:t>
            </a:r>
            <a:r>
              <a:rPr lang="en-US" dirty="0"/>
              <a:t> - operator tests if a value matches any value in a list or subquery.</a:t>
            </a:r>
          </a:p>
          <a:p>
            <a:r>
              <a:rPr lang="en-US" dirty="0"/>
              <a:t>NOT IN - operator tests if a value is not included in a list or subquery.</a:t>
            </a:r>
          </a:p>
        </p:txBody>
      </p:sp>
      <p:sp>
        <p:nvSpPr>
          <p:cNvPr id="6" name="TextBox 5">
            <a:extLst>
              <a:ext uri="{FF2B5EF4-FFF2-40B4-BE49-F238E27FC236}">
                <a16:creationId xmlns:a16="http://schemas.microsoft.com/office/drawing/2014/main" id="{18496954-47F6-71C9-4255-6B6698EC10B9}"/>
              </a:ext>
            </a:extLst>
          </p:cNvPr>
          <p:cNvSpPr txBox="1"/>
          <p:nvPr/>
        </p:nvSpPr>
        <p:spPr>
          <a:xfrm>
            <a:off x="2651399" y="2379787"/>
            <a:ext cx="5433837" cy="2831544"/>
          </a:xfrm>
          <a:prstGeom prst="rect">
            <a:avLst/>
          </a:prstGeom>
          <a:noFill/>
        </p:spPr>
        <p:txBody>
          <a:bodyPr wrap="square" rtlCol="0">
            <a:spAutoFit/>
          </a:bodyPr>
          <a:lstStyle/>
          <a:p>
            <a:r>
              <a:rPr lang="en-US" dirty="0"/>
              <a:t>-- Find stadiums in specific countries</a:t>
            </a:r>
          </a:p>
          <a:p>
            <a:r>
              <a:rPr lang="en-US" dirty="0"/>
              <a:t>SELECT Name, City, Country</a:t>
            </a:r>
          </a:p>
          <a:p>
            <a:r>
              <a:rPr lang="en-US" dirty="0"/>
              <a:t>FROM </a:t>
            </a:r>
            <a:r>
              <a:rPr lang="en-US" dirty="0" err="1"/>
              <a:t>dbo.Stadium</a:t>
            </a:r>
            <a:endParaRPr lang="en-US" dirty="0"/>
          </a:p>
          <a:p>
            <a:r>
              <a:rPr lang="en-US" dirty="0"/>
              <a:t>WHERE Country </a:t>
            </a:r>
            <a:r>
              <a:rPr lang="en-US" b="1" dirty="0"/>
              <a:t>IN ('US', 'CA', 'UK’)</a:t>
            </a:r>
            <a:r>
              <a:rPr lang="en-US" dirty="0"/>
              <a:t>;</a:t>
            </a:r>
          </a:p>
          <a:p>
            <a:endParaRPr lang="en-US" sz="1600" dirty="0"/>
          </a:p>
          <a:p>
            <a:r>
              <a:rPr lang="en-US" dirty="0"/>
              <a:t>-- Find teams that have played matches</a:t>
            </a:r>
          </a:p>
          <a:p>
            <a:r>
              <a:rPr lang="en-US" dirty="0"/>
              <a:t>SELECT Name</a:t>
            </a:r>
          </a:p>
          <a:p>
            <a:r>
              <a:rPr lang="en-US" dirty="0"/>
              <a:t>FROM </a:t>
            </a:r>
            <a:r>
              <a:rPr lang="en-US" dirty="0" err="1"/>
              <a:t>dbo.Team</a:t>
            </a:r>
            <a:endParaRPr lang="en-US" dirty="0"/>
          </a:p>
          <a:p>
            <a:r>
              <a:rPr lang="en-US" dirty="0"/>
              <a:t>WHERE Id </a:t>
            </a:r>
            <a:r>
              <a:rPr lang="en-US" b="1" dirty="0"/>
              <a:t>IN (SELECT DISTINCT </a:t>
            </a:r>
            <a:r>
              <a:rPr lang="en-US" b="1" dirty="0" err="1"/>
              <a:t>HomeTeamId</a:t>
            </a:r>
            <a:r>
              <a:rPr lang="en-US" b="1" dirty="0"/>
              <a:t> </a:t>
            </a:r>
          </a:p>
          <a:p>
            <a:r>
              <a:rPr lang="en-US" b="1" dirty="0"/>
              <a:t>                              FROM </a:t>
            </a:r>
            <a:r>
              <a:rPr lang="en-US" b="1" dirty="0" err="1"/>
              <a:t>dbo.Match</a:t>
            </a:r>
            <a:r>
              <a:rPr lang="en-US" b="1" dirty="0"/>
              <a:t>)</a:t>
            </a:r>
            <a:r>
              <a:rPr lang="en-US" dirty="0"/>
              <a:t>;</a:t>
            </a:r>
          </a:p>
        </p:txBody>
      </p:sp>
    </p:spTree>
    <p:extLst>
      <p:ext uri="{BB962C8B-B14F-4D97-AF65-F5344CB8AC3E}">
        <p14:creationId xmlns:p14="http://schemas.microsoft.com/office/powerpoint/2010/main" val="26721422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4DB5-BC33-11D6-7D57-308CD2CCB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C4291-C010-FF29-0EBC-FB5966612712}"/>
              </a:ext>
            </a:extLst>
          </p:cNvPr>
          <p:cNvSpPr>
            <a:spLocks noGrp="1"/>
          </p:cNvSpPr>
          <p:nvPr>
            <p:ph type="title"/>
          </p:nvPr>
        </p:nvSpPr>
        <p:spPr/>
        <p:txBody>
          <a:bodyPr>
            <a:normAutofit fontScale="90000"/>
          </a:bodyPr>
          <a:lstStyle/>
          <a:p>
            <a:r>
              <a:rPr lang="en-US" b="1" dirty="0"/>
              <a:t>Two Ways to Solve a Problem</a:t>
            </a:r>
            <a:endParaRPr lang="en-US" dirty="0"/>
          </a:p>
        </p:txBody>
      </p:sp>
      <p:sp>
        <p:nvSpPr>
          <p:cNvPr id="3" name="Content Placeholder 2">
            <a:extLst>
              <a:ext uri="{FF2B5EF4-FFF2-40B4-BE49-F238E27FC236}">
                <a16:creationId xmlns:a16="http://schemas.microsoft.com/office/drawing/2014/main" id="{4180AB78-176F-9652-4771-35ED9C43AF31}"/>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731E33F4-AD0A-8F43-BAA2-FE32C355D38F}"/>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F385CCBD-B5CC-9BB2-53EA-38A491BEFC5E}"/>
              </a:ext>
            </a:extLst>
          </p:cNvPr>
          <p:cNvSpPr>
            <a:spLocks noGrp="1"/>
          </p:cNvSpPr>
          <p:nvPr>
            <p:ph type="sldNum" sz="quarter" idx="12"/>
          </p:nvPr>
        </p:nvSpPr>
        <p:spPr/>
        <p:txBody>
          <a:bodyPr/>
          <a:lstStyle/>
          <a:p>
            <a:fld id="{F6C56E59-C124-411E-B3E7-95D014FC7158}" type="slidenum">
              <a:rPr lang="en-US" smtClean="0"/>
              <a:pPr/>
              <a:t>88</a:t>
            </a:fld>
            <a:endParaRPr lang="en-US"/>
          </a:p>
        </p:txBody>
      </p:sp>
      <p:sp>
        <p:nvSpPr>
          <p:cNvPr id="7" name="TextBox 6">
            <a:extLst>
              <a:ext uri="{FF2B5EF4-FFF2-40B4-BE49-F238E27FC236}">
                <a16:creationId xmlns:a16="http://schemas.microsoft.com/office/drawing/2014/main" id="{F7914FB5-C995-0746-04B1-CCB1722DA8A9}"/>
              </a:ext>
            </a:extLst>
          </p:cNvPr>
          <p:cNvSpPr txBox="1"/>
          <p:nvPr/>
        </p:nvSpPr>
        <p:spPr>
          <a:xfrm>
            <a:off x="499235" y="1297207"/>
            <a:ext cx="7586001" cy="646331"/>
          </a:xfrm>
          <a:prstGeom prst="rect">
            <a:avLst/>
          </a:prstGeom>
          <a:noFill/>
        </p:spPr>
        <p:txBody>
          <a:bodyPr wrap="square" rtlCol="0">
            <a:spAutoFit/>
          </a:bodyPr>
          <a:lstStyle/>
          <a:p>
            <a:r>
              <a:rPr lang="en-US" b="1" dirty="0"/>
              <a:t>IN</a:t>
            </a:r>
            <a:r>
              <a:rPr lang="en-US" dirty="0"/>
              <a:t> - operator tests if a value matches any value in a list or subquery.</a:t>
            </a:r>
          </a:p>
          <a:p>
            <a:r>
              <a:rPr lang="en-US" dirty="0"/>
              <a:t>NOT IN - operator tests if a value is not included in a list or subquery.</a:t>
            </a:r>
          </a:p>
        </p:txBody>
      </p:sp>
      <p:sp>
        <p:nvSpPr>
          <p:cNvPr id="6" name="TextBox 5">
            <a:extLst>
              <a:ext uri="{FF2B5EF4-FFF2-40B4-BE49-F238E27FC236}">
                <a16:creationId xmlns:a16="http://schemas.microsoft.com/office/drawing/2014/main" id="{C822598E-6BCB-2A25-BB63-5BA29375622A}"/>
              </a:ext>
            </a:extLst>
          </p:cNvPr>
          <p:cNvSpPr txBox="1"/>
          <p:nvPr/>
        </p:nvSpPr>
        <p:spPr>
          <a:xfrm>
            <a:off x="2651399" y="2355724"/>
            <a:ext cx="5433837" cy="2862322"/>
          </a:xfrm>
          <a:prstGeom prst="rect">
            <a:avLst/>
          </a:prstGeom>
          <a:noFill/>
        </p:spPr>
        <p:txBody>
          <a:bodyPr wrap="square" rtlCol="0">
            <a:spAutoFit/>
          </a:bodyPr>
          <a:lstStyle/>
          <a:p>
            <a:r>
              <a:rPr lang="en-US" dirty="0"/>
              <a:t>-- Find teams that have played matches</a:t>
            </a:r>
          </a:p>
          <a:p>
            <a:r>
              <a:rPr lang="en-US" dirty="0"/>
              <a:t>SELECT Name</a:t>
            </a:r>
          </a:p>
          <a:p>
            <a:r>
              <a:rPr lang="en-US" dirty="0"/>
              <a:t>FROM </a:t>
            </a:r>
            <a:r>
              <a:rPr lang="en-US" dirty="0" err="1"/>
              <a:t>dbo.Team</a:t>
            </a:r>
            <a:endParaRPr lang="en-US" dirty="0"/>
          </a:p>
          <a:p>
            <a:r>
              <a:rPr lang="en-US" dirty="0"/>
              <a:t>WHERE Id </a:t>
            </a:r>
            <a:r>
              <a:rPr lang="en-US" b="1" dirty="0"/>
              <a:t>IN (SELECT DISTINCT </a:t>
            </a:r>
            <a:r>
              <a:rPr lang="en-US" b="1" dirty="0" err="1"/>
              <a:t>HomeTeamId</a:t>
            </a:r>
            <a:r>
              <a:rPr lang="en-US" b="1" dirty="0"/>
              <a:t> </a:t>
            </a:r>
          </a:p>
          <a:p>
            <a:r>
              <a:rPr lang="en-US" b="1" dirty="0"/>
              <a:t>                              FROM </a:t>
            </a:r>
            <a:r>
              <a:rPr lang="en-US" b="1" dirty="0" err="1"/>
              <a:t>dbo.Match</a:t>
            </a:r>
            <a:r>
              <a:rPr lang="en-US" b="1" dirty="0"/>
              <a:t>)</a:t>
            </a:r>
            <a:r>
              <a:rPr lang="en-US" dirty="0"/>
              <a:t>;</a:t>
            </a:r>
          </a:p>
          <a:p>
            <a:endParaRPr lang="en-US" dirty="0"/>
          </a:p>
          <a:p>
            <a:r>
              <a:rPr lang="en-US" dirty="0"/>
              <a:t>-- Find teams that have played matches (using JOIN)</a:t>
            </a:r>
          </a:p>
          <a:p>
            <a:r>
              <a:rPr lang="en-US" dirty="0"/>
              <a:t>SELECT DISTINCT </a:t>
            </a:r>
            <a:r>
              <a:rPr lang="en-US" dirty="0" err="1"/>
              <a:t>t.Name</a:t>
            </a:r>
            <a:endParaRPr lang="en-US" dirty="0"/>
          </a:p>
          <a:p>
            <a:r>
              <a:rPr lang="en-US" dirty="0"/>
              <a:t>FROM </a:t>
            </a:r>
            <a:r>
              <a:rPr lang="en-US" dirty="0" err="1"/>
              <a:t>dbo.Team</a:t>
            </a:r>
            <a:r>
              <a:rPr lang="en-US" dirty="0"/>
              <a:t> t</a:t>
            </a:r>
          </a:p>
          <a:p>
            <a:r>
              <a:rPr lang="en-US" dirty="0"/>
              <a:t>INNER JOIN </a:t>
            </a:r>
            <a:r>
              <a:rPr lang="en-US" dirty="0" err="1"/>
              <a:t>dbo.Match</a:t>
            </a:r>
            <a:r>
              <a:rPr lang="en-US" dirty="0"/>
              <a:t> m ON </a:t>
            </a:r>
            <a:r>
              <a:rPr lang="en-US" dirty="0" err="1"/>
              <a:t>t.Id</a:t>
            </a:r>
            <a:r>
              <a:rPr lang="en-US" dirty="0"/>
              <a:t> = </a:t>
            </a:r>
            <a:r>
              <a:rPr lang="en-US" dirty="0" err="1"/>
              <a:t>m.HomeTeamId</a:t>
            </a:r>
            <a:r>
              <a:rPr lang="en-US" dirty="0"/>
              <a:t>;</a:t>
            </a:r>
          </a:p>
        </p:txBody>
      </p:sp>
    </p:spTree>
    <p:extLst>
      <p:ext uri="{BB962C8B-B14F-4D97-AF65-F5344CB8AC3E}">
        <p14:creationId xmlns:p14="http://schemas.microsoft.com/office/powerpoint/2010/main" val="23169815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87755-C164-7CB9-5965-772616053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8FFFC-D888-8989-32A3-16D41123F3DD}"/>
              </a:ext>
            </a:extLst>
          </p:cNvPr>
          <p:cNvSpPr>
            <a:spLocks noGrp="1"/>
          </p:cNvSpPr>
          <p:nvPr>
            <p:ph type="title"/>
          </p:nvPr>
        </p:nvSpPr>
        <p:spPr/>
        <p:txBody>
          <a:bodyPr>
            <a:normAutofit fontScale="90000"/>
          </a:bodyPr>
          <a:lstStyle/>
          <a:p>
            <a:r>
              <a:rPr lang="en-US" b="1" dirty="0"/>
              <a:t>Subquery in Comparison</a:t>
            </a:r>
            <a:endParaRPr lang="en-US" dirty="0"/>
          </a:p>
        </p:txBody>
      </p:sp>
      <p:sp>
        <p:nvSpPr>
          <p:cNvPr id="3" name="Content Placeholder 2">
            <a:extLst>
              <a:ext uri="{FF2B5EF4-FFF2-40B4-BE49-F238E27FC236}">
                <a16:creationId xmlns:a16="http://schemas.microsoft.com/office/drawing/2014/main" id="{C2EAC6CB-E1C6-D675-C8E0-FE43931C6220}"/>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A5F2AAD-B241-F2F5-1906-055DCC7721FE}"/>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371EB64A-AAA7-C8CD-5D22-86DEE95C7766}"/>
              </a:ext>
            </a:extLst>
          </p:cNvPr>
          <p:cNvSpPr>
            <a:spLocks noGrp="1"/>
          </p:cNvSpPr>
          <p:nvPr>
            <p:ph type="sldNum" sz="quarter" idx="12"/>
          </p:nvPr>
        </p:nvSpPr>
        <p:spPr/>
        <p:txBody>
          <a:bodyPr/>
          <a:lstStyle/>
          <a:p>
            <a:fld id="{F6C56E59-C124-411E-B3E7-95D014FC7158}" type="slidenum">
              <a:rPr lang="en-US" smtClean="0"/>
              <a:pPr/>
              <a:t>89</a:t>
            </a:fld>
            <a:endParaRPr lang="en-US"/>
          </a:p>
        </p:txBody>
      </p:sp>
      <p:sp>
        <p:nvSpPr>
          <p:cNvPr id="7" name="TextBox 6">
            <a:extLst>
              <a:ext uri="{FF2B5EF4-FFF2-40B4-BE49-F238E27FC236}">
                <a16:creationId xmlns:a16="http://schemas.microsoft.com/office/drawing/2014/main" id="{0BDB7FF5-ECBD-5184-4781-493470F6D9A8}"/>
              </a:ext>
            </a:extLst>
          </p:cNvPr>
          <p:cNvSpPr txBox="1"/>
          <p:nvPr/>
        </p:nvSpPr>
        <p:spPr>
          <a:xfrm>
            <a:off x="499235" y="1297207"/>
            <a:ext cx="7586001" cy="646331"/>
          </a:xfrm>
          <a:prstGeom prst="rect">
            <a:avLst/>
          </a:prstGeom>
          <a:noFill/>
        </p:spPr>
        <p:txBody>
          <a:bodyPr wrap="square" rtlCol="0">
            <a:spAutoFit/>
          </a:bodyPr>
          <a:lstStyle/>
          <a:p>
            <a:r>
              <a:rPr lang="en-US" b="1" dirty="0"/>
              <a:t>IN</a:t>
            </a:r>
            <a:r>
              <a:rPr lang="en-US" dirty="0"/>
              <a:t> - operator tests if a value matches any value in a list or subquery.</a:t>
            </a:r>
          </a:p>
          <a:p>
            <a:r>
              <a:rPr lang="en-US" dirty="0"/>
              <a:t>NOT IN - operator tests if a value is not included in a list or subquery.</a:t>
            </a:r>
          </a:p>
        </p:txBody>
      </p:sp>
      <p:sp>
        <p:nvSpPr>
          <p:cNvPr id="6" name="TextBox 5">
            <a:extLst>
              <a:ext uri="{FF2B5EF4-FFF2-40B4-BE49-F238E27FC236}">
                <a16:creationId xmlns:a16="http://schemas.microsoft.com/office/drawing/2014/main" id="{A5BF9CF0-EF9B-3DAA-AA8B-5DA2E3365F8C}"/>
              </a:ext>
            </a:extLst>
          </p:cNvPr>
          <p:cNvSpPr txBox="1"/>
          <p:nvPr/>
        </p:nvSpPr>
        <p:spPr>
          <a:xfrm>
            <a:off x="2651399" y="2355724"/>
            <a:ext cx="5433837" cy="2308324"/>
          </a:xfrm>
          <a:prstGeom prst="rect">
            <a:avLst/>
          </a:prstGeom>
          <a:noFill/>
        </p:spPr>
        <p:txBody>
          <a:bodyPr wrap="square" rtlCol="0">
            <a:spAutoFit/>
          </a:bodyPr>
          <a:lstStyle/>
          <a:p>
            <a:r>
              <a:rPr lang="en-US" dirty="0"/>
              <a:t>-- Stadiums with above-average capacity</a:t>
            </a:r>
          </a:p>
          <a:p>
            <a:r>
              <a:rPr lang="en-US" dirty="0"/>
              <a:t>SELECT Name,</a:t>
            </a:r>
          </a:p>
          <a:p>
            <a:r>
              <a:rPr lang="en-US" dirty="0"/>
              <a:t>                 City,</a:t>
            </a:r>
          </a:p>
          <a:p>
            <a:r>
              <a:rPr lang="en-US" dirty="0"/>
              <a:t>                 Capacity</a:t>
            </a:r>
          </a:p>
          <a:p>
            <a:r>
              <a:rPr lang="en-US" dirty="0"/>
              <a:t>FROM </a:t>
            </a:r>
            <a:r>
              <a:rPr lang="en-US" dirty="0" err="1"/>
              <a:t>dbo.Stadium</a:t>
            </a:r>
            <a:endParaRPr lang="en-US" dirty="0"/>
          </a:p>
          <a:p>
            <a:r>
              <a:rPr lang="en-US" dirty="0"/>
              <a:t>WHERE Capacity &gt; (SELECT AVG(Capacity) </a:t>
            </a:r>
          </a:p>
          <a:p>
            <a:r>
              <a:rPr lang="en-US" dirty="0"/>
              <a:t>                                          FROM </a:t>
            </a:r>
            <a:r>
              <a:rPr lang="en-US" dirty="0" err="1"/>
              <a:t>dbo.Stadium</a:t>
            </a:r>
            <a:r>
              <a:rPr lang="en-US" dirty="0"/>
              <a:t>)</a:t>
            </a:r>
          </a:p>
          <a:p>
            <a:r>
              <a:rPr lang="en-US" dirty="0"/>
              <a:t>ORDER BY Capacity DESC;</a:t>
            </a:r>
          </a:p>
        </p:txBody>
      </p:sp>
    </p:spTree>
    <p:extLst>
      <p:ext uri="{BB962C8B-B14F-4D97-AF65-F5344CB8AC3E}">
        <p14:creationId xmlns:p14="http://schemas.microsoft.com/office/powerpoint/2010/main" val="11636146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E5E43-B6F3-B7A2-0468-E614B8FD8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90E1D-8783-D86F-43E7-F90F73F5AA4C}"/>
              </a:ext>
            </a:extLst>
          </p:cNvPr>
          <p:cNvSpPr>
            <a:spLocks noGrp="1"/>
          </p:cNvSpPr>
          <p:nvPr>
            <p:ph type="title"/>
          </p:nvPr>
        </p:nvSpPr>
        <p:spPr/>
        <p:txBody>
          <a:bodyPr>
            <a:normAutofit fontScale="90000"/>
          </a:bodyPr>
          <a:lstStyle/>
          <a:p>
            <a:r>
              <a:rPr lang="en-US" b="1" dirty="0"/>
              <a:t>ALL, ANY and SOME Operators</a:t>
            </a:r>
            <a:endParaRPr lang="en-US" dirty="0"/>
          </a:p>
        </p:txBody>
      </p:sp>
      <p:sp>
        <p:nvSpPr>
          <p:cNvPr id="3" name="Content Placeholder 2">
            <a:extLst>
              <a:ext uri="{FF2B5EF4-FFF2-40B4-BE49-F238E27FC236}">
                <a16:creationId xmlns:a16="http://schemas.microsoft.com/office/drawing/2014/main" id="{E86CD2A7-922E-86CB-7A01-3C52EAE063B4}"/>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DD35D1AB-FE28-18B3-1A25-7C34A3A544D5}"/>
              </a:ext>
            </a:extLst>
          </p:cNvPr>
          <p:cNvSpPr>
            <a:spLocks noGrp="1"/>
          </p:cNvSpPr>
          <p:nvPr>
            <p:ph type="dt" sz="half" idx="10"/>
          </p:nvPr>
        </p:nvSpPr>
        <p:spPr/>
        <p:txBody>
          <a:bodyPr/>
          <a:lstStyle/>
          <a:p>
            <a:fld id="{77CA23B6-146D-4CC0-B8BF-2383AD3B5353}" type="datetime1">
              <a:rPr lang="en-US" smtClean="0"/>
              <a:t>1/14/2026</a:t>
            </a:fld>
            <a:endParaRPr lang="en-US"/>
          </a:p>
        </p:txBody>
      </p:sp>
      <p:sp>
        <p:nvSpPr>
          <p:cNvPr id="5" name="Slide Number Placeholder 4">
            <a:extLst>
              <a:ext uri="{FF2B5EF4-FFF2-40B4-BE49-F238E27FC236}">
                <a16:creationId xmlns:a16="http://schemas.microsoft.com/office/drawing/2014/main" id="{62F9DBAB-07C3-7791-A056-F9EC2DB1D341}"/>
              </a:ext>
            </a:extLst>
          </p:cNvPr>
          <p:cNvSpPr>
            <a:spLocks noGrp="1"/>
          </p:cNvSpPr>
          <p:nvPr>
            <p:ph type="sldNum" sz="quarter" idx="12"/>
          </p:nvPr>
        </p:nvSpPr>
        <p:spPr/>
        <p:txBody>
          <a:bodyPr/>
          <a:lstStyle/>
          <a:p>
            <a:fld id="{F6C56E59-C124-411E-B3E7-95D014FC7158}" type="slidenum">
              <a:rPr lang="en-US" smtClean="0"/>
              <a:pPr/>
              <a:t>90</a:t>
            </a:fld>
            <a:endParaRPr lang="en-US"/>
          </a:p>
        </p:txBody>
      </p:sp>
      <p:sp>
        <p:nvSpPr>
          <p:cNvPr id="7" name="TextBox 6">
            <a:extLst>
              <a:ext uri="{FF2B5EF4-FFF2-40B4-BE49-F238E27FC236}">
                <a16:creationId xmlns:a16="http://schemas.microsoft.com/office/drawing/2014/main" id="{B7290C4F-2F4A-0721-5753-BFCF7CF16566}"/>
              </a:ext>
            </a:extLst>
          </p:cNvPr>
          <p:cNvSpPr txBox="1"/>
          <p:nvPr/>
        </p:nvSpPr>
        <p:spPr>
          <a:xfrm>
            <a:off x="499235" y="1297207"/>
            <a:ext cx="6250481" cy="3139321"/>
          </a:xfrm>
          <a:prstGeom prst="rect">
            <a:avLst/>
          </a:prstGeom>
          <a:noFill/>
        </p:spPr>
        <p:txBody>
          <a:bodyPr wrap="square" rtlCol="0">
            <a:spAutoFit/>
          </a:bodyPr>
          <a:lstStyle/>
          <a:p>
            <a:r>
              <a:rPr lang="en-US" b="1" dirty="0"/>
              <a:t>ANY</a:t>
            </a:r>
            <a:r>
              <a:rPr lang="en-US" dirty="0"/>
              <a:t> and </a:t>
            </a:r>
            <a:r>
              <a:rPr lang="en-US" b="1" dirty="0"/>
              <a:t>ALL</a:t>
            </a:r>
            <a:r>
              <a:rPr lang="en-US" dirty="0"/>
              <a:t> are operators used with subqueries to compare a value against a set of values returned by the subquery.</a:t>
            </a:r>
          </a:p>
          <a:p>
            <a:endParaRPr lang="en-US" dirty="0"/>
          </a:p>
          <a:p>
            <a:r>
              <a:rPr lang="en-US" b="1" dirty="0"/>
              <a:t>ANY Operator</a:t>
            </a:r>
          </a:p>
          <a:p>
            <a:r>
              <a:rPr lang="en-US" dirty="0"/>
              <a:t>Returns TRUE if the comparison is true for </a:t>
            </a:r>
            <a:r>
              <a:rPr lang="en-US" b="1" dirty="0"/>
              <a:t>at least one</a:t>
            </a:r>
            <a:r>
              <a:rPr lang="en-US" dirty="0"/>
              <a:t> value in the subquery result.</a:t>
            </a:r>
          </a:p>
          <a:p>
            <a:endParaRPr lang="en-US" dirty="0"/>
          </a:p>
          <a:p>
            <a:r>
              <a:rPr lang="en-US" b="1" dirty="0"/>
              <a:t>ALL (SOME) Operator</a:t>
            </a:r>
          </a:p>
          <a:p>
            <a:r>
              <a:rPr lang="en-US" dirty="0"/>
              <a:t>Returns TRUE if the comparison is true for </a:t>
            </a:r>
            <a:r>
              <a:rPr lang="en-US" b="1" dirty="0"/>
              <a:t>every</a:t>
            </a:r>
            <a:r>
              <a:rPr lang="en-US" dirty="0"/>
              <a:t> value in the subquery result.</a:t>
            </a:r>
          </a:p>
          <a:p>
            <a:endParaRPr lang="en-US" dirty="0"/>
          </a:p>
        </p:txBody>
      </p:sp>
      <p:sp>
        <p:nvSpPr>
          <p:cNvPr id="6" name="TextBox 5">
            <a:extLst>
              <a:ext uri="{FF2B5EF4-FFF2-40B4-BE49-F238E27FC236}">
                <a16:creationId xmlns:a16="http://schemas.microsoft.com/office/drawing/2014/main" id="{C238EC59-EC5F-9E78-20B6-4DC66C13894B}"/>
              </a:ext>
            </a:extLst>
          </p:cNvPr>
          <p:cNvSpPr txBox="1"/>
          <p:nvPr/>
        </p:nvSpPr>
        <p:spPr>
          <a:xfrm>
            <a:off x="7022448" y="1297207"/>
            <a:ext cx="4750544" cy="2585323"/>
          </a:xfrm>
          <a:prstGeom prst="rect">
            <a:avLst/>
          </a:prstGeom>
          <a:noFill/>
        </p:spPr>
        <p:txBody>
          <a:bodyPr wrap="square" rtlCol="0">
            <a:spAutoFit/>
          </a:bodyPr>
          <a:lstStyle/>
          <a:p>
            <a:r>
              <a:rPr lang="en-US" dirty="0"/>
              <a:t>-- Stadiums with capacity greater than any US stadium</a:t>
            </a:r>
          </a:p>
          <a:p>
            <a:r>
              <a:rPr lang="en-US" dirty="0"/>
              <a:t>SELECT Name,</a:t>
            </a:r>
          </a:p>
          <a:p>
            <a:r>
              <a:rPr lang="en-US" dirty="0"/>
              <a:t>       City,</a:t>
            </a:r>
          </a:p>
          <a:p>
            <a:r>
              <a:rPr lang="en-US" dirty="0"/>
              <a:t>       Capacity</a:t>
            </a:r>
          </a:p>
          <a:p>
            <a:r>
              <a:rPr lang="en-US" dirty="0"/>
              <a:t>FROM </a:t>
            </a:r>
            <a:r>
              <a:rPr lang="en-US" dirty="0" err="1"/>
              <a:t>dbo.Stadium</a:t>
            </a:r>
            <a:endParaRPr lang="en-US" dirty="0"/>
          </a:p>
          <a:p>
            <a:r>
              <a:rPr lang="en-US" dirty="0"/>
              <a:t>WHERE Capacity &gt; </a:t>
            </a:r>
            <a:r>
              <a:rPr lang="en-US" b="1" dirty="0"/>
              <a:t>ANY</a:t>
            </a:r>
            <a:r>
              <a:rPr lang="en-US" dirty="0"/>
              <a:t> (SELECT Capacity</a:t>
            </a:r>
          </a:p>
          <a:p>
            <a:r>
              <a:rPr lang="en-US" dirty="0"/>
              <a:t>                      FROM </a:t>
            </a:r>
            <a:r>
              <a:rPr lang="en-US" dirty="0" err="1"/>
              <a:t>dbo.Stadium</a:t>
            </a:r>
            <a:endParaRPr lang="en-US" dirty="0"/>
          </a:p>
          <a:p>
            <a:r>
              <a:rPr lang="en-US" dirty="0"/>
              <a:t>                      WHERE Country = 'US');</a:t>
            </a:r>
          </a:p>
        </p:txBody>
      </p:sp>
    </p:spTree>
    <p:extLst>
      <p:ext uri="{BB962C8B-B14F-4D97-AF65-F5344CB8AC3E}">
        <p14:creationId xmlns:p14="http://schemas.microsoft.com/office/powerpoint/2010/main" val="20714582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32F0C-296B-D3C7-4140-2F3ACB1F0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B94E7-8CE0-0A29-D310-FFFF54B2AA1D}"/>
              </a:ext>
            </a:extLst>
          </p:cNvPr>
          <p:cNvSpPr>
            <a:spLocks noGrp="1"/>
          </p:cNvSpPr>
          <p:nvPr>
            <p:ph type="title"/>
          </p:nvPr>
        </p:nvSpPr>
        <p:spPr/>
        <p:txBody>
          <a:bodyPr>
            <a:normAutofit fontScale="90000"/>
          </a:bodyPr>
          <a:lstStyle/>
          <a:p>
            <a:r>
              <a:rPr lang="en-US" b="1" dirty="0"/>
              <a:t>Simple Subqueries</a:t>
            </a:r>
            <a:endParaRPr lang="en-US" dirty="0"/>
          </a:p>
        </p:txBody>
      </p:sp>
      <p:sp>
        <p:nvSpPr>
          <p:cNvPr id="3" name="Content Placeholder 2">
            <a:extLst>
              <a:ext uri="{FF2B5EF4-FFF2-40B4-BE49-F238E27FC236}">
                <a16:creationId xmlns:a16="http://schemas.microsoft.com/office/drawing/2014/main" id="{45827AE5-5076-2B4A-C445-7D46E56DCE51}"/>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A1AD6F06-6B8B-6D88-EF43-D80E53A8B12B}"/>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312EF6BF-596A-992A-0590-3FE0795DB366}"/>
              </a:ext>
            </a:extLst>
          </p:cNvPr>
          <p:cNvSpPr>
            <a:spLocks noGrp="1"/>
          </p:cNvSpPr>
          <p:nvPr>
            <p:ph type="sldNum" sz="quarter" idx="12"/>
          </p:nvPr>
        </p:nvSpPr>
        <p:spPr/>
        <p:txBody>
          <a:bodyPr/>
          <a:lstStyle/>
          <a:p>
            <a:fld id="{F6C56E59-C124-411E-B3E7-95D014FC7158}" type="slidenum">
              <a:rPr lang="en-US" smtClean="0"/>
              <a:pPr/>
              <a:t>91</a:t>
            </a:fld>
            <a:endParaRPr lang="en-US"/>
          </a:p>
        </p:txBody>
      </p:sp>
      <p:sp>
        <p:nvSpPr>
          <p:cNvPr id="7" name="TextBox 6">
            <a:extLst>
              <a:ext uri="{FF2B5EF4-FFF2-40B4-BE49-F238E27FC236}">
                <a16:creationId xmlns:a16="http://schemas.microsoft.com/office/drawing/2014/main" id="{0051B8FC-F3AF-5DC2-BD64-CD6DC639AEEF}"/>
              </a:ext>
            </a:extLst>
          </p:cNvPr>
          <p:cNvSpPr txBox="1"/>
          <p:nvPr/>
        </p:nvSpPr>
        <p:spPr>
          <a:xfrm>
            <a:off x="499235" y="1297207"/>
            <a:ext cx="6250481" cy="646331"/>
          </a:xfrm>
          <a:prstGeom prst="rect">
            <a:avLst/>
          </a:prstGeom>
          <a:noFill/>
        </p:spPr>
        <p:txBody>
          <a:bodyPr wrap="square" rtlCol="0">
            <a:spAutoFit/>
          </a:bodyPr>
          <a:lstStyle/>
          <a:p>
            <a:r>
              <a:rPr lang="en-US" b="1" dirty="0"/>
              <a:t>Subqueries </a:t>
            </a:r>
            <a:r>
              <a:rPr lang="en-US" dirty="0"/>
              <a:t>are queries that act as tables .  The can be used in SELECT, FROM and WHERE clauses</a:t>
            </a:r>
          </a:p>
        </p:txBody>
      </p:sp>
      <p:sp>
        <p:nvSpPr>
          <p:cNvPr id="6" name="TextBox 5">
            <a:extLst>
              <a:ext uri="{FF2B5EF4-FFF2-40B4-BE49-F238E27FC236}">
                <a16:creationId xmlns:a16="http://schemas.microsoft.com/office/drawing/2014/main" id="{87469C3E-B580-F4DC-844A-F967B164F582}"/>
              </a:ext>
            </a:extLst>
          </p:cNvPr>
          <p:cNvSpPr txBox="1"/>
          <p:nvPr/>
        </p:nvSpPr>
        <p:spPr>
          <a:xfrm>
            <a:off x="2793297" y="2104199"/>
            <a:ext cx="6605406" cy="3539430"/>
          </a:xfrm>
          <a:prstGeom prst="rect">
            <a:avLst/>
          </a:prstGeom>
          <a:noFill/>
        </p:spPr>
        <p:txBody>
          <a:bodyPr wrap="square" rtlCol="0">
            <a:spAutoFit/>
          </a:bodyPr>
          <a:lstStyle/>
          <a:p>
            <a:r>
              <a:rPr lang="en-US" sz="1600" dirty="0"/>
              <a:t>-- Teams with their player counts and championship comparison</a:t>
            </a:r>
          </a:p>
          <a:p>
            <a:r>
              <a:rPr lang="en-US" sz="1600" dirty="0"/>
              <a:t>SELECT </a:t>
            </a:r>
            <a:r>
              <a:rPr lang="en-US" sz="1600" dirty="0" err="1"/>
              <a:t>t.Name</a:t>
            </a:r>
            <a:r>
              <a:rPr lang="en-US" sz="1600" dirty="0"/>
              <a:t> AS </a:t>
            </a:r>
            <a:r>
              <a:rPr lang="en-US" sz="1600" dirty="0" err="1"/>
              <a:t>TeamName</a:t>
            </a:r>
            <a:r>
              <a:rPr lang="en-US" sz="1600" dirty="0"/>
              <a:t>,</a:t>
            </a:r>
          </a:p>
          <a:p>
            <a:r>
              <a:rPr lang="en-US" sz="1600" dirty="0"/>
              <a:t>                 </a:t>
            </a:r>
            <a:r>
              <a:rPr lang="en-US" sz="1600" dirty="0" err="1"/>
              <a:t>t.ChampionshipCount</a:t>
            </a:r>
            <a:r>
              <a:rPr lang="en-US" sz="1600" dirty="0"/>
              <a:t>,</a:t>
            </a:r>
          </a:p>
          <a:p>
            <a:r>
              <a:rPr lang="en-US" sz="1600" dirty="0"/>
              <a:t>                 </a:t>
            </a:r>
            <a:r>
              <a:rPr lang="en-US" sz="1600" dirty="0" err="1"/>
              <a:t>TeamData.PlayerCount</a:t>
            </a:r>
            <a:r>
              <a:rPr lang="en-US" sz="1600" dirty="0"/>
              <a:t>,</a:t>
            </a:r>
          </a:p>
          <a:p>
            <a:r>
              <a:rPr lang="en-US" sz="1600" dirty="0"/>
              <a:t>                (</a:t>
            </a:r>
            <a:r>
              <a:rPr lang="en-US" sz="1600" b="1" dirty="0"/>
              <a:t>SELECT AVG(</a:t>
            </a:r>
            <a:r>
              <a:rPr lang="en-US" sz="1600" b="1" dirty="0" err="1"/>
              <a:t>ChampionshipCount</a:t>
            </a:r>
            <a:r>
              <a:rPr lang="en-US" sz="1600" b="1" dirty="0"/>
              <a:t>)</a:t>
            </a:r>
          </a:p>
          <a:p>
            <a:r>
              <a:rPr lang="en-US" sz="1600" b="1" dirty="0"/>
              <a:t>                 FROM </a:t>
            </a:r>
            <a:r>
              <a:rPr lang="en-US" sz="1600" b="1" dirty="0" err="1"/>
              <a:t>dbo.Team</a:t>
            </a:r>
            <a:r>
              <a:rPr lang="en-US" sz="1600" dirty="0"/>
              <a:t>) AS </a:t>
            </a:r>
            <a:r>
              <a:rPr lang="en-US" sz="1600" dirty="0" err="1"/>
              <a:t>AvgChampionships</a:t>
            </a:r>
            <a:endParaRPr lang="en-US" sz="1600" dirty="0"/>
          </a:p>
          <a:p>
            <a:r>
              <a:rPr lang="en-US" sz="1600" dirty="0"/>
              <a:t> FROM </a:t>
            </a:r>
            <a:r>
              <a:rPr lang="en-US" sz="1600" dirty="0" err="1"/>
              <a:t>dbo.Team</a:t>
            </a:r>
            <a:r>
              <a:rPr lang="en-US" sz="1600" dirty="0"/>
              <a:t> t</a:t>
            </a:r>
          </a:p>
          <a:p>
            <a:r>
              <a:rPr lang="en-US" sz="1600" dirty="0"/>
              <a:t>JOIN (</a:t>
            </a:r>
            <a:r>
              <a:rPr lang="en-US" sz="1600" b="1" dirty="0"/>
              <a:t>SELECT </a:t>
            </a:r>
            <a:r>
              <a:rPr lang="en-US" sz="1600" b="1" dirty="0" err="1"/>
              <a:t>TeamId</a:t>
            </a:r>
            <a:r>
              <a:rPr lang="en-US" sz="1600" b="1" dirty="0"/>
              <a:t>,</a:t>
            </a:r>
          </a:p>
          <a:p>
            <a:r>
              <a:rPr lang="en-US" sz="1600" b="1" dirty="0"/>
              <a:t>                             COUNT(*) AS </a:t>
            </a:r>
            <a:r>
              <a:rPr lang="en-US" sz="1600" b="1" dirty="0" err="1"/>
              <a:t>PlayerCount</a:t>
            </a:r>
            <a:endParaRPr lang="en-US" sz="1600" b="1" dirty="0"/>
          </a:p>
          <a:p>
            <a:r>
              <a:rPr lang="en-US" sz="1600" b="1" dirty="0"/>
              <a:t>             FROM </a:t>
            </a:r>
            <a:r>
              <a:rPr lang="en-US" sz="1600" b="1" dirty="0" err="1"/>
              <a:t>dbo.Player</a:t>
            </a:r>
            <a:endParaRPr lang="en-US" sz="1600" b="1" dirty="0"/>
          </a:p>
          <a:p>
            <a:r>
              <a:rPr lang="en-US" sz="1600" b="1" dirty="0"/>
              <a:t>             GROUP BY </a:t>
            </a:r>
            <a:r>
              <a:rPr lang="en-US" sz="1600" b="1" dirty="0" err="1"/>
              <a:t>TeamId</a:t>
            </a:r>
            <a:r>
              <a:rPr lang="en-US" sz="1600" dirty="0"/>
              <a:t>) AS </a:t>
            </a:r>
            <a:r>
              <a:rPr lang="en-US" sz="1600" dirty="0" err="1"/>
              <a:t>TeamData</a:t>
            </a:r>
            <a:r>
              <a:rPr lang="en-US" sz="1600" dirty="0"/>
              <a:t> ON </a:t>
            </a:r>
            <a:r>
              <a:rPr lang="en-US" sz="1600" dirty="0" err="1"/>
              <a:t>t.Id</a:t>
            </a:r>
            <a:r>
              <a:rPr lang="en-US" sz="1600" dirty="0"/>
              <a:t> = </a:t>
            </a:r>
            <a:r>
              <a:rPr lang="en-US" sz="1600" dirty="0" err="1"/>
              <a:t>TeamData.TeamId</a:t>
            </a:r>
            <a:endParaRPr lang="en-US" sz="1600" dirty="0"/>
          </a:p>
          <a:p>
            <a:r>
              <a:rPr lang="en-US" sz="1600" dirty="0"/>
              <a:t>WHERE </a:t>
            </a:r>
            <a:r>
              <a:rPr lang="en-US" sz="1600" dirty="0" err="1"/>
              <a:t>t.ChampionshipCount</a:t>
            </a:r>
            <a:r>
              <a:rPr lang="en-US" sz="1600" dirty="0"/>
              <a:t> &gt; (</a:t>
            </a:r>
            <a:r>
              <a:rPr lang="en-US" sz="1600" b="1" dirty="0"/>
              <a:t>SELECT AVG(</a:t>
            </a:r>
            <a:r>
              <a:rPr lang="en-US" sz="1600" b="1" dirty="0" err="1"/>
              <a:t>ChampionshipCount</a:t>
            </a:r>
            <a:r>
              <a:rPr lang="en-US" sz="1600" b="1" dirty="0"/>
              <a:t>)</a:t>
            </a:r>
          </a:p>
          <a:p>
            <a:r>
              <a:rPr lang="en-US" sz="1600" b="1" dirty="0"/>
              <a:t>                                                                       FROM </a:t>
            </a:r>
            <a:r>
              <a:rPr lang="en-US" sz="1600" b="1" dirty="0" err="1"/>
              <a:t>dbo.Team</a:t>
            </a:r>
            <a:r>
              <a:rPr lang="en-US" sz="1600" dirty="0"/>
              <a:t>)</a:t>
            </a:r>
          </a:p>
          <a:p>
            <a:r>
              <a:rPr lang="en-US" sz="1600" dirty="0"/>
              <a:t>ORDER BY </a:t>
            </a:r>
            <a:r>
              <a:rPr lang="en-US" sz="1600" dirty="0" err="1"/>
              <a:t>t.ChampionshipCount</a:t>
            </a:r>
            <a:r>
              <a:rPr lang="en-US" sz="1600" dirty="0"/>
              <a:t> DESC;</a:t>
            </a:r>
          </a:p>
        </p:txBody>
      </p:sp>
    </p:spTree>
    <p:extLst>
      <p:ext uri="{BB962C8B-B14F-4D97-AF65-F5344CB8AC3E}">
        <p14:creationId xmlns:p14="http://schemas.microsoft.com/office/powerpoint/2010/main" val="20968249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7C34-3824-786A-8099-EA0B4DC78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25D85-257C-9A33-48C9-C9B5966DA7C5}"/>
              </a:ext>
            </a:extLst>
          </p:cNvPr>
          <p:cNvSpPr>
            <a:spLocks noGrp="1"/>
          </p:cNvSpPr>
          <p:nvPr>
            <p:ph type="title"/>
          </p:nvPr>
        </p:nvSpPr>
        <p:spPr/>
        <p:txBody>
          <a:bodyPr>
            <a:normAutofit fontScale="90000"/>
          </a:bodyPr>
          <a:lstStyle/>
          <a:p>
            <a:r>
              <a:rPr lang="en-US" b="1" dirty="0"/>
              <a:t>Correlated Subquery</a:t>
            </a:r>
            <a:endParaRPr lang="en-US" dirty="0"/>
          </a:p>
        </p:txBody>
      </p:sp>
      <p:sp>
        <p:nvSpPr>
          <p:cNvPr id="3" name="Content Placeholder 2">
            <a:extLst>
              <a:ext uri="{FF2B5EF4-FFF2-40B4-BE49-F238E27FC236}">
                <a16:creationId xmlns:a16="http://schemas.microsoft.com/office/drawing/2014/main" id="{FEEC0B47-B36A-9D24-E49C-A0615E913CF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DB8282CD-A0D1-2B93-32A6-DECD11EBD6EB}"/>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BE107C74-52D5-FC83-46A5-864F4EDDB73B}"/>
              </a:ext>
            </a:extLst>
          </p:cNvPr>
          <p:cNvSpPr>
            <a:spLocks noGrp="1"/>
          </p:cNvSpPr>
          <p:nvPr>
            <p:ph type="sldNum" sz="quarter" idx="12"/>
          </p:nvPr>
        </p:nvSpPr>
        <p:spPr/>
        <p:txBody>
          <a:bodyPr/>
          <a:lstStyle/>
          <a:p>
            <a:fld id="{F6C56E59-C124-411E-B3E7-95D014FC7158}" type="slidenum">
              <a:rPr lang="en-US" smtClean="0"/>
              <a:pPr/>
              <a:t>92</a:t>
            </a:fld>
            <a:endParaRPr lang="en-US"/>
          </a:p>
        </p:txBody>
      </p:sp>
      <p:sp>
        <p:nvSpPr>
          <p:cNvPr id="7" name="TextBox 6">
            <a:extLst>
              <a:ext uri="{FF2B5EF4-FFF2-40B4-BE49-F238E27FC236}">
                <a16:creationId xmlns:a16="http://schemas.microsoft.com/office/drawing/2014/main" id="{BFED6983-C7A1-D443-1273-53CBD16788A3}"/>
              </a:ext>
            </a:extLst>
          </p:cNvPr>
          <p:cNvSpPr txBox="1"/>
          <p:nvPr/>
        </p:nvSpPr>
        <p:spPr>
          <a:xfrm>
            <a:off x="499235" y="1297207"/>
            <a:ext cx="6250481" cy="2862322"/>
          </a:xfrm>
          <a:prstGeom prst="rect">
            <a:avLst/>
          </a:prstGeom>
          <a:noFill/>
        </p:spPr>
        <p:txBody>
          <a:bodyPr wrap="square" rtlCol="0">
            <a:spAutoFit/>
          </a:bodyPr>
          <a:lstStyle/>
          <a:p>
            <a:r>
              <a:rPr lang="en-US" b="1" dirty="0"/>
              <a:t>Correlated Subqueries</a:t>
            </a:r>
            <a:r>
              <a:rPr lang="en-US" dirty="0"/>
              <a:t> are subqueries that reference columns from the outer query, creating a dependency between the inner and outer queries.</a:t>
            </a:r>
          </a:p>
          <a:p>
            <a:endParaRPr lang="en-US" dirty="0"/>
          </a:p>
          <a:p>
            <a:r>
              <a:rPr lang="en-US" b="1" dirty="0"/>
              <a:t>[NOT] EXISTS</a:t>
            </a:r>
            <a:r>
              <a:rPr lang="en-US" dirty="0"/>
              <a:t> is an operator that tests whether a subquery returns any rows. Returns TRUE if the subquery produces at least one row, FALSE otherwise.</a:t>
            </a:r>
          </a:p>
          <a:p>
            <a:endParaRPr lang="en-US" dirty="0"/>
          </a:p>
          <a:p>
            <a:r>
              <a:rPr lang="en-US" b="1" dirty="0"/>
              <a:t>     Syntax:</a:t>
            </a:r>
          </a:p>
          <a:p>
            <a:r>
              <a:rPr lang="en-US" dirty="0"/>
              <a:t>     WHERE EXISTS (subquery)</a:t>
            </a:r>
          </a:p>
        </p:txBody>
      </p:sp>
      <p:sp>
        <p:nvSpPr>
          <p:cNvPr id="6" name="TextBox 5">
            <a:extLst>
              <a:ext uri="{FF2B5EF4-FFF2-40B4-BE49-F238E27FC236}">
                <a16:creationId xmlns:a16="http://schemas.microsoft.com/office/drawing/2014/main" id="{6DC1A852-0251-73C6-2B13-A6CE61E27D64}"/>
              </a:ext>
            </a:extLst>
          </p:cNvPr>
          <p:cNvSpPr txBox="1"/>
          <p:nvPr/>
        </p:nvSpPr>
        <p:spPr>
          <a:xfrm>
            <a:off x="7022448" y="4018548"/>
            <a:ext cx="4852790" cy="2031325"/>
          </a:xfrm>
          <a:prstGeom prst="rect">
            <a:avLst/>
          </a:prstGeom>
          <a:noFill/>
        </p:spPr>
        <p:txBody>
          <a:bodyPr wrap="square" rtlCol="0">
            <a:spAutoFit/>
          </a:bodyPr>
          <a:lstStyle/>
          <a:p>
            <a:r>
              <a:rPr lang="en-US" dirty="0"/>
              <a:t>-- Teams with NO players</a:t>
            </a:r>
          </a:p>
          <a:p>
            <a:r>
              <a:rPr lang="en-US" dirty="0"/>
              <a:t>SELECT Name,</a:t>
            </a:r>
          </a:p>
          <a:p>
            <a:r>
              <a:rPr lang="en-US" dirty="0"/>
              <a:t>                  City</a:t>
            </a:r>
          </a:p>
          <a:p>
            <a:r>
              <a:rPr lang="en-US" dirty="0"/>
              <a:t>FROM </a:t>
            </a:r>
            <a:r>
              <a:rPr lang="en-US" dirty="0" err="1"/>
              <a:t>dbo.Team</a:t>
            </a:r>
            <a:r>
              <a:rPr lang="en-US" dirty="0"/>
              <a:t> t</a:t>
            </a:r>
          </a:p>
          <a:p>
            <a:r>
              <a:rPr lang="en-US" dirty="0"/>
              <a:t>WHERE NOT EXISTS (SELECT 1</a:t>
            </a:r>
          </a:p>
          <a:p>
            <a:r>
              <a:rPr lang="en-US" dirty="0"/>
              <a:t>                                             FROM </a:t>
            </a:r>
            <a:r>
              <a:rPr lang="en-US" dirty="0" err="1"/>
              <a:t>dbo.Player</a:t>
            </a:r>
            <a:r>
              <a:rPr lang="en-US" dirty="0"/>
              <a:t> p</a:t>
            </a:r>
          </a:p>
          <a:p>
            <a:r>
              <a:rPr lang="en-US" dirty="0"/>
              <a:t>                                             WHERE </a:t>
            </a:r>
            <a:r>
              <a:rPr lang="en-US" dirty="0" err="1"/>
              <a:t>p.TeamId</a:t>
            </a:r>
            <a:r>
              <a:rPr lang="en-US" dirty="0"/>
              <a:t> = </a:t>
            </a:r>
            <a:r>
              <a:rPr lang="en-US" b="1" dirty="0" err="1"/>
              <a:t>t.Id</a:t>
            </a:r>
            <a:r>
              <a:rPr lang="en-US" dirty="0"/>
              <a:t>);</a:t>
            </a:r>
          </a:p>
        </p:txBody>
      </p:sp>
    </p:spTree>
    <p:extLst>
      <p:ext uri="{BB962C8B-B14F-4D97-AF65-F5344CB8AC3E}">
        <p14:creationId xmlns:p14="http://schemas.microsoft.com/office/powerpoint/2010/main" val="14145845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81AA-CAF4-82A2-41A8-920E7D2F4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4A0EC-5768-F2C5-CEAE-75DBFA3CEC51}"/>
              </a:ext>
            </a:extLst>
          </p:cNvPr>
          <p:cNvSpPr>
            <a:spLocks noGrp="1"/>
          </p:cNvSpPr>
          <p:nvPr>
            <p:ph type="title"/>
          </p:nvPr>
        </p:nvSpPr>
        <p:spPr/>
        <p:txBody>
          <a:bodyPr>
            <a:normAutofit fontScale="90000"/>
          </a:bodyPr>
          <a:lstStyle/>
          <a:p>
            <a:r>
              <a:rPr lang="en-US" b="1" dirty="0"/>
              <a:t>Guidelines</a:t>
            </a:r>
            <a:endParaRPr lang="en-US" dirty="0"/>
          </a:p>
        </p:txBody>
      </p:sp>
      <p:sp>
        <p:nvSpPr>
          <p:cNvPr id="3" name="Content Placeholder 2">
            <a:extLst>
              <a:ext uri="{FF2B5EF4-FFF2-40B4-BE49-F238E27FC236}">
                <a16:creationId xmlns:a16="http://schemas.microsoft.com/office/drawing/2014/main" id="{8E284811-F22A-2D0B-D925-74DFA40A600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CF15DEA-BA58-0EC8-7044-E2031C0CA7ED}"/>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5CD1EDCA-9C08-E529-CA45-7F505D40B31E}"/>
              </a:ext>
            </a:extLst>
          </p:cNvPr>
          <p:cNvSpPr>
            <a:spLocks noGrp="1"/>
          </p:cNvSpPr>
          <p:nvPr>
            <p:ph type="sldNum" sz="quarter" idx="12"/>
          </p:nvPr>
        </p:nvSpPr>
        <p:spPr/>
        <p:txBody>
          <a:bodyPr/>
          <a:lstStyle/>
          <a:p>
            <a:fld id="{F6C56E59-C124-411E-B3E7-95D014FC7158}" type="slidenum">
              <a:rPr lang="en-US" smtClean="0"/>
              <a:pPr/>
              <a:t>93</a:t>
            </a:fld>
            <a:endParaRPr lang="en-US"/>
          </a:p>
        </p:txBody>
      </p:sp>
      <p:sp>
        <p:nvSpPr>
          <p:cNvPr id="7" name="TextBox 6">
            <a:extLst>
              <a:ext uri="{FF2B5EF4-FFF2-40B4-BE49-F238E27FC236}">
                <a16:creationId xmlns:a16="http://schemas.microsoft.com/office/drawing/2014/main" id="{0BD9A024-88A1-E96F-D584-7CC765DFA830}"/>
              </a:ext>
            </a:extLst>
          </p:cNvPr>
          <p:cNvSpPr txBox="1"/>
          <p:nvPr/>
        </p:nvSpPr>
        <p:spPr>
          <a:xfrm>
            <a:off x="375249" y="1561612"/>
            <a:ext cx="9838134" cy="3139321"/>
          </a:xfrm>
          <a:prstGeom prst="rect">
            <a:avLst/>
          </a:prstGeom>
          <a:noFill/>
        </p:spPr>
        <p:txBody>
          <a:bodyPr wrap="square" rtlCol="0">
            <a:spAutoFit/>
          </a:bodyPr>
          <a:lstStyle/>
          <a:p>
            <a:pPr marL="342900" indent="-342900">
              <a:buAutoNum type="arabicPeriod"/>
            </a:pPr>
            <a:r>
              <a:rPr lang="en-US" b="1" dirty="0"/>
              <a:t>Think about what it is you are trying to find.  What is the main data source.  That is going to be your base table in the FROM clause.</a:t>
            </a:r>
          </a:p>
          <a:p>
            <a:pPr marL="342900" indent="-342900">
              <a:buAutoNum type="arabicPeriod"/>
            </a:pPr>
            <a:endParaRPr lang="en-US" b="1" dirty="0"/>
          </a:p>
          <a:p>
            <a:pPr marL="342900" indent="-342900">
              <a:buAutoNum type="arabicPeriod"/>
            </a:pPr>
            <a:r>
              <a:rPr lang="en-US" b="1" dirty="0"/>
              <a:t>What other data are you wanting to include in the output?  They are added by joins.</a:t>
            </a:r>
          </a:p>
          <a:p>
            <a:pPr marL="342900" indent="-342900">
              <a:buAutoNum type="arabicPeriod"/>
            </a:pPr>
            <a:endParaRPr lang="en-US" b="1" dirty="0"/>
          </a:p>
          <a:p>
            <a:pPr marL="342900" indent="-342900">
              <a:buAutoNum type="arabicPeriod"/>
            </a:pPr>
            <a:r>
              <a:rPr lang="en-US" b="1" dirty="0"/>
              <a:t>Keep in mind that you may benefit from using a sub query in place of a table</a:t>
            </a:r>
          </a:p>
          <a:p>
            <a:pPr marL="342900" indent="-342900">
              <a:buAutoNum type="arabicPeriod"/>
            </a:pPr>
            <a:endParaRPr lang="en-US" b="1" dirty="0"/>
          </a:p>
          <a:p>
            <a:pPr marL="342900" indent="-342900">
              <a:buAutoNum type="arabicPeriod"/>
            </a:pPr>
            <a:r>
              <a:rPr lang="en-US" b="1" dirty="0"/>
              <a:t>Decide if you are interested in raw data or an aggregation of that data or a little bit of both.</a:t>
            </a:r>
          </a:p>
          <a:p>
            <a:pPr marL="342900" indent="-342900">
              <a:buAutoNum type="arabicPeriod"/>
            </a:pPr>
            <a:endParaRPr lang="en-US" b="1" dirty="0"/>
          </a:p>
          <a:p>
            <a:pPr marL="342900" indent="-342900">
              <a:buAutoNum type="arabicPeriod"/>
            </a:pPr>
            <a:r>
              <a:rPr lang="en-US" b="1" dirty="0"/>
              <a:t>Consider using pseudocode to describe what you are trying to return.  Break it up into small steps and build onto the result.</a:t>
            </a:r>
            <a:endParaRPr lang="en-US" dirty="0"/>
          </a:p>
        </p:txBody>
      </p:sp>
    </p:spTree>
    <p:extLst>
      <p:ext uri="{BB962C8B-B14F-4D97-AF65-F5344CB8AC3E}">
        <p14:creationId xmlns:p14="http://schemas.microsoft.com/office/powerpoint/2010/main" val="38804767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9F7A-C80F-EA4D-7525-B6EDD6E1B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0B066-49CC-A6AC-A571-DFE28B08538D}"/>
              </a:ext>
            </a:extLst>
          </p:cNvPr>
          <p:cNvSpPr>
            <a:spLocks noGrp="1"/>
          </p:cNvSpPr>
          <p:nvPr>
            <p:ph type="title"/>
          </p:nvPr>
        </p:nvSpPr>
        <p:spPr/>
        <p:txBody>
          <a:bodyPr>
            <a:normAutofit fontScale="90000"/>
          </a:bodyPr>
          <a:lstStyle/>
          <a:p>
            <a:r>
              <a:rPr lang="en-US" b="1" dirty="0"/>
              <a:t>Common Table Expressions</a:t>
            </a:r>
            <a:endParaRPr lang="en-US" dirty="0"/>
          </a:p>
        </p:txBody>
      </p:sp>
      <p:sp>
        <p:nvSpPr>
          <p:cNvPr id="3" name="Content Placeholder 2">
            <a:extLst>
              <a:ext uri="{FF2B5EF4-FFF2-40B4-BE49-F238E27FC236}">
                <a16:creationId xmlns:a16="http://schemas.microsoft.com/office/drawing/2014/main" id="{B0C00DB5-A747-2E71-491C-1F80671CA3F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84FC6BC-A540-AB99-C6A0-F10B7274B40C}"/>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1EC9CD83-3857-15AB-4E1B-F6C375DC555B}"/>
              </a:ext>
            </a:extLst>
          </p:cNvPr>
          <p:cNvSpPr>
            <a:spLocks noGrp="1"/>
          </p:cNvSpPr>
          <p:nvPr>
            <p:ph type="sldNum" sz="quarter" idx="12"/>
          </p:nvPr>
        </p:nvSpPr>
        <p:spPr/>
        <p:txBody>
          <a:bodyPr/>
          <a:lstStyle/>
          <a:p>
            <a:fld id="{F6C56E59-C124-411E-B3E7-95D014FC7158}" type="slidenum">
              <a:rPr lang="en-US" smtClean="0"/>
              <a:pPr/>
              <a:t>94</a:t>
            </a:fld>
            <a:endParaRPr lang="en-US"/>
          </a:p>
        </p:txBody>
      </p:sp>
      <p:sp>
        <p:nvSpPr>
          <p:cNvPr id="7" name="TextBox 6">
            <a:extLst>
              <a:ext uri="{FF2B5EF4-FFF2-40B4-BE49-F238E27FC236}">
                <a16:creationId xmlns:a16="http://schemas.microsoft.com/office/drawing/2014/main" id="{2F99728A-5F8A-79EC-7B1C-4B13CC922B09}"/>
              </a:ext>
            </a:extLst>
          </p:cNvPr>
          <p:cNvSpPr txBox="1"/>
          <p:nvPr/>
        </p:nvSpPr>
        <p:spPr>
          <a:xfrm>
            <a:off x="499235" y="1297207"/>
            <a:ext cx="8985728" cy="923330"/>
          </a:xfrm>
          <a:prstGeom prst="rect">
            <a:avLst/>
          </a:prstGeom>
          <a:noFill/>
        </p:spPr>
        <p:txBody>
          <a:bodyPr wrap="square" rtlCol="0">
            <a:spAutoFit/>
          </a:bodyPr>
          <a:lstStyle/>
          <a:p>
            <a:r>
              <a:rPr lang="en-US" b="1" dirty="0"/>
              <a:t>CTE (Common Table Expression)</a:t>
            </a:r>
            <a:r>
              <a:rPr lang="en-US" dirty="0"/>
              <a:t> is a temporary named result set that exists only during the execution of a single query. It's defined using the WITH clause.  This is another way to get the same result as a subquery while simplifying the subsequent code.</a:t>
            </a:r>
          </a:p>
        </p:txBody>
      </p:sp>
      <p:sp>
        <p:nvSpPr>
          <p:cNvPr id="6" name="TextBox 5">
            <a:extLst>
              <a:ext uri="{FF2B5EF4-FFF2-40B4-BE49-F238E27FC236}">
                <a16:creationId xmlns:a16="http://schemas.microsoft.com/office/drawing/2014/main" id="{449E9D15-5B36-C2E9-57E8-2719E22C889D}"/>
              </a:ext>
            </a:extLst>
          </p:cNvPr>
          <p:cNvSpPr txBox="1"/>
          <p:nvPr/>
        </p:nvSpPr>
        <p:spPr>
          <a:xfrm>
            <a:off x="2175490" y="2357571"/>
            <a:ext cx="7855001" cy="3539430"/>
          </a:xfrm>
          <a:prstGeom prst="rect">
            <a:avLst/>
          </a:prstGeom>
          <a:noFill/>
        </p:spPr>
        <p:txBody>
          <a:bodyPr wrap="square" rtlCol="0">
            <a:spAutoFit/>
          </a:bodyPr>
          <a:lstStyle/>
          <a:p>
            <a:r>
              <a:rPr lang="en-US" sz="1400" dirty="0"/>
              <a:t>-- Teams with their player counts and championship comparison (using CTEs, no CROSS JOIN)</a:t>
            </a:r>
          </a:p>
          <a:p>
            <a:r>
              <a:rPr lang="en-US" sz="1400" b="1" dirty="0"/>
              <a:t>WITH </a:t>
            </a:r>
            <a:r>
              <a:rPr lang="en-US" sz="1400" b="1" dirty="0" err="1"/>
              <a:t>TeamData</a:t>
            </a:r>
            <a:r>
              <a:rPr lang="en-US" sz="1400" b="1" dirty="0"/>
              <a:t> AS (SELECT </a:t>
            </a:r>
            <a:r>
              <a:rPr lang="en-US" sz="1400" b="1" dirty="0" err="1"/>
              <a:t>TeamId</a:t>
            </a:r>
            <a:r>
              <a:rPr lang="en-US" sz="1400" b="1" dirty="0"/>
              <a:t>,</a:t>
            </a:r>
          </a:p>
          <a:p>
            <a:r>
              <a:rPr lang="en-US" sz="1400" b="1" dirty="0"/>
              <a:t>                                          COUNT(*) AS </a:t>
            </a:r>
            <a:r>
              <a:rPr lang="en-US" sz="1400" b="1" dirty="0" err="1"/>
              <a:t>PlayerCount</a:t>
            </a:r>
            <a:endParaRPr lang="en-US" sz="1400" b="1" dirty="0"/>
          </a:p>
          <a:p>
            <a:r>
              <a:rPr lang="en-US" sz="1400" b="1" dirty="0"/>
              <a:t>                                          FROM </a:t>
            </a:r>
            <a:r>
              <a:rPr lang="en-US" sz="1400" b="1" dirty="0" err="1"/>
              <a:t>dbo.Player</a:t>
            </a:r>
            <a:endParaRPr lang="en-US" sz="1400" b="1" dirty="0"/>
          </a:p>
          <a:p>
            <a:r>
              <a:rPr lang="en-US" sz="1400" b="1" dirty="0"/>
              <a:t>                                         GROUP BY </a:t>
            </a:r>
            <a:r>
              <a:rPr lang="en-US" sz="1400" b="1" dirty="0" err="1"/>
              <a:t>TeamId</a:t>
            </a:r>
            <a:r>
              <a:rPr lang="en-US" sz="1400" b="1" dirty="0"/>
              <a:t>),</a:t>
            </a:r>
          </a:p>
          <a:p>
            <a:r>
              <a:rPr lang="en-US" sz="1400" dirty="0" err="1"/>
              <a:t>AvgChampionships</a:t>
            </a:r>
            <a:r>
              <a:rPr lang="en-US" sz="1400" dirty="0"/>
              <a:t> AS (SELECT AVG(</a:t>
            </a:r>
            <a:r>
              <a:rPr lang="en-US" sz="1400" dirty="0" err="1"/>
              <a:t>ChampionshipCount</a:t>
            </a:r>
            <a:r>
              <a:rPr lang="en-US" sz="1400" dirty="0"/>
              <a:t>) AS </a:t>
            </a:r>
            <a:r>
              <a:rPr lang="en-US" sz="1400" dirty="0" err="1"/>
              <a:t>AvgChampCount</a:t>
            </a:r>
            <a:endParaRPr lang="en-US" sz="1400" dirty="0"/>
          </a:p>
          <a:p>
            <a:r>
              <a:rPr lang="en-US" sz="1400" dirty="0"/>
              <a:t>                                                  FROM </a:t>
            </a:r>
            <a:r>
              <a:rPr lang="en-US" sz="1400" dirty="0" err="1"/>
              <a:t>dbo.Team</a:t>
            </a:r>
            <a:r>
              <a:rPr lang="en-US" sz="1400" dirty="0"/>
              <a:t>)</a:t>
            </a:r>
          </a:p>
          <a:p>
            <a:r>
              <a:rPr lang="en-US" sz="1400" dirty="0"/>
              <a:t>SELECT </a:t>
            </a:r>
            <a:r>
              <a:rPr lang="en-US" sz="1400" dirty="0" err="1"/>
              <a:t>t.Name</a:t>
            </a:r>
            <a:r>
              <a:rPr lang="en-US" sz="1400" dirty="0"/>
              <a:t> AS </a:t>
            </a:r>
            <a:r>
              <a:rPr lang="en-US" sz="1400" dirty="0" err="1"/>
              <a:t>TeamName</a:t>
            </a:r>
            <a:r>
              <a:rPr lang="en-US" sz="1400" dirty="0"/>
              <a:t>,</a:t>
            </a:r>
          </a:p>
          <a:p>
            <a:r>
              <a:rPr lang="en-US" sz="1400" dirty="0"/>
              <a:t>                  </a:t>
            </a:r>
            <a:r>
              <a:rPr lang="en-US" sz="1400" dirty="0" err="1"/>
              <a:t>t.ChampionshipCount</a:t>
            </a:r>
            <a:r>
              <a:rPr lang="en-US" sz="1400" dirty="0"/>
              <a:t>,</a:t>
            </a:r>
          </a:p>
          <a:p>
            <a:r>
              <a:rPr lang="en-US" sz="1400" dirty="0"/>
              <a:t>                  </a:t>
            </a:r>
            <a:r>
              <a:rPr lang="en-US" sz="1400" dirty="0" err="1"/>
              <a:t>td.PlayerCount</a:t>
            </a:r>
            <a:r>
              <a:rPr lang="en-US" sz="1400" dirty="0"/>
              <a:t>,</a:t>
            </a:r>
          </a:p>
          <a:p>
            <a:r>
              <a:rPr lang="en-US" sz="1400" dirty="0"/>
              <a:t>                 (SELECT </a:t>
            </a:r>
            <a:r>
              <a:rPr lang="en-US" sz="1400" dirty="0" err="1"/>
              <a:t>AvgChampCount</a:t>
            </a:r>
            <a:r>
              <a:rPr lang="en-US" sz="1400" dirty="0"/>
              <a:t> FROM </a:t>
            </a:r>
            <a:r>
              <a:rPr lang="en-US" sz="1400" dirty="0" err="1"/>
              <a:t>AvgChampionships</a:t>
            </a:r>
            <a:r>
              <a:rPr lang="en-US" sz="1400" dirty="0"/>
              <a:t>) AS </a:t>
            </a:r>
            <a:r>
              <a:rPr lang="en-US" sz="1400" dirty="0" err="1"/>
              <a:t>AvgChampionships</a:t>
            </a:r>
            <a:endParaRPr lang="en-US" sz="1400" dirty="0"/>
          </a:p>
          <a:p>
            <a:r>
              <a:rPr lang="en-US" sz="1400" dirty="0"/>
              <a:t>FROM </a:t>
            </a:r>
            <a:r>
              <a:rPr lang="en-US" sz="1400" dirty="0" err="1"/>
              <a:t>dbo.Team</a:t>
            </a:r>
            <a:r>
              <a:rPr lang="en-US" sz="1400" dirty="0"/>
              <a:t> t</a:t>
            </a:r>
          </a:p>
          <a:p>
            <a:r>
              <a:rPr lang="en-US" sz="1400" dirty="0"/>
              <a:t>JOIN </a:t>
            </a:r>
            <a:r>
              <a:rPr lang="en-US" sz="1400" dirty="0" err="1"/>
              <a:t>TeamData</a:t>
            </a:r>
            <a:r>
              <a:rPr lang="en-US" sz="1400" dirty="0"/>
              <a:t> td ON </a:t>
            </a:r>
            <a:r>
              <a:rPr lang="en-US" sz="1400" dirty="0" err="1"/>
              <a:t>t.Id</a:t>
            </a:r>
            <a:r>
              <a:rPr lang="en-US" sz="1400" dirty="0"/>
              <a:t> = </a:t>
            </a:r>
            <a:r>
              <a:rPr lang="en-US" sz="1400" dirty="0" err="1"/>
              <a:t>td.TeamId</a:t>
            </a:r>
            <a:endParaRPr lang="en-US" sz="1400" dirty="0"/>
          </a:p>
          <a:p>
            <a:r>
              <a:rPr lang="en-US" sz="1400" dirty="0"/>
              <a:t>WHERE </a:t>
            </a:r>
            <a:r>
              <a:rPr lang="en-US" sz="1400" dirty="0" err="1"/>
              <a:t>t.ChampionshipCount</a:t>
            </a:r>
            <a:r>
              <a:rPr lang="en-US" sz="1400" dirty="0"/>
              <a:t> &gt; (SELECT </a:t>
            </a:r>
            <a:r>
              <a:rPr lang="en-US" sz="1400" dirty="0" err="1"/>
              <a:t>AvgChampCount</a:t>
            </a:r>
            <a:r>
              <a:rPr lang="en-US" sz="1400" dirty="0"/>
              <a:t> FROM </a:t>
            </a:r>
            <a:r>
              <a:rPr lang="en-US" sz="1400" dirty="0" err="1"/>
              <a:t>AvgChampionships</a:t>
            </a:r>
            <a:r>
              <a:rPr lang="en-US" sz="1400" dirty="0"/>
              <a:t>)</a:t>
            </a:r>
          </a:p>
          <a:p>
            <a:r>
              <a:rPr lang="en-US" sz="1400" dirty="0"/>
              <a:t>ORDER BY </a:t>
            </a:r>
            <a:r>
              <a:rPr lang="en-US" sz="1400" dirty="0" err="1"/>
              <a:t>t.ChampionshipCount</a:t>
            </a:r>
            <a:r>
              <a:rPr lang="en-US" sz="1400" dirty="0"/>
              <a:t> DESC;</a:t>
            </a:r>
          </a:p>
          <a:p>
            <a:endParaRPr lang="en-US" sz="1400" dirty="0"/>
          </a:p>
        </p:txBody>
      </p:sp>
    </p:spTree>
    <p:extLst>
      <p:ext uri="{BB962C8B-B14F-4D97-AF65-F5344CB8AC3E}">
        <p14:creationId xmlns:p14="http://schemas.microsoft.com/office/powerpoint/2010/main" val="14188490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F84A-3F64-D7D5-8794-E9F89FC8A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04B75-E5A9-97F4-3B7A-090099978751}"/>
              </a:ext>
            </a:extLst>
          </p:cNvPr>
          <p:cNvSpPr>
            <a:spLocks noGrp="1"/>
          </p:cNvSpPr>
          <p:nvPr>
            <p:ph type="title"/>
          </p:nvPr>
        </p:nvSpPr>
        <p:spPr/>
        <p:txBody>
          <a:bodyPr/>
          <a:lstStyle/>
          <a:p>
            <a:r>
              <a:rPr lang="en-US" dirty="0"/>
              <a:t>The Rest of CRUD – Create, Update and Delete</a:t>
            </a:r>
          </a:p>
        </p:txBody>
      </p:sp>
      <p:sp>
        <p:nvSpPr>
          <p:cNvPr id="3" name="Text Placeholder 2">
            <a:extLst>
              <a:ext uri="{FF2B5EF4-FFF2-40B4-BE49-F238E27FC236}">
                <a16:creationId xmlns:a16="http://schemas.microsoft.com/office/drawing/2014/main" id="{728F2C2C-3085-8C0E-D1DF-27EB00BFFB4F}"/>
              </a:ext>
            </a:extLst>
          </p:cNvPr>
          <p:cNvSpPr>
            <a:spLocks noGrp="1"/>
          </p:cNvSpPr>
          <p:nvPr>
            <p:ph type="body" idx="1"/>
          </p:nvPr>
        </p:nvSpPr>
        <p:spPr/>
        <p:txBody>
          <a:bodyPr/>
          <a:lstStyle/>
          <a:p>
            <a:r>
              <a:rPr lang="en-US" dirty="0"/>
              <a:t>Anything tables can do can be replaced by an inner query.</a:t>
            </a:r>
          </a:p>
        </p:txBody>
      </p:sp>
      <p:sp>
        <p:nvSpPr>
          <p:cNvPr id="4" name="Date Placeholder 3">
            <a:extLst>
              <a:ext uri="{FF2B5EF4-FFF2-40B4-BE49-F238E27FC236}">
                <a16:creationId xmlns:a16="http://schemas.microsoft.com/office/drawing/2014/main" id="{9B0DD46D-D607-690A-0130-859F18CB8DC1}"/>
              </a:ext>
            </a:extLst>
          </p:cNvPr>
          <p:cNvSpPr>
            <a:spLocks noGrp="1"/>
          </p:cNvSpPr>
          <p:nvPr>
            <p:ph type="dt" sz="half" idx="10"/>
          </p:nvPr>
        </p:nvSpPr>
        <p:spPr/>
        <p:txBody>
          <a:bodyPr/>
          <a:lstStyle/>
          <a:p>
            <a:fld id="{2913C182-2752-4C8A-971A-A0E34A11F99A}" type="datetime1">
              <a:rPr lang="en-US" smtClean="0"/>
              <a:t>1/16/2026</a:t>
            </a:fld>
            <a:endParaRPr lang="en-US"/>
          </a:p>
        </p:txBody>
      </p:sp>
      <p:sp>
        <p:nvSpPr>
          <p:cNvPr id="5" name="Slide Number Placeholder 4">
            <a:extLst>
              <a:ext uri="{FF2B5EF4-FFF2-40B4-BE49-F238E27FC236}">
                <a16:creationId xmlns:a16="http://schemas.microsoft.com/office/drawing/2014/main" id="{B69BA644-6D4D-7097-2DF4-A492EFA7AAAF}"/>
              </a:ext>
            </a:extLst>
          </p:cNvPr>
          <p:cNvSpPr>
            <a:spLocks noGrp="1"/>
          </p:cNvSpPr>
          <p:nvPr>
            <p:ph type="sldNum" sz="quarter" idx="12"/>
          </p:nvPr>
        </p:nvSpPr>
        <p:spPr/>
        <p:txBody>
          <a:bodyPr/>
          <a:lstStyle/>
          <a:p>
            <a:fld id="{F6C56E59-C124-411E-B3E7-95D014FC7158}" type="slidenum">
              <a:rPr lang="en-US" smtClean="0"/>
              <a:pPr/>
              <a:t>95</a:t>
            </a:fld>
            <a:endParaRPr lang="en-US"/>
          </a:p>
        </p:txBody>
      </p:sp>
    </p:spTree>
    <p:extLst>
      <p:ext uri="{BB962C8B-B14F-4D97-AF65-F5344CB8AC3E}">
        <p14:creationId xmlns:p14="http://schemas.microsoft.com/office/powerpoint/2010/main" val="6796950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B6934-7699-5C49-716F-49D19E716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14F77-5B69-8C8D-C1D4-7913A28CD75E}"/>
              </a:ext>
            </a:extLst>
          </p:cNvPr>
          <p:cNvSpPr>
            <a:spLocks noGrp="1"/>
          </p:cNvSpPr>
          <p:nvPr>
            <p:ph type="title"/>
          </p:nvPr>
        </p:nvSpPr>
        <p:spPr/>
        <p:txBody>
          <a:bodyPr>
            <a:normAutofit fontScale="90000"/>
          </a:bodyPr>
          <a:lstStyle/>
          <a:p>
            <a:r>
              <a:rPr lang="en-US" b="1" dirty="0"/>
              <a:t>SELECT INTO</a:t>
            </a:r>
            <a:endParaRPr lang="en-US" dirty="0"/>
          </a:p>
        </p:txBody>
      </p:sp>
      <p:sp>
        <p:nvSpPr>
          <p:cNvPr id="3" name="Content Placeholder 2">
            <a:extLst>
              <a:ext uri="{FF2B5EF4-FFF2-40B4-BE49-F238E27FC236}">
                <a16:creationId xmlns:a16="http://schemas.microsoft.com/office/drawing/2014/main" id="{5EB322C8-6093-9EC1-A521-CC94244ED1A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D5588BF-2978-A0A3-3E0A-E4B232027B3A}"/>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A4920547-87FB-7B4C-2231-FCA5A64DFE57}"/>
              </a:ext>
            </a:extLst>
          </p:cNvPr>
          <p:cNvSpPr>
            <a:spLocks noGrp="1"/>
          </p:cNvSpPr>
          <p:nvPr>
            <p:ph type="sldNum" sz="quarter" idx="12"/>
          </p:nvPr>
        </p:nvSpPr>
        <p:spPr/>
        <p:txBody>
          <a:bodyPr/>
          <a:lstStyle/>
          <a:p>
            <a:fld id="{F6C56E59-C124-411E-B3E7-95D014FC7158}" type="slidenum">
              <a:rPr lang="en-US" smtClean="0"/>
              <a:pPr/>
              <a:t>96</a:t>
            </a:fld>
            <a:endParaRPr lang="en-US"/>
          </a:p>
        </p:txBody>
      </p:sp>
      <p:sp>
        <p:nvSpPr>
          <p:cNvPr id="7" name="TextBox 6">
            <a:extLst>
              <a:ext uri="{FF2B5EF4-FFF2-40B4-BE49-F238E27FC236}">
                <a16:creationId xmlns:a16="http://schemas.microsoft.com/office/drawing/2014/main" id="{4569FF16-9788-FCCE-85C1-C6D425509A1D}"/>
              </a:ext>
            </a:extLst>
          </p:cNvPr>
          <p:cNvSpPr txBox="1"/>
          <p:nvPr/>
        </p:nvSpPr>
        <p:spPr>
          <a:xfrm>
            <a:off x="499235" y="1297207"/>
            <a:ext cx="8985728" cy="646331"/>
          </a:xfrm>
          <a:prstGeom prst="rect">
            <a:avLst/>
          </a:prstGeom>
          <a:noFill/>
        </p:spPr>
        <p:txBody>
          <a:bodyPr wrap="square" rtlCol="0">
            <a:spAutoFit/>
          </a:bodyPr>
          <a:lstStyle/>
          <a:p>
            <a:r>
              <a:rPr lang="en-US" b="1" dirty="0"/>
              <a:t>SELECT INTO - </a:t>
            </a:r>
            <a:r>
              <a:rPr lang="en-US" dirty="0"/>
              <a:t>creates a new table and inserts the result set from a SELECT statement into it in a single operation.</a:t>
            </a:r>
          </a:p>
        </p:txBody>
      </p:sp>
      <p:sp>
        <p:nvSpPr>
          <p:cNvPr id="6" name="TextBox 5">
            <a:extLst>
              <a:ext uri="{FF2B5EF4-FFF2-40B4-BE49-F238E27FC236}">
                <a16:creationId xmlns:a16="http://schemas.microsoft.com/office/drawing/2014/main" id="{4B34276F-56C3-7362-4174-14EDE7CDDFCE}"/>
              </a:ext>
            </a:extLst>
          </p:cNvPr>
          <p:cNvSpPr txBox="1"/>
          <p:nvPr/>
        </p:nvSpPr>
        <p:spPr>
          <a:xfrm>
            <a:off x="506226" y="2213591"/>
            <a:ext cx="11193530" cy="3693319"/>
          </a:xfrm>
          <a:prstGeom prst="rect">
            <a:avLst/>
          </a:prstGeom>
          <a:noFill/>
        </p:spPr>
        <p:txBody>
          <a:bodyPr wrap="square" rtlCol="0">
            <a:spAutoFit/>
          </a:bodyPr>
          <a:lstStyle/>
          <a:p>
            <a:r>
              <a:rPr lang="en-US" dirty="0"/>
              <a:t>-- Create a new table with top scorers</a:t>
            </a:r>
          </a:p>
          <a:p>
            <a:r>
              <a:rPr lang="en-US" b="1" dirty="0"/>
              <a:t>SELECT</a:t>
            </a:r>
            <a:r>
              <a:rPr lang="en-US" dirty="0"/>
              <a:t> </a:t>
            </a:r>
            <a:r>
              <a:rPr lang="en-US" dirty="0" err="1"/>
              <a:t>p.Id</a:t>
            </a:r>
            <a:r>
              <a:rPr lang="en-US" dirty="0"/>
              <a:t> AS </a:t>
            </a:r>
            <a:r>
              <a:rPr lang="en-US" dirty="0" err="1"/>
              <a:t>PlayerId</a:t>
            </a:r>
            <a:r>
              <a:rPr lang="en-US" dirty="0"/>
              <a:t>,</a:t>
            </a:r>
          </a:p>
          <a:p>
            <a:r>
              <a:rPr lang="en-US" dirty="0"/>
              <a:t>                 </a:t>
            </a:r>
            <a:r>
              <a:rPr lang="en-US" dirty="0" err="1"/>
              <a:t>p.FirstName</a:t>
            </a:r>
            <a:r>
              <a:rPr lang="en-US" dirty="0"/>
              <a:t>,</a:t>
            </a:r>
          </a:p>
          <a:p>
            <a:r>
              <a:rPr lang="en-US" dirty="0"/>
              <a:t>                 </a:t>
            </a:r>
            <a:r>
              <a:rPr lang="en-US" dirty="0" err="1"/>
              <a:t>p.LastName</a:t>
            </a:r>
            <a:r>
              <a:rPr lang="en-US" dirty="0"/>
              <a:t>,</a:t>
            </a:r>
          </a:p>
          <a:p>
            <a:r>
              <a:rPr lang="en-US" dirty="0"/>
              <a:t>                 </a:t>
            </a:r>
            <a:r>
              <a:rPr lang="en-US" dirty="0" err="1"/>
              <a:t>t.Name</a:t>
            </a:r>
            <a:r>
              <a:rPr lang="en-US" dirty="0"/>
              <a:t> AS </a:t>
            </a:r>
            <a:r>
              <a:rPr lang="en-US" dirty="0" err="1"/>
              <a:t>TeamName</a:t>
            </a:r>
            <a:r>
              <a:rPr lang="en-US" dirty="0"/>
              <a:t>,</a:t>
            </a:r>
          </a:p>
          <a:p>
            <a:r>
              <a:rPr lang="en-US" dirty="0"/>
              <a:t>                 </a:t>
            </a:r>
            <a:r>
              <a:rPr lang="en-US" dirty="0" err="1"/>
              <a:t>pos.TotalPoints</a:t>
            </a:r>
            <a:r>
              <a:rPr lang="en-US" dirty="0"/>
              <a:t>,</a:t>
            </a:r>
          </a:p>
          <a:p>
            <a:r>
              <a:rPr lang="en-US" dirty="0"/>
              <a:t>                 </a:t>
            </a:r>
            <a:r>
              <a:rPr lang="en-US" dirty="0" err="1"/>
              <a:t>pos.SuccessfulHits</a:t>
            </a:r>
            <a:r>
              <a:rPr lang="en-US" dirty="0"/>
              <a:t>,</a:t>
            </a:r>
          </a:p>
          <a:p>
            <a:r>
              <a:rPr lang="en-US" dirty="0"/>
              <a:t>                 </a:t>
            </a:r>
            <a:r>
              <a:rPr lang="en-US" dirty="0" err="1"/>
              <a:t>pos.TotalCatches</a:t>
            </a:r>
            <a:endParaRPr lang="en-US" dirty="0"/>
          </a:p>
          <a:p>
            <a:r>
              <a:rPr lang="en-US" b="1" dirty="0"/>
              <a:t>INTO</a:t>
            </a:r>
            <a:r>
              <a:rPr lang="en-US" dirty="0"/>
              <a:t> </a:t>
            </a:r>
            <a:r>
              <a:rPr lang="en-US" dirty="0" err="1"/>
              <a:t>TopScorers</a:t>
            </a:r>
            <a:endParaRPr lang="en-US" dirty="0"/>
          </a:p>
          <a:p>
            <a:r>
              <a:rPr lang="en-US" dirty="0"/>
              <a:t>FROM </a:t>
            </a:r>
            <a:r>
              <a:rPr lang="en-US" dirty="0" err="1"/>
              <a:t>dbo.Player</a:t>
            </a:r>
            <a:r>
              <a:rPr lang="en-US" dirty="0"/>
              <a:t> p</a:t>
            </a:r>
          </a:p>
          <a:p>
            <a:r>
              <a:rPr lang="en-US" dirty="0"/>
              <a:t>INNER JOIN </a:t>
            </a:r>
            <a:r>
              <a:rPr lang="en-US" dirty="0" err="1"/>
              <a:t>dbo.Team</a:t>
            </a:r>
            <a:r>
              <a:rPr lang="en-US" dirty="0"/>
              <a:t> t ON </a:t>
            </a:r>
            <a:r>
              <a:rPr lang="en-US" dirty="0" err="1"/>
              <a:t>p.TeamId</a:t>
            </a:r>
            <a:r>
              <a:rPr lang="en-US" dirty="0"/>
              <a:t> = </a:t>
            </a:r>
            <a:r>
              <a:rPr lang="en-US" dirty="0" err="1"/>
              <a:t>t.Id</a:t>
            </a:r>
            <a:endParaRPr lang="en-US" dirty="0"/>
          </a:p>
          <a:p>
            <a:r>
              <a:rPr lang="en-US" dirty="0"/>
              <a:t>INNER JOIN </a:t>
            </a:r>
            <a:r>
              <a:rPr lang="en-US" dirty="0" err="1"/>
              <a:t>dbo.PlayerOverallStatistics</a:t>
            </a:r>
            <a:r>
              <a:rPr lang="en-US" dirty="0"/>
              <a:t> pos ON </a:t>
            </a:r>
            <a:r>
              <a:rPr lang="en-US" dirty="0" err="1"/>
              <a:t>p.Id</a:t>
            </a:r>
            <a:r>
              <a:rPr lang="en-US" dirty="0"/>
              <a:t> = </a:t>
            </a:r>
            <a:r>
              <a:rPr lang="en-US" dirty="0" err="1"/>
              <a:t>pos.PlayerId</a:t>
            </a:r>
            <a:endParaRPr lang="en-US" dirty="0"/>
          </a:p>
          <a:p>
            <a:r>
              <a:rPr lang="en-US" dirty="0"/>
              <a:t>WHERE </a:t>
            </a:r>
            <a:r>
              <a:rPr lang="en-US" dirty="0" err="1"/>
              <a:t>pos.TotalPoints</a:t>
            </a:r>
            <a:r>
              <a:rPr lang="en-US" dirty="0"/>
              <a:t> &gt; 500;</a:t>
            </a:r>
          </a:p>
        </p:txBody>
      </p:sp>
    </p:spTree>
    <p:extLst>
      <p:ext uri="{BB962C8B-B14F-4D97-AF65-F5344CB8AC3E}">
        <p14:creationId xmlns:p14="http://schemas.microsoft.com/office/powerpoint/2010/main" val="21756242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325E-0422-287D-80FA-417C9F00C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6C291-CD3F-300A-F714-F2A570D088FC}"/>
              </a:ext>
            </a:extLst>
          </p:cNvPr>
          <p:cNvSpPr>
            <a:spLocks noGrp="1"/>
          </p:cNvSpPr>
          <p:nvPr>
            <p:ph type="title"/>
          </p:nvPr>
        </p:nvSpPr>
        <p:spPr/>
        <p:txBody>
          <a:bodyPr>
            <a:normAutofit fontScale="90000"/>
          </a:bodyPr>
          <a:lstStyle/>
          <a:p>
            <a:r>
              <a:rPr lang="en-US" b="1" dirty="0"/>
              <a:t>INSERT INTO</a:t>
            </a:r>
            <a:endParaRPr lang="en-US" dirty="0"/>
          </a:p>
        </p:txBody>
      </p:sp>
      <p:sp>
        <p:nvSpPr>
          <p:cNvPr id="3" name="Content Placeholder 2">
            <a:extLst>
              <a:ext uri="{FF2B5EF4-FFF2-40B4-BE49-F238E27FC236}">
                <a16:creationId xmlns:a16="http://schemas.microsoft.com/office/drawing/2014/main" id="{859C6271-1FF1-A3E2-DAB3-A3757AC7CE4F}"/>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0A53267-8AAD-CDE3-B4F5-F9E5AEE20AAD}"/>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D5FBE45B-6E59-748D-880F-A35646FD8591}"/>
              </a:ext>
            </a:extLst>
          </p:cNvPr>
          <p:cNvSpPr>
            <a:spLocks noGrp="1"/>
          </p:cNvSpPr>
          <p:nvPr>
            <p:ph type="sldNum" sz="quarter" idx="12"/>
          </p:nvPr>
        </p:nvSpPr>
        <p:spPr/>
        <p:txBody>
          <a:bodyPr/>
          <a:lstStyle/>
          <a:p>
            <a:fld id="{F6C56E59-C124-411E-B3E7-95D014FC7158}" type="slidenum">
              <a:rPr lang="en-US" smtClean="0"/>
              <a:pPr/>
              <a:t>97</a:t>
            </a:fld>
            <a:endParaRPr lang="en-US"/>
          </a:p>
        </p:txBody>
      </p:sp>
      <p:sp>
        <p:nvSpPr>
          <p:cNvPr id="7" name="TextBox 6">
            <a:extLst>
              <a:ext uri="{FF2B5EF4-FFF2-40B4-BE49-F238E27FC236}">
                <a16:creationId xmlns:a16="http://schemas.microsoft.com/office/drawing/2014/main" id="{8E659B78-4AFD-556F-30E7-6E48C1DDE191}"/>
              </a:ext>
            </a:extLst>
          </p:cNvPr>
          <p:cNvSpPr txBox="1"/>
          <p:nvPr/>
        </p:nvSpPr>
        <p:spPr>
          <a:xfrm>
            <a:off x="506226" y="1534134"/>
            <a:ext cx="11193529" cy="646331"/>
          </a:xfrm>
          <a:prstGeom prst="rect">
            <a:avLst/>
          </a:prstGeom>
          <a:noFill/>
        </p:spPr>
        <p:txBody>
          <a:bodyPr wrap="square" rtlCol="0">
            <a:spAutoFit/>
          </a:bodyPr>
          <a:lstStyle/>
          <a:p>
            <a:r>
              <a:rPr lang="en-US" b="1" dirty="0"/>
              <a:t>INSERT INTO</a:t>
            </a:r>
            <a:r>
              <a:rPr lang="en-US" dirty="0"/>
              <a:t> is a SQL statement used to add new rows of data to an existing table. Unlike SELECT INTO (which creates a new table), INSERT INTO adds data to a table that already exists.</a:t>
            </a:r>
          </a:p>
        </p:txBody>
      </p:sp>
      <p:sp>
        <p:nvSpPr>
          <p:cNvPr id="6" name="TextBox 5">
            <a:extLst>
              <a:ext uri="{FF2B5EF4-FFF2-40B4-BE49-F238E27FC236}">
                <a16:creationId xmlns:a16="http://schemas.microsoft.com/office/drawing/2014/main" id="{80998A10-A72D-BDE4-968E-70CA646B35DD}"/>
              </a:ext>
            </a:extLst>
          </p:cNvPr>
          <p:cNvSpPr txBox="1"/>
          <p:nvPr/>
        </p:nvSpPr>
        <p:spPr>
          <a:xfrm>
            <a:off x="506226" y="2571599"/>
            <a:ext cx="11193530" cy="2800767"/>
          </a:xfrm>
          <a:prstGeom prst="rect">
            <a:avLst/>
          </a:prstGeom>
          <a:noFill/>
        </p:spPr>
        <p:txBody>
          <a:bodyPr wrap="square" rtlCol="0">
            <a:spAutoFit/>
          </a:bodyPr>
          <a:lstStyle/>
          <a:p>
            <a:r>
              <a:rPr lang="en-US" b="1" dirty="0"/>
              <a:t>INSERT INTO</a:t>
            </a:r>
            <a:r>
              <a:rPr lang="en-US" dirty="0"/>
              <a:t> </a:t>
            </a:r>
            <a:r>
              <a:rPr lang="en-US" dirty="0" err="1"/>
              <a:t>dbo.Match</a:t>
            </a:r>
            <a:r>
              <a:rPr lang="en-US" dirty="0"/>
              <a:t> (MatchDate,EventStartTime,DurationMinutes,HomeTeamId,AwayTeamId,StadiumId,HomeScore,AwayScore,Status, </a:t>
            </a:r>
            <a:r>
              <a:rPr lang="en-US" dirty="0" err="1"/>
              <a:t>SeasonId,Notes</a:t>
            </a:r>
            <a:r>
              <a:rPr lang="en-US" dirty="0"/>
              <a:t>)</a:t>
            </a:r>
          </a:p>
          <a:p>
            <a:r>
              <a:rPr lang="en-US" dirty="0"/>
              <a:t>    VALUES</a:t>
            </a:r>
          </a:p>
          <a:p>
            <a:r>
              <a:rPr lang="en-US" dirty="0"/>
              <a:t>    -- Cycle 1: 43 ordered pairs on 2025-09-01</a:t>
            </a:r>
          </a:p>
          <a:p>
            <a:r>
              <a:rPr lang="en-US" dirty="0"/>
              <a:t>    (CAST('2025-09-01' AS date), CAST('2025-09-01T19:00:00' AS datetime2), 60, 1,2,1,10,8,'Completed',5,'Seeded match'),</a:t>
            </a:r>
          </a:p>
          <a:p>
            <a:r>
              <a:rPr lang="en-US" dirty="0"/>
              <a:t>    (CAST('2025-09-01' AS date), CAST('2025-09-01T19:00:00' AS datetime2), 60, 2,3,2,11,9,'Completed',5,'Seeded match')</a:t>
            </a:r>
          </a:p>
          <a:p>
            <a:endParaRPr lang="en-US" sz="1400" dirty="0"/>
          </a:p>
        </p:txBody>
      </p:sp>
    </p:spTree>
    <p:extLst>
      <p:ext uri="{BB962C8B-B14F-4D97-AF65-F5344CB8AC3E}">
        <p14:creationId xmlns:p14="http://schemas.microsoft.com/office/powerpoint/2010/main" val="12365062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A64F-1A01-8C4D-37AC-D950C09E3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BE5CD-4CBA-D28E-E2EE-A5194EDCD40E}"/>
              </a:ext>
            </a:extLst>
          </p:cNvPr>
          <p:cNvSpPr>
            <a:spLocks noGrp="1"/>
          </p:cNvSpPr>
          <p:nvPr>
            <p:ph type="title"/>
          </p:nvPr>
        </p:nvSpPr>
        <p:spPr/>
        <p:txBody>
          <a:bodyPr>
            <a:normAutofit fontScale="90000"/>
          </a:bodyPr>
          <a:lstStyle/>
          <a:p>
            <a:r>
              <a:rPr lang="en-US" b="1" dirty="0"/>
              <a:t>Considerations</a:t>
            </a:r>
            <a:endParaRPr lang="en-US" dirty="0"/>
          </a:p>
        </p:txBody>
      </p:sp>
      <p:sp>
        <p:nvSpPr>
          <p:cNvPr id="3" name="Content Placeholder 2">
            <a:extLst>
              <a:ext uri="{FF2B5EF4-FFF2-40B4-BE49-F238E27FC236}">
                <a16:creationId xmlns:a16="http://schemas.microsoft.com/office/drawing/2014/main" id="{CF83F529-7E22-BC3F-59DB-3978FA71B66F}"/>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6E662EB-4D09-593B-2874-4127980EF2FE}"/>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3AA7E0C9-8A69-534E-5B2C-C57F7ADFF0AE}"/>
              </a:ext>
            </a:extLst>
          </p:cNvPr>
          <p:cNvSpPr>
            <a:spLocks noGrp="1"/>
          </p:cNvSpPr>
          <p:nvPr>
            <p:ph type="sldNum" sz="quarter" idx="12"/>
          </p:nvPr>
        </p:nvSpPr>
        <p:spPr/>
        <p:txBody>
          <a:bodyPr/>
          <a:lstStyle/>
          <a:p>
            <a:fld id="{F6C56E59-C124-411E-B3E7-95D014FC7158}" type="slidenum">
              <a:rPr lang="en-US" smtClean="0"/>
              <a:pPr/>
              <a:t>98</a:t>
            </a:fld>
            <a:endParaRPr lang="en-US"/>
          </a:p>
        </p:txBody>
      </p:sp>
      <p:sp>
        <p:nvSpPr>
          <p:cNvPr id="7" name="TextBox 6">
            <a:extLst>
              <a:ext uri="{FF2B5EF4-FFF2-40B4-BE49-F238E27FC236}">
                <a16:creationId xmlns:a16="http://schemas.microsoft.com/office/drawing/2014/main" id="{DF00D251-18DF-F5E6-0F34-EE7E2D171227}"/>
              </a:ext>
            </a:extLst>
          </p:cNvPr>
          <p:cNvSpPr txBox="1"/>
          <p:nvPr/>
        </p:nvSpPr>
        <p:spPr>
          <a:xfrm>
            <a:off x="499235" y="1442595"/>
            <a:ext cx="11193529" cy="3416320"/>
          </a:xfrm>
          <a:prstGeom prst="rect">
            <a:avLst/>
          </a:prstGeom>
          <a:noFill/>
        </p:spPr>
        <p:txBody>
          <a:bodyPr wrap="square" rtlCol="0">
            <a:spAutoFit/>
          </a:bodyPr>
          <a:lstStyle/>
          <a:p>
            <a:r>
              <a:rPr lang="en-US" b="1" dirty="0"/>
              <a:t>DEFAULT</a:t>
            </a:r>
            <a:r>
              <a:rPr lang="en-US" dirty="0"/>
              <a:t> is a constraint in SQL Server that specifies an automatic value to be assigned to a column when no value is explicitly provided during an INSERT operation.</a:t>
            </a:r>
          </a:p>
          <a:p>
            <a:endParaRPr lang="en-US" dirty="0"/>
          </a:p>
          <a:p>
            <a:r>
              <a:rPr lang="en-US" b="1" dirty="0"/>
              <a:t>NULL in INSERT Statements</a:t>
            </a:r>
            <a:r>
              <a:rPr lang="en-US" dirty="0"/>
              <a:t> represents the absence of a value. NULL is not zero, not an empty string, and not a space—it literally means "no data" or "unknown value.“</a:t>
            </a:r>
          </a:p>
          <a:p>
            <a:endParaRPr lang="en-US" dirty="0"/>
          </a:p>
          <a:p>
            <a:pPr marL="285750" indent="-285750">
              <a:buFont typeface="Arial" panose="020B0604020202020204" pitchFamily="34" charset="0"/>
              <a:buChar char="•"/>
            </a:pPr>
            <a:r>
              <a:rPr lang="en-US" dirty="0"/>
              <a:t>If you insert a NULL value into a column that is NOU NULL, and error will occur.  Even if it has a default value.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leave the field off the list of fields to be inserted, then the default values will be applied.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3622570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1D3DC-A8EB-B72C-332B-BDFF9337B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CB1CD-DF74-74DE-F141-6C38ACDCEE70}"/>
              </a:ext>
            </a:extLst>
          </p:cNvPr>
          <p:cNvSpPr>
            <a:spLocks noGrp="1"/>
          </p:cNvSpPr>
          <p:nvPr>
            <p:ph type="title"/>
          </p:nvPr>
        </p:nvSpPr>
        <p:spPr/>
        <p:txBody>
          <a:bodyPr>
            <a:normAutofit fontScale="90000"/>
          </a:bodyPr>
          <a:lstStyle/>
          <a:p>
            <a:r>
              <a:rPr lang="en-US" b="1" dirty="0"/>
              <a:t>UPDATE</a:t>
            </a:r>
            <a:endParaRPr lang="en-US" dirty="0"/>
          </a:p>
        </p:txBody>
      </p:sp>
      <p:sp>
        <p:nvSpPr>
          <p:cNvPr id="3" name="Content Placeholder 2">
            <a:extLst>
              <a:ext uri="{FF2B5EF4-FFF2-40B4-BE49-F238E27FC236}">
                <a16:creationId xmlns:a16="http://schemas.microsoft.com/office/drawing/2014/main" id="{BBBEA175-53CD-269D-BE08-6C467608DE2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BB55F94-FC6A-0931-60C1-DAA3C2F9A214}"/>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5E06EADA-7EAB-43BF-2E94-EA14C38ECE6F}"/>
              </a:ext>
            </a:extLst>
          </p:cNvPr>
          <p:cNvSpPr>
            <a:spLocks noGrp="1"/>
          </p:cNvSpPr>
          <p:nvPr>
            <p:ph type="sldNum" sz="quarter" idx="12"/>
          </p:nvPr>
        </p:nvSpPr>
        <p:spPr/>
        <p:txBody>
          <a:bodyPr/>
          <a:lstStyle/>
          <a:p>
            <a:fld id="{F6C56E59-C124-411E-B3E7-95D014FC7158}" type="slidenum">
              <a:rPr lang="en-US" smtClean="0"/>
              <a:pPr/>
              <a:t>99</a:t>
            </a:fld>
            <a:endParaRPr lang="en-US"/>
          </a:p>
        </p:txBody>
      </p:sp>
      <p:sp>
        <p:nvSpPr>
          <p:cNvPr id="7" name="TextBox 6">
            <a:extLst>
              <a:ext uri="{FF2B5EF4-FFF2-40B4-BE49-F238E27FC236}">
                <a16:creationId xmlns:a16="http://schemas.microsoft.com/office/drawing/2014/main" id="{359558DF-DBB6-D903-5739-20593A2E1441}"/>
              </a:ext>
            </a:extLst>
          </p:cNvPr>
          <p:cNvSpPr txBox="1"/>
          <p:nvPr/>
        </p:nvSpPr>
        <p:spPr>
          <a:xfrm>
            <a:off x="506227" y="1639622"/>
            <a:ext cx="3259862" cy="3139321"/>
          </a:xfrm>
          <a:prstGeom prst="rect">
            <a:avLst/>
          </a:prstGeom>
          <a:noFill/>
        </p:spPr>
        <p:txBody>
          <a:bodyPr wrap="square" rtlCol="0">
            <a:spAutoFit/>
          </a:bodyPr>
          <a:lstStyle/>
          <a:p>
            <a:r>
              <a:rPr lang="en-US" b="1" dirty="0"/>
              <a:t>UPDATE</a:t>
            </a:r>
            <a:r>
              <a:rPr lang="en-US" dirty="0"/>
              <a:t> is a Data Manipulation Language (DML) statement in SQL used to modify existing data in one or more rows of a table. It changes the values of specified columns for rows that match a given condition.</a:t>
            </a:r>
          </a:p>
          <a:p>
            <a:endParaRPr lang="en-US" dirty="0"/>
          </a:p>
          <a:p>
            <a:r>
              <a:rPr lang="en-US" b="1" dirty="0"/>
              <a:t>OUTPUT –</a:t>
            </a:r>
            <a:r>
              <a:rPr lang="en-US" dirty="0"/>
              <a:t> give access to previous and after update values</a:t>
            </a:r>
          </a:p>
        </p:txBody>
      </p:sp>
      <p:sp>
        <p:nvSpPr>
          <p:cNvPr id="6" name="TextBox 5">
            <a:extLst>
              <a:ext uri="{FF2B5EF4-FFF2-40B4-BE49-F238E27FC236}">
                <a16:creationId xmlns:a16="http://schemas.microsoft.com/office/drawing/2014/main" id="{680F6143-F6A5-B258-B956-55AD77ECD121}"/>
              </a:ext>
            </a:extLst>
          </p:cNvPr>
          <p:cNvSpPr txBox="1"/>
          <p:nvPr/>
        </p:nvSpPr>
        <p:spPr>
          <a:xfrm>
            <a:off x="4134780" y="1652349"/>
            <a:ext cx="7830717" cy="4062651"/>
          </a:xfrm>
          <a:prstGeom prst="rect">
            <a:avLst/>
          </a:prstGeom>
          <a:noFill/>
        </p:spPr>
        <p:txBody>
          <a:bodyPr wrap="square" rtlCol="0">
            <a:spAutoFit/>
          </a:bodyPr>
          <a:lstStyle/>
          <a:p>
            <a:r>
              <a:rPr lang="en-US" sz="1600" dirty="0"/>
              <a:t>-- Update multiple player statistics after a game and show what changed</a:t>
            </a:r>
          </a:p>
          <a:p>
            <a:r>
              <a:rPr lang="en-US" sz="1600" b="1" dirty="0"/>
              <a:t>UPDATE</a:t>
            </a:r>
            <a:r>
              <a:rPr lang="en-US" sz="1600" dirty="0"/>
              <a:t> pos</a:t>
            </a:r>
          </a:p>
          <a:p>
            <a:r>
              <a:rPr lang="en-US" sz="1600" b="1" dirty="0"/>
              <a:t>SET</a:t>
            </a:r>
            <a:r>
              <a:rPr lang="en-US" sz="1600" dirty="0"/>
              <a:t> </a:t>
            </a:r>
            <a:r>
              <a:rPr lang="en-US" sz="1600" dirty="0" err="1"/>
              <a:t>pos.GamesPlayed</a:t>
            </a:r>
            <a:r>
              <a:rPr lang="en-US" sz="1600" dirty="0"/>
              <a:t> = </a:t>
            </a:r>
            <a:r>
              <a:rPr lang="en-US" sz="1600" dirty="0" err="1"/>
              <a:t>pos.GamesPlayed</a:t>
            </a:r>
            <a:r>
              <a:rPr lang="en-US" sz="1600" dirty="0"/>
              <a:t> + 1,</a:t>
            </a:r>
          </a:p>
          <a:p>
            <a:r>
              <a:rPr lang="en-US" sz="1600" dirty="0"/>
              <a:t>         </a:t>
            </a:r>
            <a:r>
              <a:rPr lang="en-US" sz="1600" dirty="0" err="1"/>
              <a:t>pos.TotalThrows</a:t>
            </a:r>
            <a:r>
              <a:rPr lang="en-US" sz="1600" dirty="0"/>
              <a:t> = </a:t>
            </a:r>
            <a:r>
              <a:rPr lang="en-US" sz="1600" dirty="0" err="1"/>
              <a:t>pos.TotalThrows</a:t>
            </a:r>
            <a:r>
              <a:rPr lang="en-US" sz="1600" dirty="0"/>
              <a:t> + 45,</a:t>
            </a:r>
          </a:p>
          <a:p>
            <a:r>
              <a:rPr lang="en-US" sz="1600" dirty="0"/>
              <a:t>        </a:t>
            </a:r>
            <a:r>
              <a:rPr lang="en-US" sz="1600" dirty="0" err="1"/>
              <a:t>pos.SuccessfulHits</a:t>
            </a:r>
            <a:r>
              <a:rPr lang="en-US" sz="1600" dirty="0"/>
              <a:t> = </a:t>
            </a:r>
            <a:r>
              <a:rPr lang="en-US" sz="1600" dirty="0" err="1"/>
              <a:t>pos.SuccessfulHits</a:t>
            </a:r>
            <a:r>
              <a:rPr lang="en-US" sz="1600" dirty="0"/>
              <a:t> + 12,</a:t>
            </a:r>
          </a:p>
          <a:p>
            <a:r>
              <a:rPr lang="en-US" sz="1600" dirty="0"/>
              <a:t>        </a:t>
            </a:r>
            <a:r>
              <a:rPr lang="en-US" sz="1600" dirty="0" err="1"/>
              <a:t>pos.TotalCatches</a:t>
            </a:r>
            <a:r>
              <a:rPr lang="en-US" sz="1600" dirty="0"/>
              <a:t> = </a:t>
            </a:r>
            <a:r>
              <a:rPr lang="en-US" sz="1600" dirty="0" err="1"/>
              <a:t>pos.TotalCatches</a:t>
            </a:r>
            <a:r>
              <a:rPr lang="en-US" sz="1600" dirty="0"/>
              <a:t> + 8</a:t>
            </a:r>
          </a:p>
          <a:p>
            <a:r>
              <a:rPr lang="en-US" sz="1600" b="1" dirty="0"/>
              <a:t>OUTPUT</a:t>
            </a:r>
            <a:r>
              <a:rPr lang="en-US" sz="1600" dirty="0"/>
              <a:t> </a:t>
            </a:r>
            <a:r>
              <a:rPr lang="en-US" sz="1600" dirty="0" err="1"/>
              <a:t>DELETED.PlayerId</a:t>
            </a:r>
            <a:r>
              <a:rPr lang="en-US" sz="1600" dirty="0"/>
              <a:t>,</a:t>
            </a:r>
          </a:p>
          <a:p>
            <a:r>
              <a:rPr lang="en-US" sz="1600" dirty="0"/>
              <a:t>                  </a:t>
            </a:r>
            <a:r>
              <a:rPr lang="en-US" sz="1600" dirty="0" err="1"/>
              <a:t>DELETED.GamesPlayed</a:t>
            </a:r>
            <a:r>
              <a:rPr lang="en-US" sz="1600" dirty="0"/>
              <a:t> AS </a:t>
            </a:r>
            <a:r>
              <a:rPr lang="en-US" sz="1600" dirty="0" err="1"/>
              <a:t>OldGamesPlayed</a:t>
            </a:r>
            <a:r>
              <a:rPr lang="en-US" sz="1600" dirty="0"/>
              <a:t>,</a:t>
            </a:r>
          </a:p>
          <a:p>
            <a:r>
              <a:rPr lang="en-US" sz="1600" dirty="0"/>
              <a:t>                  </a:t>
            </a:r>
            <a:r>
              <a:rPr lang="en-US" sz="1600" dirty="0" err="1"/>
              <a:t>INSERTED.GamesPlayed</a:t>
            </a:r>
            <a:r>
              <a:rPr lang="en-US" sz="1600" dirty="0"/>
              <a:t> AS </a:t>
            </a:r>
            <a:r>
              <a:rPr lang="en-US" sz="1600" dirty="0" err="1"/>
              <a:t>NewGamesPlayed</a:t>
            </a:r>
            <a:r>
              <a:rPr lang="en-US" sz="1600" dirty="0"/>
              <a:t>,</a:t>
            </a:r>
          </a:p>
          <a:p>
            <a:r>
              <a:rPr lang="en-US" sz="1600" dirty="0"/>
              <a:t>                  </a:t>
            </a:r>
            <a:r>
              <a:rPr lang="en-US" sz="1600" dirty="0" err="1"/>
              <a:t>DELETED.TotalPoints</a:t>
            </a:r>
            <a:r>
              <a:rPr lang="en-US" sz="1600" dirty="0"/>
              <a:t> AS </a:t>
            </a:r>
            <a:r>
              <a:rPr lang="en-US" sz="1600" dirty="0" err="1"/>
              <a:t>OldTotalPoints,FROM</a:t>
            </a:r>
            <a:r>
              <a:rPr lang="en-US" sz="1600" dirty="0"/>
              <a:t> </a:t>
            </a:r>
            <a:r>
              <a:rPr lang="en-US" sz="1600" dirty="0" err="1"/>
              <a:t>dbo.PlayerOverallStatistics</a:t>
            </a:r>
            <a:r>
              <a:rPr lang="en-US" sz="1600" dirty="0"/>
              <a:t> pos</a:t>
            </a:r>
          </a:p>
          <a:p>
            <a:r>
              <a:rPr lang="en-US" dirty="0"/>
              <a:t>FROM </a:t>
            </a:r>
            <a:r>
              <a:rPr lang="en-US" dirty="0" err="1"/>
              <a:t>dbo.PlayerOverallStatistics</a:t>
            </a:r>
            <a:r>
              <a:rPr lang="en-US" dirty="0"/>
              <a:t> pos</a:t>
            </a:r>
          </a:p>
          <a:p>
            <a:r>
              <a:rPr lang="en-US" sz="1600" dirty="0"/>
              <a:t>INNER JOIN </a:t>
            </a:r>
            <a:r>
              <a:rPr lang="en-US" sz="1600" dirty="0" err="1"/>
              <a:t>dbo.Player</a:t>
            </a:r>
            <a:r>
              <a:rPr lang="en-US" sz="1600" dirty="0"/>
              <a:t> p ON </a:t>
            </a:r>
            <a:r>
              <a:rPr lang="en-US" sz="1600" dirty="0" err="1"/>
              <a:t>pos.PlayerId</a:t>
            </a:r>
            <a:r>
              <a:rPr lang="en-US" sz="1600" dirty="0"/>
              <a:t> = </a:t>
            </a:r>
            <a:r>
              <a:rPr lang="en-US" sz="1600" dirty="0" err="1"/>
              <a:t>p.Id</a:t>
            </a:r>
            <a:endParaRPr lang="en-US" sz="1600" dirty="0"/>
          </a:p>
          <a:p>
            <a:r>
              <a:rPr lang="en-US" sz="1600" dirty="0"/>
              <a:t>INNER JOIN </a:t>
            </a:r>
            <a:r>
              <a:rPr lang="en-US" sz="1600" dirty="0" err="1"/>
              <a:t>dbo.Team</a:t>
            </a:r>
            <a:r>
              <a:rPr lang="en-US" sz="1600" dirty="0"/>
              <a:t> t ON </a:t>
            </a:r>
            <a:r>
              <a:rPr lang="en-US" sz="1600" dirty="0" err="1"/>
              <a:t>p.TeamId</a:t>
            </a:r>
            <a:r>
              <a:rPr lang="en-US" sz="1600" dirty="0"/>
              <a:t> = </a:t>
            </a:r>
            <a:r>
              <a:rPr lang="en-US" sz="1600" dirty="0" err="1"/>
              <a:t>t.Id</a:t>
            </a:r>
            <a:endParaRPr lang="en-US" sz="1600" dirty="0"/>
          </a:p>
          <a:p>
            <a:r>
              <a:rPr lang="en-US" sz="1600" dirty="0"/>
              <a:t>WHERE </a:t>
            </a:r>
            <a:r>
              <a:rPr lang="en-US" sz="1600" dirty="0" err="1"/>
              <a:t>t.Name</a:t>
            </a:r>
            <a:r>
              <a:rPr lang="en-US" sz="1600" dirty="0"/>
              <a:t> = 'Lightning Bolts' AND </a:t>
            </a:r>
          </a:p>
          <a:p>
            <a:r>
              <a:rPr lang="en-US" sz="1600" dirty="0"/>
              <a:t>                 </a:t>
            </a:r>
            <a:r>
              <a:rPr lang="en-US" sz="1600" dirty="0" err="1"/>
              <a:t>p.IsActive</a:t>
            </a:r>
            <a:r>
              <a:rPr lang="en-US" sz="1600" dirty="0"/>
              <a:t> = 1;</a:t>
            </a:r>
          </a:p>
          <a:p>
            <a:endParaRPr lang="en-US" sz="1600" dirty="0"/>
          </a:p>
        </p:txBody>
      </p:sp>
    </p:spTree>
    <p:extLst>
      <p:ext uri="{BB962C8B-B14F-4D97-AF65-F5344CB8AC3E}">
        <p14:creationId xmlns:p14="http://schemas.microsoft.com/office/powerpoint/2010/main" val="22226535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8A71-0B4C-DB19-AB0F-19B5DEC08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61254-1F94-53E8-D35E-E13E02B5C47A}"/>
              </a:ext>
            </a:extLst>
          </p:cNvPr>
          <p:cNvSpPr>
            <a:spLocks noGrp="1"/>
          </p:cNvSpPr>
          <p:nvPr>
            <p:ph type="title"/>
          </p:nvPr>
        </p:nvSpPr>
        <p:spPr/>
        <p:txBody>
          <a:bodyPr>
            <a:normAutofit fontScale="90000"/>
          </a:bodyPr>
          <a:lstStyle/>
          <a:p>
            <a:r>
              <a:rPr lang="en-US" b="1" dirty="0"/>
              <a:t>DELETE</a:t>
            </a:r>
            <a:endParaRPr lang="en-US" dirty="0"/>
          </a:p>
        </p:txBody>
      </p:sp>
      <p:sp>
        <p:nvSpPr>
          <p:cNvPr id="3" name="Content Placeholder 2">
            <a:extLst>
              <a:ext uri="{FF2B5EF4-FFF2-40B4-BE49-F238E27FC236}">
                <a16:creationId xmlns:a16="http://schemas.microsoft.com/office/drawing/2014/main" id="{F5A3084C-3F48-B929-3AE6-65BFBAAEA247}"/>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3E340E1A-ABA6-5750-1B23-5005B7267DC2}"/>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359EA225-6502-C388-6655-5E9EC5E2EF1B}"/>
              </a:ext>
            </a:extLst>
          </p:cNvPr>
          <p:cNvSpPr>
            <a:spLocks noGrp="1"/>
          </p:cNvSpPr>
          <p:nvPr>
            <p:ph type="sldNum" sz="quarter" idx="12"/>
          </p:nvPr>
        </p:nvSpPr>
        <p:spPr/>
        <p:txBody>
          <a:bodyPr/>
          <a:lstStyle/>
          <a:p>
            <a:fld id="{F6C56E59-C124-411E-B3E7-95D014FC7158}" type="slidenum">
              <a:rPr lang="en-US" smtClean="0"/>
              <a:pPr/>
              <a:t>100</a:t>
            </a:fld>
            <a:endParaRPr lang="en-US"/>
          </a:p>
        </p:txBody>
      </p:sp>
      <p:sp>
        <p:nvSpPr>
          <p:cNvPr id="7" name="TextBox 6">
            <a:extLst>
              <a:ext uri="{FF2B5EF4-FFF2-40B4-BE49-F238E27FC236}">
                <a16:creationId xmlns:a16="http://schemas.microsoft.com/office/drawing/2014/main" id="{D60FA5B2-AD0C-98F4-6DC4-11E5C5F0AB06}"/>
              </a:ext>
            </a:extLst>
          </p:cNvPr>
          <p:cNvSpPr txBox="1"/>
          <p:nvPr/>
        </p:nvSpPr>
        <p:spPr>
          <a:xfrm>
            <a:off x="506227" y="1639622"/>
            <a:ext cx="3259862" cy="3139321"/>
          </a:xfrm>
          <a:prstGeom prst="rect">
            <a:avLst/>
          </a:prstGeom>
          <a:noFill/>
        </p:spPr>
        <p:txBody>
          <a:bodyPr wrap="square" rtlCol="0">
            <a:spAutoFit/>
          </a:bodyPr>
          <a:lstStyle/>
          <a:p>
            <a:r>
              <a:rPr lang="en-US" b="1" dirty="0"/>
              <a:t>UPDATE</a:t>
            </a:r>
            <a:r>
              <a:rPr lang="en-US" dirty="0"/>
              <a:t> is a Data Manipulation Language (DML) statement in SQL used to modify existing data in one or more rows of a table. It changes the values of specified columns for rows that match a given condition.</a:t>
            </a:r>
          </a:p>
          <a:p>
            <a:endParaRPr lang="en-US" dirty="0"/>
          </a:p>
          <a:p>
            <a:r>
              <a:rPr lang="en-US" b="1" dirty="0"/>
              <a:t>OUTPUT –</a:t>
            </a:r>
            <a:r>
              <a:rPr lang="en-US" dirty="0"/>
              <a:t> give access to previous and after update values</a:t>
            </a:r>
          </a:p>
        </p:txBody>
      </p:sp>
      <p:sp>
        <p:nvSpPr>
          <p:cNvPr id="6" name="TextBox 5">
            <a:extLst>
              <a:ext uri="{FF2B5EF4-FFF2-40B4-BE49-F238E27FC236}">
                <a16:creationId xmlns:a16="http://schemas.microsoft.com/office/drawing/2014/main" id="{74A2FF0C-85E9-190C-2C2D-8F94E1AC6DA5}"/>
              </a:ext>
            </a:extLst>
          </p:cNvPr>
          <p:cNvSpPr txBox="1"/>
          <p:nvPr/>
        </p:nvSpPr>
        <p:spPr>
          <a:xfrm>
            <a:off x="4134780" y="1652349"/>
            <a:ext cx="7830717" cy="4062651"/>
          </a:xfrm>
          <a:prstGeom prst="rect">
            <a:avLst/>
          </a:prstGeom>
          <a:noFill/>
        </p:spPr>
        <p:txBody>
          <a:bodyPr wrap="square" rtlCol="0">
            <a:spAutoFit/>
          </a:bodyPr>
          <a:lstStyle/>
          <a:p>
            <a:r>
              <a:rPr lang="en-US" sz="1600" dirty="0"/>
              <a:t>-- Update multiple player statistics after a game and show what changed</a:t>
            </a:r>
          </a:p>
          <a:p>
            <a:r>
              <a:rPr lang="en-US" sz="1600" b="1" dirty="0"/>
              <a:t>UPDATE</a:t>
            </a:r>
            <a:r>
              <a:rPr lang="en-US" sz="1600" dirty="0"/>
              <a:t> pos</a:t>
            </a:r>
          </a:p>
          <a:p>
            <a:r>
              <a:rPr lang="en-US" sz="1600" b="1" dirty="0"/>
              <a:t>SET</a:t>
            </a:r>
            <a:r>
              <a:rPr lang="en-US" sz="1600" dirty="0"/>
              <a:t> </a:t>
            </a:r>
            <a:r>
              <a:rPr lang="en-US" sz="1600" dirty="0" err="1"/>
              <a:t>pos.GamesPlayed</a:t>
            </a:r>
            <a:r>
              <a:rPr lang="en-US" sz="1600" dirty="0"/>
              <a:t> = </a:t>
            </a:r>
            <a:r>
              <a:rPr lang="en-US" sz="1600" dirty="0" err="1"/>
              <a:t>pos.GamesPlayed</a:t>
            </a:r>
            <a:r>
              <a:rPr lang="en-US" sz="1600" dirty="0"/>
              <a:t> + 1,</a:t>
            </a:r>
          </a:p>
          <a:p>
            <a:r>
              <a:rPr lang="en-US" sz="1600" dirty="0"/>
              <a:t>         </a:t>
            </a:r>
            <a:r>
              <a:rPr lang="en-US" sz="1600" dirty="0" err="1"/>
              <a:t>pos.TotalThrows</a:t>
            </a:r>
            <a:r>
              <a:rPr lang="en-US" sz="1600" dirty="0"/>
              <a:t> = </a:t>
            </a:r>
            <a:r>
              <a:rPr lang="en-US" sz="1600" dirty="0" err="1"/>
              <a:t>pos.TotalThrows</a:t>
            </a:r>
            <a:r>
              <a:rPr lang="en-US" sz="1600" dirty="0"/>
              <a:t> + 45,</a:t>
            </a:r>
          </a:p>
          <a:p>
            <a:r>
              <a:rPr lang="en-US" sz="1600" dirty="0"/>
              <a:t>        </a:t>
            </a:r>
            <a:r>
              <a:rPr lang="en-US" sz="1600" dirty="0" err="1"/>
              <a:t>pos.SuccessfulHits</a:t>
            </a:r>
            <a:r>
              <a:rPr lang="en-US" sz="1600" dirty="0"/>
              <a:t> = </a:t>
            </a:r>
            <a:r>
              <a:rPr lang="en-US" sz="1600" dirty="0" err="1"/>
              <a:t>pos.SuccessfulHits</a:t>
            </a:r>
            <a:r>
              <a:rPr lang="en-US" sz="1600" dirty="0"/>
              <a:t> + 12,</a:t>
            </a:r>
          </a:p>
          <a:p>
            <a:r>
              <a:rPr lang="en-US" sz="1600" dirty="0"/>
              <a:t>        </a:t>
            </a:r>
            <a:r>
              <a:rPr lang="en-US" sz="1600" dirty="0" err="1"/>
              <a:t>pos.TotalCatches</a:t>
            </a:r>
            <a:r>
              <a:rPr lang="en-US" sz="1600" dirty="0"/>
              <a:t> = </a:t>
            </a:r>
            <a:r>
              <a:rPr lang="en-US" sz="1600" dirty="0" err="1"/>
              <a:t>pos.TotalCatches</a:t>
            </a:r>
            <a:r>
              <a:rPr lang="en-US" sz="1600" dirty="0"/>
              <a:t> + 8</a:t>
            </a:r>
          </a:p>
          <a:p>
            <a:r>
              <a:rPr lang="en-US" sz="1600" b="1" dirty="0"/>
              <a:t>OUTPUT</a:t>
            </a:r>
            <a:r>
              <a:rPr lang="en-US" sz="1600" dirty="0"/>
              <a:t> </a:t>
            </a:r>
            <a:r>
              <a:rPr lang="en-US" sz="1600" dirty="0" err="1"/>
              <a:t>DELETED.PlayerId</a:t>
            </a:r>
            <a:r>
              <a:rPr lang="en-US" sz="1600" dirty="0"/>
              <a:t>,</a:t>
            </a:r>
          </a:p>
          <a:p>
            <a:r>
              <a:rPr lang="en-US" sz="1600" dirty="0"/>
              <a:t>                  </a:t>
            </a:r>
            <a:r>
              <a:rPr lang="en-US" sz="1600" dirty="0" err="1"/>
              <a:t>DELETED.GamesPlayed</a:t>
            </a:r>
            <a:r>
              <a:rPr lang="en-US" sz="1600" dirty="0"/>
              <a:t> AS </a:t>
            </a:r>
            <a:r>
              <a:rPr lang="en-US" sz="1600" dirty="0" err="1"/>
              <a:t>OldGamesPlayed</a:t>
            </a:r>
            <a:r>
              <a:rPr lang="en-US" sz="1600" dirty="0"/>
              <a:t>,</a:t>
            </a:r>
          </a:p>
          <a:p>
            <a:r>
              <a:rPr lang="en-US" sz="1600" dirty="0"/>
              <a:t>                  </a:t>
            </a:r>
            <a:r>
              <a:rPr lang="en-US" sz="1600" dirty="0" err="1"/>
              <a:t>INSERTED.GamesPlayed</a:t>
            </a:r>
            <a:r>
              <a:rPr lang="en-US" sz="1600" dirty="0"/>
              <a:t> AS </a:t>
            </a:r>
            <a:r>
              <a:rPr lang="en-US" sz="1600" dirty="0" err="1"/>
              <a:t>NewGamesPlayed</a:t>
            </a:r>
            <a:r>
              <a:rPr lang="en-US" sz="1600" dirty="0"/>
              <a:t>,</a:t>
            </a:r>
          </a:p>
          <a:p>
            <a:r>
              <a:rPr lang="en-US" sz="1600" dirty="0"/>
              <a:t>                  </a:t>
            </a:r>
            <a:r>
              <a:rPr lang="en-US" sz="1600" dirty="0" err="1"/>
              <a:t>DELETED.TotalPoints</a:t>
            </a:r>
            <a:r>
              <a:rPr lang="en-US" sz="1600" dirty="0"/>
              <a:t> AS </a:t>
            </a:r>
            <a:r>
              <a:rPr lang="en-US" sz="1600" dirty="0" err="1"/>
              <a:t>OldTotalPoints,FROM</a:t>
            </a:r>
            <a:r>
              <a:rPr lang="en-US" sz="1600" dirty="0"/>
              <a:t> </a:t>
            </a:r>
            <a:r>
              <a:rPr lang="en-US" sz="1600" dirty="0" err="1"/>
              <a:t>dbo.PlayerOverallStatistics</a:t>
            </a:r>
            <a:r>
              <a:rPr lang="en-US" sz="1600" dirty="0"/>
              <a:t> pos</a:t>
            </a:r>
          </a:p>
          <a:p>
            <a:r>
              <a:rPr lang="en-US" dirty="0"/>
              <a:t>FROM </a:t>
            </a:r>
            <a:r>
              <a:rPr lang="en-US" dirty="0" err="1"/>
              <a:t>dbo.PlayerOverallStatistics</a:t>
            </a:r>
            <a:r>
              <a:rPr lang="en-US" dirty="0"/>
              <a:t> pos</a:t>
            </a:r>
          </a:p>
          <a:p>
            <a:r>
              <a:rPr lang="en-US" sz="1600" dirty="0"/>
              <a:t>INNER JOIN </a:t>
            </a:r>
            <a:r>
              <a:rPr lang="en-US" sz="1600" dirty="0" err="1"/>
              <a:t>dbo.Player</a:t>
            </a:r>
            <a:r>
              <a:rPr lang="en-US" sz="1600" dirty="0"/>
              <a:t> p ON </a:t>
            </a:r>
            <a:r>
              <a:rPr lang="en-US" sz="1600" dirty="0" err="1"/>
              <a:t>pos.PlayerId</a:t>
            </a:r>
            <a:r>
              <a:rPr lang="en-US" sz="1600" dirty="0"/>
              <a:t> = </a:t>
            </a:r>
            <a:r>
              <a:rPr lang="en-US" sz="1600" dirty="0" err="1"/>
              <a:t>p.Id</a:t>
            </a:r>
            <a:endParaRPr lang="en-US" sz="1600" dirty="0"/>
          </a:p>
          <a:p>
            <a:r>
              <a:rPr lang="en-US" sz="1600" dirty="0"/>
              <a:t>INNER JOIN </a:t>
            </a:r>
            <a:r>
              <a:rPr lang="en-US" sz="1600" dirty="0" err="1"/>
              <a:t>dbo.Team</a:t>
            </a:r>
            <a:r>
              <a:rPr lang="en-US" sz="1600" dirty="0"/>
              <a:t> t ON </a:t>
            </a:r>
            <a:r>
              <a:rPr lang="en-US" sz="1600" dirty="0" err="1"/>
              <a:t>p.TeamId</a:t>
            </a:r>
            <a:r>
              <a:rPr lang="en-US" sz="1600" dirty="0"/>
              <a:t> = </a:t>
            </a:r>
            <a:r>
              <a:rPr lang="en-US" sz="1600" dirty="0" err="1"/>
              <a:t>t.Id</a:t>
            </a:r>
            <a:endParaRPr lang="en-US" sz="1600" dirty="0"/>
          </a:p>
          <a:p>
            <a:r>
              <a:rPr lang="en-US" sz="1600" dirty="0"/>
              <a:t>WHERE </a:t>
            </a:r>
            <a:r>
              <a:rPr lang="en-US" sz="1600" dirty="0" err="1"/>
              <a:t>t.Name</a:t>
            </a:r>
            <a:r>
              <a:rPr lang="en-US" sz="1600" dirty="0"/>
              <a:t> = 'Lightning Bolts' AND </a:t>
            </a:r>
          </a:p>
          <a:p>
            <a:r>
              <a:rPr lang="en-US" sz="1600" dirty="0"/>
              <a:t>                 </a:t>
            </a:r>
            <a:r>
              <a:rPr lang="en-US" sz="1600" dirty="0" err="1"/>
              <a:t>p.IsActive</a:t>
            </a:r>
            <a:r>
              <a:rPr lang="en-US" sz="1600" dirty="0"/>
              <a:t> = 1;</a:t>
            </a:r>
          </a:p>
          <a:p>
            <a:endParaRPr lang="en-US" sz="1600" dirty="0"/>
          </a:p>
        </p:txBody>
      </p:sp>
    </p:spTree>
    <p:extLst>
      <p:ext uri="{BB962C8B-B14F-4D97-AF65-F5344CB8AC3E}">
        <p14:creationId xmlns:p14="http://schemas.microsoft.com/office/powerpoint/2010/main" val="27399130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6A16C-4B4A-3519-955E-201C7FBAC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736AC-3AB9-E7D8-652D-A5ED25D436B6}"/>
              </a:ext>
            </a:extLst>
          </p:cNvPr>
          <p:cNvSpPr>
            <a:spLocks noGrp="1"/>
          </p:cNvSpPr>
          <p:nvPr>
            <p:ph type="title"/>
          </p:nvPr>
        </p:nvSpPr>
        <p:spPr/>
        <p:txBody>
          <a:bodyPr>
            <a:normAutofit fontScale="90000"/>
          </a:bodyPr>
          <a:lstStyle/>
          <a:p>
            <a:r>
              <a:rPr lang="en-US" b="1" dirty="0"/>
              <a:t>UPDATE</a:t>
            </a:r>
            <a:endParaRPr lang="en-US" dirty="0"/>
          </a:p>
        </p:txBody>
      </p:sp>
      <p:sp>
        <p:nvSpPr>
          <p:cNvPr id="3" name="Content Placeholder 2">
            <a:extLst>
              <a:ext uri="{FF2B5EF4-FFF2-40B4-BE49-F238E27FC236}">
                <a16:creationId xmlns:a16="http://schemas.microsoft.com/office/drawing/2014/main" id="{A6486D7C-F386-F165-33C1-43F61151CD0A}"/>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708EF0CA-B8AE-FE5C-0866-93AA1FBDF040}"/>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1D8A446B-5873-221F-A1BA-0C3EBF384E12}"/>
              </a:ext>
            </a:extLst>
          </p:cNvPr>
          <p:cNvSpPr>
            <a:spLocks noGrp="1"/>
          </p:cNvSpPr>
          <p:nvPr>
            <p:ph type="sldNum" sz="quarter" idx="12"/>
          </p:nvPr>
        </p:nvSpPr>
        <p:spPr/>
        <p:txBody>
          <a:bodyPr/>
          <a:lstStyle/>
          <a:p>
            <a:fld id="{F6C56E59-C124-411E-B3E7-95D014FC7158}" type="slidenum">
              <a:rPr lang="en-US" smtClean="0"/>
              <a:pPr/>
              <a:t>101</a:t>
            </a:fld>
            <a:endParaRPr lang="en-US"/>
          </a:p>
        </p:txBody>
      </p:sp>
      <p:sp>
        <p:nvSpPr>
          <p:cNvPr id="6" name="TextBox 5">
            <a:extLst>
              <a:ext uri="{FF2B5EF4-FFF2-40B4-BE49-F238E27FC236}">
                <a16:creationId xmlns:a16="http://schemas.microsoft.com/office/drawing/2014/main" id="{25AC5BCB-E2F1-6DEB-3CEB-2295CC735880}"/>
              </a:ext>
            </a:extLst>
          </p:cNvPr>
          <p:cNvSpPr txBox="1"/>
          <p:nvPr/>
        </p:nvSpPr>
        <p:spPr>
          <a:xfrm>
            <a:off x="4134780" y="1652349"/>
            <a:ext cx="7830717" cy="4062651"/>
          </a:xfrm>
          <a:prstGeom prst="rect">
            <a:avLst/>
          </a:prstGeom>
          <a:noFill/>
        </p:spPr>
        <p:txBody>
          <a:bodyPr wrap="square" rtlCol="0">
            <a:spAutoFit/>
          </a:bodyPr>
          <a:lstStyle/>
          <a:p>
            <a:r>
              <a:rPr lang="en-US" sz="1600" dirty="0"/>
              <a:t>-- Update multiple player statistics after a game and show what changed</a:t>
            </a:r>
          </a:p>
          <a:p>
            <a:r>
              <a:rPr lang="en-US" sz="1600" b="1" dirty="0"/>
              <a:t>UPDATE</a:t>
            </a:r>
            <a:r>
              <a:rPr lang="en-US" sz="1600" dirty="0"/>
              <a:t> pos</a:t>
            </a:r>
          </a:p>
          <a:p>
            <a:r>
              <a:rPr lang="en-US" sz="1600" b="1" dirty="0"/>
              <a:t>SET</a:t>
            </a:r>
            <a:r>
              <a:rPr lang="en-US" sz="1600" dirty="0"/>
              <a:t> </a:t>
            </a:r>
            <a:r>
              <a:rPr lang="en-US" sz="1600" dirty="0" err="1"/>
              <a:t>pos.GamesPlayed</a:t>
            </a:r>
            <a:r>
              <a:rPr lang="en-US" sz="1600" dirty="0"/>
              <a:t> = </a:t>
            </a:r>
            <a:r>
              <a:rPr lang="en-US" sz="1600" dirty="0" err="1"/>
              <a:t>pos.GamesPlayed</a:t>
            </a:r>
            <a:r>
              <a:rPr lang="en-US" sz="1600" dirty="0"/>
              <a:t> + 1,</a:t>
            </a:r>
          </a:p>
          <a:p>
            <a:r>
              <a:rPr lang="en-US" sz="1600" dirty="0"/>
              <a:t>         </a:t>
            </a:r>
            <a:r>
              <a:rPr lang="en-US" sz="1600" dirty="0" err="1"/>
              <a:t>pos.TotalThrows</a:t>
            </a:r>
            <a:r>
              <a:rPr lang="en-US" sz="1600" dirty="0"/>
              <a:t> = </a:t>
            </a:r>
            <a:r>
              <a:rPr lang="en-US" sz="1600" dirty="0" err="1"/>
              <a:t>pos.TotalThrows</a:t>
            </a:r>
            <a:r>
              <a:rPr lang="en-US" sz="1600" dirty="0"/>
              <a:t> + 45,</a:t>
            </a:r>
          </a:p>
          <a:p>
            <a:r>
              <a:rPr lang="en-US" sz="1600" dirty="0"/>
              <a:t>        </a:t>
            </a:r>
            <a:r>
              <a:rPr lang="en-US" sz="1600" dirty="0" err="1"/>
              <a:t>pos.SuccessfulHits</a:t>
            </a:r>
            <a:r>
              <a:rPr lang="en-US" sz="1600" dirty="0"/>
              <a:t> = </a:t>
            </a:r>
            <a:r>
              <a:rPr lang="en-US" sz="1600" dirty="0" err="1"/>
              <a:t>pos.SuccessfulHits</a:t>
            </a:r>
            <a:r>
              <a:rPr lang="en-US" sz="1600" dirty="0"/>
              <a:t> + 12,</a:t>
            </a:r>
          </a:p>
          <a:p>
            <a:r>
              <a:rPr lang="en-US" sz="1600" dirty="0"/>
              <a:t>        </a:t>
            </a:r>
            <a:r>
              <a:rPr lang="en-US" sz="1600" dirty="0" err="1"/>
              <a:t>pos.TotalCatches</a:t>
            </a:r>
            <a:r>
              <a:rPr lang="en-US" sz="1600" dirty="0"/>
              <a:t> = </a:t>
            </a:r>
            <a:r>
              <a:rPr lang="en-US" sz="1600" dirty="0" err="1"/>
              <a:t>pos.TotalCatches</a:t>
            </a:r>
            <a:r>
              <a:rPr lang="en-US" sz="1600" dirty="0"/>
              <a:t> + 8</a:t>
            </a:r>
          </a:p>
          <a:p>
            <a:r>
              <a:rPr lang="en-US" sz="1600" b="1" dirty="0"/>
              <a:t>OUTPUT</a:t>
            </a:r>
            <a:r>
              <a:rPr lang="en-US" sz="1600" dirty="0"/>
              <a:t> </a:t>
            </a:r>
            <a:r>
              <a:rPr lang="en-US" sz="1600" dirty="0" err="1"/>
              <a:t>DELETED.PlayerId</a:t>
            </a:r>
            <a:r>
              <a:rPr lang="en-US" sz="1600" dirty="0"/>
              <a:t>,</a:t>
            </a:r>
          </a:p>
          <a:p>
            <a:r>
              <a:rPr lang="en-US" sz="1600" dirty="0"/>
              <a:t>                  </a:t>
            </a:r>
            <a:r>
              <a:rPr lang="en-US" sz="1600" dirty="0" err="1"/>
              <a:t>DELETED.GamesPlayed</a:t>
            </a:r>
            <a:r>
              <a:rPr lang="en-US" sz="1600" dirty="0"/>
              <a:t> AS </a:t>
            </a:r>
            <a:r>
              <a:rPr lang="en-US" sz="1600" dirty="0" err="1"/>
              <a:t>OldGamesPlayed</a:t>
            </a:r>
            <a:r>
              <a:rPr lang="en-US" sz="1600" dirty="0"/>
              <a:t>,</a:t>
            </a:r>
          </a:p>
          <a:p>
            <a:r>
              <a:rPr lang="en-US" sz="1600" dirty="0"/>
              <a:t>                  </a:t>
            </a:r>
            <a:r>
              <a:rPr lang="en-US" sz="1600" dirty="0" err="1"/>
              <a:t>INSERTED.GamesPlayed</a:t>
            </a:r>
            <a:r>
              <a:rPr lang="en-US" sz="1600" dirty="0"/>
              <a:t> AS </a:t>
            </a:r>
            <a:r>
              <a:rPr lang="en-US" sz="1600" dirty="0" err="1"/>
              <a:t>NewGamesPlayed</a:t>
            </a:r>
            <a:r>
              <a:rPr lang="en-US" sz="1600" dirty="0"/>
              <a:t>,</a:t>
            </a:r>
          </a:p>
          <a:p>
            <a:r>
              <a:rPr lang="en-US" sz="1600" dirty="0"/>
              <a:t>                  </a:t>
            </a:r>
            <a:r>
              <a:rPr lang="en-US" sz="1600" dirty="0" err="1"/>
              <a:t>DELETED.TotalPoints</a:t>
            </a:r>
            <a:r>
              <a:rPr lang="en-US" sz="1600" dirty="0"/>
              <a:t> AS </a:t>
            </a:r>
            <a:r>
              <a:rPr lang="en-US" sz="1600" dirty="0" err="1"/>
              <a:t>OldTotalPoints,FROM</a:t>
            </a:r>
            <a:r>
              <a:rPr lang="en-US" sz="1600" dirty="0"/>
              <a:t> </a:t>
            </a:r>
            <a:r>
              <a:rPr lang="en-US" sz="1600" dirty="0" err="1"/>
              <a:t>dbo.PlayerOverallStatistics</a:t>
            </a:r>
            <a:r>
              <a:rPr lang="en-US" sz="1600" dirty="0"/>
              <a:t> pos</a:t>
            </a:r>
          </a:p>
          <a:p>
            <a:r>
              <a:rPr lang="en-US" dirty="0"/>
              <a:t>FROM </a:t>
            </a:r>
            <a:r>
              <a:rPr lang="en-US" dirty="0" err="1"/>
              <a:t>dbo.PlayerOverallStatistics</a:t>
            </a:r>
            <a:r>
              <a:rPr lang="en-US" dirty="0"/>
              <a:t> pos</a:t>
            </a:r>
          </a:p>
          <a:p>
            <a:r>
              <a:rPr lang="en-US" sz="1600" dirty="0"/>
              <a:t>INNER JOIN </a:t>
            </a:r>
            <a:r>
              <a:rPr lang="en-US" sz="1600" dirty="0" err="1"/>
              <a:t>dbo.Player</a:t>
            </a:r>
            <a:r>
              <a:rPr lang="en-US" sz="1600" dirty="0"/>
              <a:t> p ON </a:t>
            </a:r>
            <a:r>
              <a:rPr lang="en-US" sz="1600" dirty="0" err="1"/>
              <a:t>pos.PlayerId</a:t>
            </a:r>
            <a:r>
              <a:rPr lang="en-US" sz="1600" dirty="0"/>
              <a:t> = </a:t>
            </a:r>
            <a:r>
              <a:rPr lang="en-US" sz="1600" dirty="0" err="1"/>
              <a:t>p.Id</a:t>
            </a:r>
            <a:endParaRPr lang="en-US" sz="1600" dirty="0"/>
          </a:p>
          <a:p>
            <a:r>
              <a:rPr lang="en-US" sz="1600" dirty="0"/>
              <a:t>INNER JOIN </a:t>
            </a:r>
            <a:r>
              <a:rPr lang="en-US" sz="1600" dirty="0" err="1"/>
              <a:t>dbo.Team</a:t>
            </a:r>
            <a:r>
              <a:rPr lang="en-US" sz="1600" dirty="0"/>
              <a:t> t ON </a:t>
            </a:r>
            <a:r>
              <a:rPr lang="en-US" sz="1600" dirty="0" err="1"/>
              <a:t>p.TeamId</a:t>
            </a:r>
            <a:r>
              <a:rPr lang="en-US" sz="1600" dirty="0"/>
              <a:t> = </a:t>
            </a:r>
            <a:r>
              <a:rPr lang="en-US" sz="1600" dirty="0" err="1"/>
              <a:t>t.Id</a:t>
            </a:r>
            <a:endParaRPr lang="en-US" sz="1600" dirty="0"/>
          </a:p>
          <a:p>
            <a:r>
              <a:rPr lang="en-US" sz="1600" dirty="0"/>
              <a:t>WHERE </a:t>
            </a:r>
            <a:r>
              <a:rPr lang="en-US" sz="1600" dirty="0" err="1"/>
              <a:t>t.Name</a:t>
            </a:r>
            <a:r>
              <a:rPr lang="en-US" sz="1600" dirty="0"/>
              <a:t> = 'Lightning Bolts' AND </a:t>
            </a:r>
          </a:p>
          <a:p>
            <a:r>
              <a:rPr lang="en-US" sz="1600" dirty="0"/>
              <a:t>                 </a:t>
            </a:r>
            <a:r>
              <a:rPr lang="en-US" sz="1600" dirty="0" err="1"/>
              <a:t>p.IsActive</a:t>
            </a:r>
            <a:r>
              <a:rPr lang="en-US" sz="1600" dirty="0"/>
              <a:t> = 1;</a:t>
            </a:r>
          </a:p>
          <a:p>
            <a:endParaRPr lang="en-US" sz="1600" dirty="0"/>
          </a:p>
        </p:txBody>
      </p:sp>
    </p:spTree>
    <p:extLst>
      <p:ext uri="{BB962C8B-B14F-4D97-AF65-F5344CB8AC3E}">
        <p14:creationId xmlns:p14="http://schemas.microsoft.com/office/powerpoint/2010/main" val="39101188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5CE02-C271-8D77-96C9-B31E8E3F8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7F417-1F6E-5687-D7B2-908C2D6781A1}"/>
              </a:ext>
            </a:extLst>
          </p:cNvPr>
          <p:cNvSpPr>
            <a:spLocks noGrp="1"/>
          </p:cNvSpPr>
          <p:nvPr>
            <p:ph type="title"/>
          </p:nvPr>
        </p:nvSpPr>
        <p:spPr/>
        <p:txBody>
          <a:bodyPr>
            <a:normAutofit fontScale="90000"/>
          </a:bodyPr>
          <a:lstStyle/>
          <a:p>
            <a:r>
              <a:rPr lang="en-US" b="1" dirty="0"/>
              <a:t>DELETE</a:t>
            </a:r>
            <a:endParaRPr lang="en-US" dirty="0"/>
          </a:p>
        </p:txBody>
      </p:sp>
      <p:sp>
        <p:nvSpPr>
          <p:cNvPr id="3" name="Content Placeholder 2">
            <a:extLst>
              <a:ext uri="{FF2B5EF4-FFF2-40B4-BE49-F238E27FC236}">
                <a16:creationId xmlns:a16="http://schemas.microsoft.com/office/drawing/2014/main" id="{29C86287-8791-AE55-D419-8C02E82F205C}"/>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6227F660-8964-8905-A2A3-256D4219B996}"/>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6F1FD0FB-D6D3-9421-010E-D0119D5E457F}"/>
              </a:ext>
            </a:extLst>
          </p:cNvPr>
          <p:cNvSpPr>
            <a:spLocks noGrp="1"/>
          </p:cNvSpPr>
          <p:nvPr>
            <p:ph type="sldNum" sz="quarter" idx="12"/>
          </p:nvPr>
        </p:nvSpPr>
        <p:spPr/>
        <p:txBody>
          <a:bodyPr/>
          <a:lstStyle/>
          <a:p>
            <a:fld id="{F6C56E59-C124-411E-B3E7-95D014FC7158}" type="slidenum">
              <a:rPr lang="en-US" smtClean="0"/>
              <a:pPr/>
              <a:t>102</a:t>
            </a:fld>
            <a:endParaRPr lang="en-US"/>
          </a:p>
        </p:txBody>
      </p:sp>
      <p:sp>
        <p:nvSpPr>
          <p:cNvPr id="7" name="TextBox 6">
            <a:extLst>
              <a:ext uri="{FF2B5EF4-FFF2-40B4-BE49-F238E27FC236}">
                <a16:creationId xmlns:a16="http://schemas.microsoft.com/office/drawing/2014/main" id="{E2BEADB1-FCD1-F64C-C1F2-4BCF92114113}"/>
              </a:ext>
            </a:extLst>
          </p:cNvPr>
          <p:cNvSpPr txBox="1"/>
          <p:nvPr/>
        </p:nvSpPr>
        <p:spPr>
          <a:xfrm>
            <a:off x="506227" y="1639622"/>
            <a:ext cx="5177238" cy="1477328"/>
          </a:xfrm>
          <a:prstGeom prst="rect">
            <a:avLst/>
          </a:prstGeom>
          <a:noFill/>
        </p:spPr>
        <p:txBody>
          <a:bodyPr wrap="square" rtlCol="0">
            <a:spAutoFit/>
          </a:bodyPr>
          <a:lstStyle/>
          <a:p>
            <a:r>
              <a:rPr lang="en-US" b="1" dirty="0"/>
              <a:t>DELETE</a:t>
            </a:r>
            <a:r>
              <a:rPr lang="en-US" dirty="0"/>
              <a:t> is a Data Manipulation Language (DML) statement in SQL used to remove one or more rows from a table. Unlike DROP (which removes the entire table structure), DELETE removes data while keeping the table structure intact.</a:t>
            </a:r>
          </a:p>
        </p:txBody>
      </p:sp>
      <p:sp>
        <p:nvSpPr>
          <p:cNvPr id="6" name="TextBox 5">
            <a:extLst>
              <a:ext uri="{FF2B5EF4-FFF2-40B4-BE49-F238E27FC236}">
                <a16:creationId xmlns:a16="http://schemas.microsoft.com/office/drawing/2014/main" id="{8BED6FC8-FB53-F63E-0E4E-82064D5B84DF}"/>
              </a:ext>
            </a:extLst>
          </p:cNvPr>
          <p:cNvSpPr txBox="1"/>
          <p:nvPr/>
        </p:nvSpPr>
        <p:spPr>
          <a:xfrm>
            <a:off x="6788258" y="1652349"/>
            <a:ext cx="5177239" cy="1723549"/>
          </a:xfrm>
          <a:prstGeom prst="rect">
            <a:avLst/>
          </a:prstGeom>
          <a:noFill/>
        </p:spPr>
        <p:txBody>
          <a:bodyPr wrap="square" rtlCol="0">
            <a:spAutoFit/>
          </a:bodyPr>
          <a:lstStyle/>
          <a:p>
            <a:r>
              <a:rPr lang="en-US" dirty="0"/>
              <a:t>-- Delete players whose teams are not active</a:t>
            </a:r>
          </a:p>
          <a:p>
            <a:r>
              <a:rPr lang="en-US" b="1" dirty="0"/>
              <a:t>DELETE</a:t>
            </a:r>
            <a:r>
              <a:rPr lang="en-US" dirty="0"/>
              <a:t> FROM </a:t>
            </a:r>
            <a:r>
              <a:rPr lang="en-US" dirty="0" err="1"/>
              <a:t>dbo.Player</a:t>
            </a:r>
            <a:endParaRPr lang="en-US" dirty="0"/>
          </a:p>
          <a:p>
            <a:r>
              <a:rPr lang="en-US" dirty="0"/>
              <a:t>WHERE </a:t>
            </a:r>
            <a:r>
              <a:rPr lang="en-US" dirty="0" err="1"/>
              <a:t>TeamId</a:t>
            </a:r>
            <a:r>
              <a:rPr lang="en-US" dirty="0"/>
              <a:t> IN (SELECT Id</a:t>
            </a:r>
          </a:p>
          <a:p>
            <a:r>
              <a:rPr lang="en-US" dirty="0"/>
              <a:t>                 FROM </a:t>
            </a:r>
            <a:r>
              <a:rPr lang="en-US" dirty="0" err="1"/>
              <a:t>dbo.Team</a:t>
            </a:r>
            <a:endParaRPr lang="en-US" dirty="0"/>
          </a:p>
          <a:p>
            <a:r>
              <a:rPr lang="en-US" dirty="0"/>
              <a:t>                 WHERE </a:t>
            </a:r>
            <a:r>
              <a:rPr lang="en-US" dirty="0" err="1"/>
              <a:t>IsActive</a:t>
            </a:r>
            <a:r>
              <a:rPr lang="en-US" dirty="0"/>
              <a:t> = 0);</a:t>
            </a:r>
          </a:p>
          <a:p>
            <a:endParaRPr lang="en-US" sz="1600" dirty="0"/>
          </a:p>
        </p:txBody>
      </p:sp>
    </p:spTree>
    <p:extLst>
      <p:ext uri="{BB962C8B-B14F-4D97-AF65-F5344CB8AC3E}">
        <p14:creationId xmlns:p14="http://schemas.microsoft.com/office/powerpoint/2010/main" val="23454885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90D34-CCC6-568D-F6C0-6677FAFDC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E574C-0E9B-FC32-4DCB-EFE829DCD8C1}"/>
              </a:ext>
            </a:extLst>
          </p:cNvPr>
          <p:cNvSpPr>
            <a:spLocks noGrp="1"/>
          </p:cNvSpPr>
          <p:nvPr>
            <p:ph type="title"/>
          </p:nvPr>
        </p:nvSpPr>
        <p:spPr/>
        <p:txBody>
          <a:bodyPr>
            <a:normAutofit fontScale="90000"/>
          </a:bodyPr>
          <a:lstStyle/>
          <a:p>
            <a:r>
              <a:rPr lang="en-US" b="1" dirty="0"/>
              <a:t>MERGE</a:t>
            </a:r>
            <a:endParaRPr lang="en-US" dirty="0"/>
          </a:p>
        </p:txBody>
      </p:sp>
      <p:sp>
        <p:nvSpPr>
          <p:cNvPr id="3" name="Content Placeholder 2">
            <a:extLst>
              <a:ext uri="{FF2B5EF4-FFF2-40B4-BE49-F238E27FC236}">
                <a16:creationId xmlns:a16="http://schemas.microsoft.com/office/drawing/2014/main" id="{8ADD10EF-EB9A-D5ED-C571-9FD44CDE1286}"/>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7376AB4-F473-8D7D-2EBB-D596B4A80AF2}"/>
              </a:ext>
            </a:extLst>
          </p:cNvPr>
          <p:cNvSpPr>
            <a:spLocks noGrp="1"/>
          </p:cNvSpPr>
          <p:nvPr>
            <p:ph type="dt" sz="half" idx="10"/>
          </p:nvPr>
        </p:nvSpPr>
        <p:spPr/>
        <p:txBody>
          <a:bodyPr/>
          <a:lstStyle/>
          <a:p>
            <a:fld id="{77CA23B6-146D-4CC0-B8BF-2383AD3B5353}" type="datetime1">
              <a:rPr lang="en-US" smtClean="0"/>
              <a:t>1/16/2026</a:t>
            </a:fld>
            <a:endParaRPr lang="en-US"/>
          </a:p>
        </p:txBody>
      </p:sp>
      <p:sp>
        <p:nvSpPr>
          <p:cNvPr id="5" name="Slide Number Placeholder 4">
            <a:extLst>
              <a:ext uri="{FF2B5EF4-FFF2-40B4-BE49-F238E27FC236}">
                <a16:creationId xmlns:a16="http://schemas.microsoft.com/office/drawing/2014/main" id="{02832C50-27FA-315D-E642-FFF06AA98447}"/>
              </a:ext>
            </a:extLst>
          </p:cNvPr>
          <p:cNvSpPr>
            <a:spLocks noGrp="1"/>
          </p:cNvSpPr>
          <p:nvPr>
            <p:ph type="sldNum" sz="quarter" idx="12"/>
          </p:nvPr>
        </p:nvSpPr>
        <p:spPr/>
        <p:txBody>
          <a:bodyPr/>
          <a:lstStyle/>
          <a:p>
            <a:fld id="{F6C56E59-C124-411E-B3E7-95D014FC7158}" type="slidenum">
              <a:rPr lang="en-US" smtClean="0"/>
              <a:pPr/>
              <a:t>103</a:t>
            </a:fld>
            <a:endParaRPr lang="en-US"/>
          </a:p>
        </p:txBody>
      </p:sp>
      <p:sp>
        <p:nvSpPr>
          <p:cNvPr id="7" name="TextBox 6">
            <a:extLst>
              <a:ext uri="{FF2B5EF4-FFF2-40B4-BE49-F238E27FC236}">
                <a16:creationId xmlns:a16="http://schemas.microsoft.com/office/drawing/2014/main" id="{5112C90C-CE29-6958-4D3B-5BDDFA4F8C61}"/>
              </a:ext>
            </a:extLst>
          </p:cNvPr>
          <p:cNvSpPr txBox="1"/>
          <p:nvPr/>
        </p:nvSpPr>
        <p:spPr>
          <a:xfrm>
            <a:off x="506227" y="1639622"/>
            <a:ext cx="11318980" cy="923330"/>
          </a:xfrm>
          <a:prstGeom prst="rect">
            <a:avLst/>
          </a:prstGeom>
          <a:noFill/>
        </p:spPr>
        <p:txBody>
          <a:bodyPr wrap="square" rtlCol="0">
            <a:spAutoFit/>
          </a:bodyPr>
          <a:lstStyle/>
          <a:p>
            <a:r>
              <a:rPr lang="en-US" b="1" dirty="0"/>
              <a:t>MERGE</a:t>
            </a:r>
            <a:r>
              <a:rPr lang="en-US" dirty="0"/>
              <a:t> is an advanced Data Manipulation Language (DML) statement in SQL Server that performs INSERT, UPDATE, and/or DELETE operations in a single atomic statement. It synchronizes a target table with a source table based on a join condition, often called "</a:t>
            </a:r>
            <a:r>
              <a:rPr lang="en-US" dirty="0" err="1"/>
              <a:t>upsert</a:t>
            </a:r>
            <a:r>
              <a:rPr lang="en-US" dirty="0"/>
              <a:t>" (update if exists, insert if not).</a:t>
            </a:r>
          </a:p>
        </p:txBody>
      </p:sp>
      <p:sp>
        <p:nvSpPr>
          <p:cNvPr id="6" name="TextBox 5">
            <a:extLst>
              <a:ext uri="{FF2B5EF4-FFF2-40B4-BE49-F238E27FC236}">
                <a16:creationId xmlns:a16="http://schemas.microsoft.com/office/drawing/2014/main" id="{63C9B74B-47EB-EF0D-D2BE-BB41BE40880A}"/>
              </a:ext>
            </a:extLst>
          </p:cNvPr>
          <p:cNvSpPr txBox="1"/>
          <p:nvPr/>
        </p:nvSpPr>
        <p:spPr>
          <a:xfrm>
            <a:off x="506227" y="2750212"/>
            <a:ext cx="11144087" cy="3108543"/>
          </a:xfrm>
          <a:prstGeom prst="rect">
            <a:avLst/>
          </a:prstGeom>
          <a:noFill/>
        </p:spPr>
        <p:txBody>
          <a:bodyPr wrap="square" rtlCol="0">
            <a:spAutoFit/>
          </a:bodyPr>
          <a:lstStyle/>
          <a:p>
            <a:r>
              <a:rPr lang="en-US" sz="1400" dirty="0"/>
              <a:t>-- Synchronize player statistics from team data</a:t>
            </a:r>
          </a:p>
          <a:p>
            <a:r>
              <a:rPr lang="en-US" sz="1400" b="1" dirty="0"/>
              <a:t>MERGE INTO</a:t>
            </a:r>
            <a:r>
              <a:rPr lang="en-US" sz="1400" dirty="0"/>
              <a:t> </a:t>
            </a:r>
            <a:r>
              <a:rPr lang="en-US" sz="1400" dirty="0" err="1"/>
              <a:t>dbo.PlayerOverallStatistics</a:t>
            </a:r>
            <a:r>
              <a:rPr lang="en-US" sz="1400" dirty="0"/>
              <a:t> AS target</a:t>
            </a:r>
          </a:p>
          <a:p>
            <a:r>
              <a:rPr lang="en-US" sz="1400" b="1" dirty="0"/>
              <a:t>USING</a:t>
            </a:r>
            <a:r>
              <a:rPr lang="en-US" sz="1400" dirty="0"/>
              <a:t> (SELECT </a:t>
            </a:r>
            <a:r>
              <a:rPr lang="en-US" sz="1400" dirty="0" err="1"/>
              <a:t>p.Id</a:t>
            </a:r>
            <a:r>
              <a:rPr lang="en-US" sz="1400" dirty="0"/>
              <a:t> AS </a:t>
            </a:r>
            <a:r>
              <a:rPr lang="en-US" sz="1400" dirty="0" err="1"/>
              <a:t>PlayerId</a:t>
            </a:r>
            <a:r>
              <a:rPr lang="en-US" sz="1400" dirty="0"/>
              <a:t>,</a:t>
            </a:r>
          </a:p>
          <a:p>
            <a:r>
              <a:rPr lang="en-US" sz="1400" dirty="0"/>
              <a:t>                                   </a:t>
            </a:r>
            <a:r>
              <a:rPr lang="en-US" sz="1400" dirty="0" err="1"/>
              <a:t>t.ChampionshipCount</a:t>
            </a:r>
            <a:r>
              <a:rPr lang="en-US" sz="1400" dirty="0"/>
              <a:t> * 50 AS </a:t>
            </a:r>
            <a:r>
              <a:rPr lang="en-US" sz="1400" dirty="0" err="1"/>
              <a:t>BonusPoints</a:t>
            </a:r>
            <a:endParaRPr lang="en-US" sz="1400" dirty="0"/>
          </a:p>
          <a:p>
            <a:r>
              <a:rPr lang="en-US" sz="1400" dirty="0"/>
              <a:t>                FROM </a:t>
            </a:r>
            <a:r>
              <a:rPr lang="en-US" sz="1400" dirty="0" err="1"/>
              <a:t>dbo.Player</a:t>
            </a:r>
            <a:r>
              <a:rPr lang="en-US" sz="1400" dirty="0"/>
              <a:t> p</a:t>
            </a:r>
          </a:p>
          <a:p>
            <a:r>
              <a:rPr lang="en-US" sz="1400" dirty="0"/>
              <a:t>                INNER JOIN </a:t>
            </a:r>
            <a:r>
              <a:rPr lang="en-US" sz="1400" dirty="0" err="1"/>
              <a:t>dbo.Team</a:t>
            </a:r>
            <a:r>
              <a:rPr lang="en-US" sz="1400" dirty="0"/>
              <a:t> t ON </a:t>
            </a:r>
            <a:r>
              <a:rPr lang="en-US" sz="1400" dirty="0" err="1"/>
              <a:t>p.TeamId</a:t>
            </a:r>
            <a:r>
              <a:rPr lang="en-US" sz="1400" dirty="0"/>
              <a:t> = </a:t>
            </a:r>
            <a:r>
              <a:rPr lang="en-US" sz="1400" dirty="0" err="1"/>
              <a:t>t.Id</a:t>
            </a:r>
            <a:endParaRPr lang="en-US" sz="1400" dirty="0"/>
          </a:p>
          <a:p>
            <a:r>
              <a:rPr lang="en-US" sz="1400" dirty="0"/>
              <a:t>                WHERE </a:t>
            </a:r>
            <a:r>
              <a:rPr lang="en-US" sz="1400" dirty="0" err="1"/>
              <a:t>p.IsActive</a:t>
            </a:r>
            <a:r>
              <a:rPr lang="en-US" sz="1400" dirty="0"/>
              <a:t> = 1) AS source</a:t>
            </a:r>
          </a:p>
          <a:p>
            <a:r>
              <a:rPr lang="en-US" sz="1400" dirty="0"/>
              <a:t>ON </a:t>
            </a:r>
            <a:r>
              <a:rPr lang="en-US" sz="1400" dirty="0" err="1"/>
              <a:t>target.PlayerId</a:t>
            </a:r>
            <a:r>
              <a:rPr lang="en-US" sz="1400" dirty="0"/>
              <a:t> = </a:t>
            </a:r>
            <a:r>
              <a:rPr lang="en-US" sz="1400" dirty="0" err="1"/>
              <a:t>source.PlayerId</a:t>
            </a:r>
            <a:endParaRPr lang="en-US" sz="1400" dirty="0"/>
          </a:p>
          <a:p>
            <a:r>
              <a:rPr lang="en-US" sz="1400" b="1" dirty="0"/>
              <a:t>WHEN MATCHED THEN</a:t>
            </a:r>
          </a:p>
          <a:p>
            <a:r>
              <a:rPr lang="en-US" sz="1400" dirty="0"/>
              <a:t>    UPDATE SET </a:t>
            </a:r>
            <a:r>
              <a:rPr lang="en-US" sz="1400" dirty="0" err="1"/>
              <a:t>target.TotalPoints</a:t>
            </a:r>
            <a:r>
              <a:rPr lang="en-US" sz="1400" dirty="0"/>
              <a:t> = </a:t>
            </a:r>
            <a:r>
              <a:rPr lang="en-US" sz="1400" dirty="0" err="1"/>
              <a:t>target.TotalPoints</a:t>
            </a:r>
            <a:r>
              <a:rPr lang="en-US" sz="1400" dirty="0"/>
              <a:t> + </a:t>
            </a:r>
            <a:r>
              <a:rPr lang="en-US" sz="1400" dirty="0" err="1"/>
              <a:t>source.BonusPoints</a:t>
            </a:r>
            <a:endParaRPr lang="en-US" sz="1400" dirty="0"/>
          </a:p>
          <a:p>
            <a:r>
              <a:rPr lang="en-US" sz="1400" b="1" dirty="0"/>
              <a:t>WHEN NOT MATCHED BY TARGET THEN</a:t>
            </a:r>
          </a:p>
          <a:p>
            <a:r>
              <a:rPr lang="en-US" sz="1400" dirty="0"/>
              <a:t>    INSERT (</a:t>
            </a:r>
            <a:r>
              <a:rPr lang="en-US" sz="1400" dirty="0" err="1"/>
              <a:t>PlayerId</a:t>
            </a:r>
            <a:r>
              <a:rPr lang="en-US" sz="1400" dirty="0"/>
              <a:t>, </a:t>
            </a:r>
            <a:r>
              <a:rPr lang="en-US" sz="1400" dirty="0" err="1"/>
              <a:t>TotalPoints</a:t>
            </a:r>
            <a:r>
              <a:rPr lang="en-US" sz="1400" dirty="0"/>
              <a:t>, </a:t>
            </a:r>
            <a:r>
              <a:rPr lang="en-US" sz="1400" dirty="0" err="1"/>
              <a:t>GamesPlayed</a:t>
            </a:r>
            <a:r>
              <a:rPr lang="en-US" sz="1400" dirty="0"/>
              <a:t>, </a:t>
            </a:r>
            <a:r>
              <a:rPr lang="en-US" sz="1400" dirty="0" err="1"/>
              <a:t>TotalThrows</a:t>
            </a:r>
            <a:r>
              <a:rPr lang="en-US" sz="1400" dirty="0"/>
              <a:t>, </a:t>
            </a:r>
            <a:r>
              <a:rPr lang="en-US" sz="1400" dirty="0" err="1"/>
              <a:t>SuccessfulHits</a:t>
            </a:r>
            <a:r>
              <a:rPr lang="en-US" sz="1400" dirty="0"/>
              <a:t>, </a:t>
            </a:r>
            <a:r>
              <a:rPr lang="en-US" sz="1400" dirty="0" err="1"/>
              <a:t>TotalCatches</a:t>
            </a:r>
            <a:r>
              <a:rPr lang="en-US" sz="1400" dirty="0"/>
              <a:t>, </a:t>
            </a:r>
            <a:r>
              <a:rPr lang="en-US" sz="1400" dirty="0" err="1"/>
              <a:t>TotalDodges</a:t>
            </a:r>
            <a:r>
              <a:rPr lang="en-US" sz="1400" dirty="0"/>
              <a:t>, </a:t>
            </a:r>
            <a:r>
              <a:rPr lang="en-US" sz="1400" dirty="0" err="1"/>
              <a:t>PlayersEliminated</a:t>
            </a:r>
            <a:r>
              <a:rPr lang="en-US" sz="1400" dirty="0"/>
              <a:t>, </a:t>
            </a:r>
            <a:r>
              <a:rPr lang="en-US" sz="1400" dirty="0" err="1"/>
              <a:t>TimesEliminated</a:t>
            </a:r>
            <a:r>
              <a:rPr lang="en-US" sz="1400" dirty="0"/>
              <a:t>, </a:t>
            </a:r>
            <a:r>
              <a:rPr lang="en-US" sz="1400" dirty="0" err="1"/>
              <a:t>BallsPickedUp</a:t>
            </a:r>
            <a:r>
              <a:rPr lang="en-US" sz="1400" dirty="0"/>
              <a:t>, </a:t>
            </a:r>
            <a:r>
              <a:rPr lang="en-US" sz="1400" dirty="0" err="1"/>
              <a:t>AssistsProvided</a:t>
            </a:r>
            <a:r>
              <a:rPr lang="en-US" sz="1400" dirty="0"/>
              <a:t>, </a:t>
            </a:r>
            <a:r>
              <a:rPr lang="en-US" sz="1400" dirty="0" err="1"/>
              <a:t>MinutesPlayed</a:t>
            </a:r>
            <a:r>
              <a:rPr lang="en-US" sz="1400" dirty="0"/>
              <a:t>, </a:t>
            </a:r>
            <a:r>
              <a:rPr lang="en-US" sz="1400" dirty="0" err="1"/>
              <a:t>PowerThrowsAttempted</a:t>
            </a:r>
            <a:r>
              <a:rPr lang="en-US" sz="1400" dirty="0"/>
              <a:t>, </a:t>
            </a:r>
            <a:r>
              <a:rPr lang="en-US" sz="1400" dirty="0" err="1"/>
              <a:t>PowerThrowsSuccessful</a:t>
            </a:r>
            <a:r>
              <a:rPr lang="en-US" sz="1400" dirty="0"/>
              <a:t>, </a:t>
            </a:r>
            <a:r>
              <a:rPr lang="en-US" sz="1400" dirty="0" err="1"/>
              <a:t>TeamSavingCatches</a:t>
            </a:r>
            <a:r>
              <a:rPr lang="en-US" sz="1400" dirty="0"/>
              <a:t>, </a:t>
            </a:r>
            <a:r>
              <a:rPr lang="en-US" sz="1400" dirty="0" err="1"/>
              <a:t>FoulsCommitted</a:t>
            </a:r>
            <a:r>
              <a:rPr lang="en-US" sz="1400" dirty="0"/>
              <a:t>)</a:t>
            </a:r>
          </a:p>
          <a:p>
            <a:r>
              <a:rPr lang="en-US" sz="1400" dirty="0"/>
              <a:t>    VALUES (</a:t>
            </a:r>
            <a:r>
              <a:rPr lang="en-US" sz="1400" dirty="0" err="1"/>
              <a:t>source.PlayerId</a:t>
            </a:r>
            <a:r>
              <a:rPr lang="en-US" sz="1400" dirty="0"/>
              <a:t>, </a:t>
            </a:r>
            <a:r>
              <a:rPr lang="en-US" sz="1400" dirty="0" err="1"/>
              <a:t>source.BonusPoints</a:t>
            </a:r>
            <a:r>
              <a:rPr lang="en-US" sz="1400" dirty="0"/>
              <a:t>, 0, 0, 0, 0, 0, 0, 0, 0, 0, 0, 0, 0, 0, 0);</a:t>
            </a:r>
          </a:p>
        </p:txBody>
      </p:sp>
    </p:spTree>
    <p:extLst>
      <p:ext uri="{BB962C8B-B14F-4D97-AF65-F5344CB8AC3E}">
        <p14:creationId xmlns:p14="http://schemas.microsoft.com/office/powerpoint/2010/main" val="3314678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eddingtonCoder Template.potx" id="{CEB413CF-4C65-4F21-B1EA-15B535C679B2}" vid="{B88B1896-654E-4951-BA39-EEB169A42D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15807</TotalTime>
  <Words>8330</Words>
  <Application>Microsoft Office PowerPoint</Application>
  <PresentationFormat>Widescreen</PresentationFormat>
  <Paragraphs>1387</Paragraphs>
  <Slides>103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103</vt:i4>
      </vt:variant>
    </vt:vector>
  </HeadingPairs>
  <TitlesOfParts>
    <vt:vector size="107" baseType="lpstr">
      <vt:lpstr>Aptos</vt:lpstr>
      <vt:lpstr>Aptos Display</vt:lpstr>
      <vt:lpstr>Arial</vt:lpstr>
      <vt:lpstr>Office Theme</vt:lpstr>
      <vt:lpstr>Intro to Relational Database Development with SQL Server</vt:lpstr>
      <vt:lpstr>Overview</vt:lpstr>
      <vt:lpstr>Client/Server Systems</vt:lpstr>
      <vt:lpstr>Simple Client/Server System</vt:lpstr>
      <vt:lpstr>We are going to need a theme.</vt:lpstr>
      <vt:lpstr>National Dodgeball League </vt:lpstr>
      <vt:lpstr>The Mighty Table</vt:lpstr>
      <vt:lpstr>Relationships</vt:lpstr>
      <vt:lpstr>Keys</vt:lpstr>
      <vt:lpstr>Columns</vt:lpstr>
      <vt:lpstr>Common SQL Server Data Types</vt:lpstr>
      <vt:lpstr>History of SQL</vt:lpstr>
      <vt:lpstr>What Else Will You Know</vt:lpstr>
      <vt:lpstr>SQL – Structured Query Language</vt:lpstr>
      <vt:lpstr>DDL – Create Database</vt:lpstr>
      <vt:lpstr>DDL – Create Table</vt:lpstr>
      <vt:lpstr>DDL – Create Table – Your Turn</vt:lpstr>
      <vt:lpstr>DDL – Alter Table and Create Index</vt:lpstr>
      <vt:lpstr>How to Query a Single Table</vt:lpstr>
      <vt:lpstr>How to join data from two or more tables</vt:lpstr>
      <vt:lpstr>Join Example</vt:lpstr>
      <vt:lpstr>Insert a new row</vt:lpstr>
      <vt:lpstr>Update row</vt:lpstr>
      <vt:lpstr>Delete a Row</vt:lpstr>
      <vt:lpstr>Comments</vt:lpstr>
      <vt:lpstr>SQL Server Management Studio</vt:lpstr>
      <vt:lpstr>How to Connect to Database Server</vt:lpstr>
      <vt:lpstr>Navigating with SSMS</vt:lpstr>
      <vt:lpstr>Entity Relationship Diagrams (ERD)</vt:lpstr>
      <vt:lpstr>Column Definitions of A Table</vt:lpstr>
      <vt:lpstr>One Way to Edit Data</vt:lpstr>
      <vt:lpstr>Some Key Functions in SSMS</vt:lpstr>
      <vt:lpstr>Error Types</vt:lpstr>
      <vt:lpstr>Saving Queries</vt:lpstr>
      <vt:lpstr>How to get more help</vt:lpstr>
      <vt:lpstr>More on Retrieving Data from a Single Table</vt:lpstr>
      <vt:lpstr>Basic Select</vt:lpstr>
      <vt:lpstr>Practice Time</vt:lpstr>
      <vt:lpstr>Practice Time</vt:lpstr>
      <vt:lpstr>Expanded SELECT Syntax</vt:lpstr>
      <vt:lpstr>Practice Time</vt:lpstr>
      <vt:lpstr>Arithmatic Details</vt:lpstr>
      <vt:lpstr>Practice Time</vt:lpstr>
      <vt:lpstr>Functions </vt:lpstr>
      <vt:lpstr>Basic WHERE Clause</vt:lpstr>
      <vt:lpstr>Basic WHERE Clause</vt:lpstr>
      <vt:lpstr>Practice Time</vt:lpstr>
      <vt:lpstr>Practice Time</vt:lpstr>
      <vt:lpstr>Basic WHERE Clause</vt:lpstr>
      <vt:lpstr>Practice Time</vt:lpstr>
      <vt:lpstr>Basic WHERE Clause</vt:lpstr>
      <vt:lpstr>Practice Time</vt:lpstr>
      <vt:lpstr>Basic WHERE Clause</vt:lpstr>
      <vt:lpstr>Practice Time</vt:lpstr>
      <vt:lpstr>ORDER BY Clause</vt:lpstr>
      <vt:lpstr>Practice Time</vt:lpstr>
      <vt:lpstr>Working with Multiple Tables</vt:lpstr>
      <vt:lpstr>INNER JOINS</vt:lpstr>
      <vt:lpstr>Inner Join Example</vt:lpstr>
      <vt:lpstr>Practice Time</vt:lpstr>
      <vt:lpstr>Compound Joins and Self-Joins</vt:lpstr>
      <vt:lpstr>LEFT [OUTER] JOIN</vt:lpstr>
      <vt:lpstr>Practice Time</vt:lpstr>
      <vt:lpstr>Practice Time</vt:lpstr>
      <vt:lpstr>Practice Time</vt:lpstr>
      <vt:lpstr>Practice Time</vt:lpstr>
      <vt:lpstr>Practice Time</vt:lpstr>
      <vt:lpstr>Practice Time</vt:lpstr>
      <vt:lpstr>Practice Time</vt:lpstr>
      <vt:lpstr>RIGHT [OUTER] JOIN</vt:lpstr>
      <vt:lpstr>FULL [OUTER] JOIN</vt:lpstr>
      <vt:lpstr>CROSS JOIN</vt:lpstr>
      <vt:lpstr>UNIONs</vt:lpstr>
      <vt:lpstr>EXCEPT and INERSECT</vt:lpstr>
      <vt:lpstr>Summary Queries</vt:lpstr>
      <vt:lpstr>Aggregate Functions - Keywords</vt:lpstr>
      <vt:lpstr>Aggregate Functions - Example</vt:lpstr>
      <vt:lpstr>WHERE vs HAVING</vt:lpstr>
      <vt:lpstr>Practice Time</vt:lpstr>
      <vt:lpstr>ROLLUP operator</vt:lpstr>
      <vt:lpstr>CUBE operator</vt:lpstr>
      <vt:lpstr>GROUPING SETS operator</vt:lpstr>
      <vt:lpstr>GROUPING SETS operator</vt:lpstr>
      <vt:lpstr>OVER Clause</vt:lpstr>
      <vt:lpstr>OVER Clause – part 2</vt:lpstr>
      <vt:lpstr>Subqueries</vt:lpstr>
      <vt:lpstr>IN Operator</vt:lpstr>
      <vt:lpstr>Two Ways to Solve a Problem</vt:lpstr>
      <vt:lpstr>Subquery in Comparison</vt:lpstr>
      <vt:lpstr>ALL, ANY and SOME Operators</vt:lpstr>
      <vt:lpstr>Simple Subqueries</vt:lpstr>
      <vt:lpstr>Correlated Subquery</vt:lpstr>
      <vt:lpstr>Guidelines</vt:lpstr>
      <vt:lpstr>Common Table Expressions</vt:lpstr>
      <vt:lpstr>The Rest of CRUD – Create, Update and Delete</vt:lpstr>
      <vt:lpstr>SELECT INTO</vt:lpstr>
      <vt:lpstr>INSERT INTO</vt:lpstr>
      <vt:lpstr>Considerations</vt:lpstr>
      <vt:lpstr>UPDATE</vt:lpstr>
      <vt:lpstr>DELETE</vt:lpstr>
      <vt:lpstr>UPDATE</vt:lpstr>
      <vt:lpstr>DELETE</vt:lpstr>
      <vt:lpstr>MERGE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Doug Corbett</dc:creator>
  <cp:lastModifiedBy>Doug Corbett</cp:lastModifiedBy>
  <cp:revision>52</cp:revision>
  <dcterms:created xsi:type="dcterms:W3CDTF">2026-01-06T00:51:33Z</dcterms:created>
  <dcterms:modified xsi:type="dcterms:W3CDTF">2026-01-17T04:24:27Z</dcterms:modified>
</cp:coreProperties>
</file>